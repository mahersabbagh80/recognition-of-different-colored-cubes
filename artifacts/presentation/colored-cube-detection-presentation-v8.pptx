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0450f6162b4335" /><Relationship Type="http://schemas.openxmlformats.org/officeDocument/2006/relationships/extended-properties" Target="/docProps/app.xml" Id="R11cc45aba30f4f04" /><Relationship Type="http://schemas.openxmlformats.org/officeDocument/2006/relationships/officeDocument" Target="/ppt/presentation.xml" Id="Rd0ec9e2a35f34d5b" /></Relationships>
</file>

<file path=ppt/presentation.xml><?xml version="1.0" encoding="utf-8"?>
<p:presentation xmlns:p="http://schemas.openxmlformats.org/presentationml/2006/main">
  <p:sldMasterIdLst>
    <p:sldMasterId xmlns:r="http://schemas.openxmlformats.org/officeDocument/2006/relationships" id="2147483648" r:id="R7020f59d601044f2"/>
  </p:sldMasterIdLst>
  <p:notesMasterIdLst>
    <p:notesMasterId xmlns:r="http://schemas.openxmlformats.org/officeDocument/2006/relationships" r:id="R839eb833e5534d8c"/>
  </p:notesMasterIdLst>
  <p:sldIdLst>
    <p:sldId xmlns:r="http://schemas.openxmlformats.org/officeDocument/2006/relationships" id="256" r:id="Ra2b7217523c94ef6"/>
    <p:sldId xmlns:r="http://schemas.openxmlformats.org/officeDocument/2006/relationships" id="257" r:id="R4f174e895f7d48ad"/>
    <p:sldId xmlns:r="http://schemas.openxmlformats.org/officeDocument/2006/relationships" id="258" r:id="Rd20a53f18a3143e1"/>
    <p:sldId xmlns:r="http://schemas.openxmlformats.org/officeDocument/2006/relationships" id="259" r:id="R4e01aaedb32e48ba"/>
    <p:sldId xmlns:r="http://schemas.openxmlformats.org/officeDocument/2006/relationships" id="260" r:id="R1a57d6dc33a94609"/>
    <p:sldId xmlns:r="http://schemas.openxmlformats.org/officeDocument/2006/relationships" id="261" r:id="R2566e733e7b648b5"/>
    <p:sldId xmlns:r="http://schemas.openxmlformats.org/officeDocument/2006/relationships" id="262" r:id="R4c3932fe8caf4949"/>
    <p:sldId xmlns:r="http://schemas.openxmlformats.org/officeDocument/2006/relationships" id="263" r:id="Reab1c4892486479c"/>
    <p:sldId xmlns:r="http://schemas.openxmlformats.org/officeDocument/2006/relationships" id="264" r:id="R9d6c2373b1bb47e7"/>
    <p:sldId xmlns:r="http://schemas.openxmlformats.org/officeDocument/2006/relationships" id="265" r:id="R980dc8a5cda64582"/>
    <p:sldId xmlns:r="http://schemas.openxmlformats.org/officeDocument/2006/relationships" id="266" r:id="R8520420f38704305"/>
    <p:sldId xmlns:r="http://schemas.openxmlformats.org/officeDocument/2006/relationships" id="267" r:id="R73c7b8a3929f4ad9"/>
    <p:sldId xmlns:r="http://schemas.openxmlformats.org/officeDocument/2006/relationships" id="268" r:id="Rcf0acc4b657c4078"/>
    <p:sldId xmlns:r="http://schemas.openxmlformats.org/officeDocument/2006/relationships" id="269" r:id="R7156ce5aaef84354"/>
    <p:sldId xmlns:r="http://schemas.openxmlformats.org/officeDocument/2006/relationships" id="270" r:id="R5d6dd910b2cd407f"/>
    <p:sldId xmlns:r="http://schemas.openxmlformats.org/officeDocument/2006/relationships" id="271" r:id="R2f781f89980e41e9"/>
    <p:sldId xmlns:r="http://schemas.openxmlformats.org/officeDocument/2006/relationships" id="272" r:id="R97af062977054cdc"/>
    <p:sldId xmlns:r="http://schemas.openxmlformats.org/officeDocument/2006/relationships" id="273" r:id="R870be435d3044e7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a1919fd93a4e0d" /><Relationship Type="http://schemas.openxmlformats.org/officeDocument/2006/relationships/slideMaster" Target="/ppt/slideMasters/slideMaster1.xml" Id="R7020f59d601044f2" /><Relationship Type="http://schemas.openxmlformats.org/officeDocument/2006/relationships/notesMaster" Target="/ppt/notesMasters/notesMaster1.xml" Id="R839eb833e5534d8c" /><Relationship Type="http://schemas.openxmlformats.org/officeDocument/2006/relationships/presProps" Target="/ppt/presProps.xml" Id="Ra973aec1f1294224" /><Relationship Type="http://schemas.openxmlformats.org/officeDocument/2006/relationships/tableStyles" Target="/ppt/tableStyles.xml" Id="R123825c4ce8c48f2" /><Relationship Type="http://schemas.openxmlformats.org/officeDocument/2006/relationships/slide" Target="/ppt/slides/slide1.xml" Id="Ra2b7217523c94ef6" /><Relationship Type="http://schemas.openxmlformats.org/officeDocument/2006/relationships/slide" Target="/ppt/slides/slide2.xml" Id="R4f174e895f7d48ad" /><Relationship Type="http://schemas.openxmlformats.org/officeDocument/2006/relationships/slide" Target="/ppt/slides/slide3.xml" Id="Rd20a53f18a3143e1" /><Relationship Type="http://schemas.openxmlformats.org/officeDocument/2006/relationships/slide" Target="/ppt/slides/slide4.xml" Id="R4e01aaedb32e48ba" /><Relationship Type="http://schemas.openxmlformats.org/officeDocument/2006/relationships/slide" Target="/ppt/slides/slide5.xml" Id="R1a57d6dc33a94609" /><Relationship Type="http://schemas.openxmlformats.org/officeDocument/2006/relationships/slide" Target="/ppt/slides/slide6.xml" Id="R2566e733e7b648b5" /><Relationship Type="http://schemas.openxmlformats.org/officeDocument/2006/relationships/slide" Target="/ppt/slides/slide7.xml" Id="R4c3932fe8caf4949" /><Relationship Type="http://schemas.openxmlformats.org/officeDocument/2006/relationships/slide" Target="/ppt/slides/slide8.xml" Id="Reab1c4892486479c" /><Relationship Type="http://schemas.openxmlformats.org/officeDocument/2006/relationships/slide" Target="/ppt/slides/slide9.xml" Id="R9d6c2373b1bb47e7" /><Relationship Type="http://schemas.openxmlformats.org/officeDocument/2006/relationships/slide" Target="/ppt/slides/slide10.xml" Id="R980dc8a5cda64582" /><Relationship Type="http://schemas.openxmlformats.org/officeDocument/2006/relationships/slide" Target="/ppt/slides/slide11.xml" Id="R8520420f38704305" /><Relationship Type="http://schemas.openxmlformats.org/officeDocument/2006/relationships/slide" Target="/ppt/slides/slide12.xml" Id="R73c7b8a3929f4ad9" /><Relationship Type="http://schemas.openxmlformats.org/officeDocument/2006/relationships/slide" Target="/ppt/slides/slide13.xml" Id="Rcf0acc4b657c4078" /><Relationship Type="http://schemas.openxmlformats.org/officeDocument/2006/relationships/slide" Target="/ppt/slides/slide14.xml" Id="R7156ce5aaef84354" /><Relationship Type="http://schemas.openxmlformats.org/officeDocument/2006/relationships/slide" Target="/ppt/slides/slide15.xml" Id="R5d6dd910b2cd407f" /><Relationship Type="http://schemas.openxmlformats.org/officeDocument/2006/relationships/slide" Target="/ppt/slides/slide16.xml" Id="R2f781f89980e41e9" /><Relationship Type="http://schemas.openxmlformats.org/officeDocument/2006/relationships/slide" Target="/ppt/slides/slide17.xml" Id="R97af062977054cdc" /><Relationship Type="http://schemas.openxmlformats.org/officeDocument/2006/relationships/slide" Target="/ppt/slides/slide18.xml" Id="R870be435d3044e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3416fa6c0048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3a1db2e529439e" /><Relationship Type="http://schemas.openxmlformats.org/officeDocument/2006/relationships/notesMaster" Target="/ppt/notesMasters/notesMaster1.xml" Id="Rddc61a25c9a243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9ab68cb2cb4439" /><Relationship Type="http://schemas.openxmlformats.org/officeDocument/2006/relationships/notesMaster" Target="/ppt/notesMasters/notesMaster1.xml" Id="R89e98c79e2b34e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6fccae17dd4271" /><Relationship Type="http://schemas.openxmlformats.org/officeDocument/2006/relationships/notesMaster" Target="/ppt/notesMasters/notesMaster1.xml" Id="R2152af36409444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4c642666604962" /><Relationship Type="http://schemas.openxmlformats.org/officeDocument/2006/relationships/notesMaster" Target="/ppt/notesMasters/notesMaster1.xml" Id="R41f0ba556e2947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1230d7e268473c" /><Relationship Type="http://schemas.openxmlformats.org/officeDocument/2006/relationships/notesMaster" Target="/ppt/notesMasters/notesMaster1.xml" Id="R2967babc92db47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335686f87f49ba" /><Relationship Type="http://schemas.openxmlformats.org/officeDocument/2006/relationships/notesMaster" Target="/ppt/notesMasters/notesMaster1.xml" Id="R9c051ec88e4745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7c068d26e54c7d" /><Relationship Type="http://schemas.openxmlformats.org/officeDocument/2006/relationships/notesMaster" Target="/ppt/notesMasters/notesMaster1.xml" Id="Rb2d87f3e74ef4a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302a00e03d24423" /><Relationship Type="http://schemas.openxmlformats.org/officeDocument/2006/relationships/notesMaster" Target="/ppt/notesMasters/notesMaster1.xml" Id="R3c8db107c78545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738c3b7645574d01" /><Relationship Type="http://schemas.openxmlformats.org/officeDocument/2006/relationships/notesMaster" Target="/ppt/notesMasters/notesMaster1.xml" Id="R7ffb50bd6653435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c6eabd9fb424c10" /><Relationship Type="http://schemas.openxmlformats.org/officeDocument/2006/relationships/notesMaster" Target="/ppt/notesMasters/notesMaster1.xml" Id="R51110b54d1e54a7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af0a1d42b4c451c" /><Relationship Type="http://schemas.openxmlformats.org/officeDocument/2006/relationships/notesMaster" Target="/ppt/notesMasters/notesMaster1.xml" Id="Rec9f8e53750a414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c1ce7f943864e70" /><Relationship Type="http://schemas.openxmlformats.org/officeDocument/2006/relationships/notesMaster" Target="/ppt/notesMasters/notesMaster1.xml" Id="R0565b7d9738943f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5077f41a98446c6" /><Relationship Type="http://schemas.openxmlformats.org/officeDocument/2006/relationships/notesMaster" Target="/ppt/notesMasters/notesMaster1.xml" Id="Rdb3623b096ec457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09f94f0f8ce491c" /><Relationship Type="http://schemas.openxmlformats.org/officeDocument/2006/relationships/notesMaster" Target="/ppt/notesMasters/notesMaster1.xml" Id="R919ad296dec24b4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807af311d784b09" /><Relationship Type="http://schemas.openxmlformats.org/officeDocument/2006/relationships/notesMaster" Target="/ppt/notesMasters/notesMaster1.xml" Id="R5cc3ca9d79014be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95ad783de714e54" /><Relationship Type="http://schemas.openxmlformats.org/officeDocument/2006/relationships/notesMaster" Target="/ppt/notesMasters/notesMaster1.xml" Id="R25eb1aced3fa472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a2a3801702746b6" /><Relationship Type="http://schemas.openxmlformats.org/officeDocument/2006/relationships/notesMaster" Target="/ppt/notesMasters/notesMaster1.xml" Id="R1955520ecfa249b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59405d36ec14d38" /><Relationship Type="http://schemas.openxmlformats.org/officeDocument/2006/relationships/notesMaster" Target="/ppt/notesMasters/notesMaster1.xml" Id="R2ce6a27e992f45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in one sentence: the goal is live recognition of red, green, and blue cubes on NVIDIA Jetson edge hardware. Explain that the talk follows the actual path from data collection to live ROS 2 deployment. The cover illustration is conceptual, not a photograph of the final live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engineering problem is to recognize physical cubes, not merely colored pixels. The intended setting is the indoor robot-camera view at about 20–80 cm. Success has several parts: correct color and image box, rejection of non-cube objects, timely updates, and useful depth-based location. These are requirements to evaluate, not claims that every requirement has passed. Navigation and grasping are outside this presentation's project scope.</a:t>
            </a:r>
          </a:p>
          <a:p xmlns:a="http://schemas.openxmlformats.org/drawingml/2006/main">
            <a:r>
              <a:t/>
            </a:r>
          </a:p>
          <a:p xmlns:a="http://schemas.openxmlformats.org/drawingml/2006/main">
            <a:r>
              <a:t>The earlier plan proposed quantitative targets, but they were not established by an independent full-range test. Do not present those proposed thresholds as a completed acceptance test. Source: docs/sunday-presentation-plan.md, completion and presentation checkpoints.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Computer vision extracts information from pictures. Our task is object detection: identify each cube's color class and draw a box around it. A box gives a position in the image, not a physical distance. Depth measurements are needed for distance and later 3D localization.</a:t>
            </a:r>
          </a:p>
          <a:p xmlns:a="http://schemas.openxmlformats.org/drawingml/2006/main">
            <a:r>
              <a:t/>
            </a:r>
          </a:p>
          <a:p xmlns:a="http://schemas.openxmlformats.org/drawingml/2006/main">
            <a:r>
              <a:t>Training changes the model using labeled examples. Inference uses the trained model to make predictions on a photo or a live frame. Validation compares those predictions with known answers. These are the three roles used in the following workflows. Source: docs/learn/reference/training-and-evaluation.html and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from left to right. The RGB camera supplies pixels. The ROS 2 node prepares a 640 by 640 input. YOLO predicts cube boxes and classes. TensorRT runs the model efficiently on the Jetson GPU. The optional geometry filter uses depth data before final detections and locations are published. This last filter is the unfinished part discovered in the live test. Source: docs/architecture.md and today's technical walkthrough.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simple color-threshold detector is an understandable baseline: it searches for pixels in a chosen color range. The weakness is that an ordinary red surface may satisfy that rule too. We chose a pretrained YOLOv5u-small detector and fine-tuned it on reviewed camera images to adapt an existing visual model to the cube classes. Reusing the existing TensorRT and ROS 2 path reduced integration changes. This is a project-fit argument, not a controlled claim of superiority over other detectors.</a:t>
            </a:r>
          </a:p>
          <a:p xmlns:a="http://schemas.openxmlformats.org/drawingml/2006/main">
            <a:r>
              <a:t/>
            </a:r>
          </a:p>
          <a:p xmlns:a="http://schemas.openxmlformats.org/drawingml/2006/main">
            <a:r>
              <a:t>Depth filtering is an additional geometric test, not another training phase. It should help reject unsuitable shapes but must also retain real cubes. The method has to be tested for both kinds of outcome. Sources: docs/architecture.md; docs/training-validation-methodology-review.md; scripts/run_robot_training_smoke.py. Research references supporting transfer learning and separate evaluation are collected in the appendix. No numerical alternative-model speed claims from historical research are repeated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used existing software instead of writing a neural network or camera driver from scratch. My work included arranging scenes, collecting camera images, approving labels, executing the dataset export and training, exporting and transferring the model, building the Jetson engine, and interpreting the live tests. Codex assisted with implementation, guided explanations, checks and documentation.</a:t>
            </a:r>
          </a:p>
          <a:p xmlns:a="http://schemas.openxmlformats.org/drawingml/2006/main">
            <a:r>
              <a:t/>
            </a:r>
          </a:p>
          <a:p xmlns:a="http://schemas.openxmlformats.org/drawingml/2006/main">
            <a:r>
              <a:t>This distinguishes my hands-on work from reused components and AI assistance. It does not imply that I authored every line of code. The engineering understanding I should demonstrate is how the pieces connect, why a choice was made, and what the evidence supports. Sources: docs/development-learning-journal/2026-09-12-saturday.md and 2026-09-13-sunday.md.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Labels are the expected answers: a class number for the color and coordinates for the box. I reviewed the proposed annotations in the gallery. The exporter converted approved boxes to training labels and checked the selected files against their records. Human review is a quality check, not a guarantee that no labeling error exists.</a:t>
            </a:r>
          </a:p>
          <a:p xmlns:a="http://schemas.openxmlformats.org/drawingml/2006/main">
            <a:r>
              <a:t/>
            </a:r>
          </a:p>
          <a:p xmlns:a="http://schemas.openxmlformats.org/drawingml/2006/main">
            <a:r>
              <a:t>The capture plan targeted positions and backgrounds underrepresented in the existing photos. We removed redundant selected frames and kept different arrangements for validation. Research corrected the temporary plan to check on the same images: putting a copy in a second folder cannot create unseen evidence. Training examples change the weights; validation examples guide model selection; a later untouched test is required for independent performance claims. Lighting diversity and other rooms remain gaps. Sources: docs/training-validation-methodology-review.md; docs/indoor-cube-capture-checklist.md; scripts/prepare_reviewed_robot_dataset.py. Primary guidance: https://scikit-learn.org/stable/modules/cross_validation.html and https://docs.pytorch.org/tutorials/beginner/transfer_learning_tutorial.html.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begins before any training command. We capture varied scenes, review color labels and bounding boxes, and allocate whole arrangements to training or validation. A pretrained checkpoint supplies the initial weights: adjustable numbers inside the network. Only training examples update those weights. For each batch, the model predicts boxes and colors, compares them with the approved labels, computes an error, and adjusts the weights. Repeating a full pass through the training examples is one epoch.</a:t>
            </a:r>
          </a:p>
          <a:p xmlns:a="http://schemas.openxmlformats.org/drawingml/2006/main">
            <a:r>
              <a:t/>
            </a:r>
          </a:p>
          <a:p xmlns:a="http://schemas.openxmlformats.org/drawingml/2006/main">
            <a:r>
              <a:t>Small random image shifts, scaling and flips add variation during learning; labels move with the image. They supplement scene variety but cannot replace new capture conditions. Training saves checkpoints, which are snapshots of the model. The next slide explains how validation helps select a checkpoint. Sources: scripts/run_robot_training_experiment.py; scripts/prepare_reviewed_robot_dataset.py; docs/development-learning-journal/2026-09-12-saturday.md.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run the current model on labeled scenes that did not update its weights. Inference generates predictions; comparing them with the approved answers makes it an evaluation. A correct match needs the right color and enough overlap with the approved box. An extra unmatched prediction is a false positive. A real cube without a matching prediction is a false negative.</a:t>
            </a:r>
          </a:p>
          <a:p xmlns:a="http://schemas.openxmlformats.org/drawingml/2006/main">
            <a:r>
              <a:t/>
            </a:r>
          </a:p>
          <a:p xmlns:a="http://schemas.openxmlformats.org/drawingml/2006/main">
            <a:r>
              <a:t>During training, the validation score helps choose best.pt and can trigger early stopping. That makes validation a development tool, not an untouched final test. After selecting and converting the model, live scenes check the camera and robot runtime too. A later independent test is still needed for a broader reliability claim. Sources: docs/training-validation-methodology-review.md; docs/validation-prediction-review-2026-09-13.md.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distinction clear: ONNX export and TensorRT conversion did not retrain the model. They changed the runtime format. The TensorRT engine was built on the Jetson Orin Nano with FP16 support. A one-image smoke test reproduced the same V03 class result as PyTorch before the live camera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detector first proposes a box based on the visible image. The geometry filter then uses depth information to check whether the region fits the expected raised, compact shape. It is intended to reject flat colored surfaces and unsuitable shapes. It must also keep real cubes: rejecting every candidate would be a failure, even if false positives disappeared.</a:t>
            </a:r>
          </a:p>
          <a:p xmlns:a="http://schemas.openxmlformats.org/drawingml/2006/main">
            <a:r>
              <a:t/>
            </a:r>
          </a:p>
          <a:p xmlns:a="http://schemas.openxmlformats.org/drawingml/2006/main">
            <a:r>
              <a:t>Depth values depend on alignment and sampling around the box. Comparing filter-off and filter-on behavior isolates whether this stage removes candidates. It does not identify the root cause of an incorrect rejection by itself. This is the intended method; the actual result appears later. Source: docs/architecture.md and docs/development-learning-journal/2026-09-13-sunday.md.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 results slide. The prepared dataset combines 13 earlier approved images with 10 new training images, plus 8 separate validation images. There are 13 labeled cube instances per color in training and 6 per color in validation. Three training photos and two validation photos contain no cube. Training ran for 60 epochs and selected epoch 45 as the best checkpoint. A successful training run is not yet evidence that live detection works; we inspect validation and then the live results.</a:t>
            </a:r>
          </a:p>
          <a:p xmlns:a="http://schemas.openxmlformats.org/drawingml/2006/main">
            <a:r>
              <a:t/>
            </a:r>
          </a:p>
          <a:p xmlns:a="http://schemas.openxmlformats.org/drawingml/2006/main">
            <a:r>
              <a:t>The earlier three-epoch smoke run checked execution but produced poor predictions. That led to a more suitable training schedule and later targeted captures. It is background to our iteration, rather than a dense diagnostic montage in the introduction. Source: runs/robot_2026-09-12/experiment_60ep_20260912_221210+0200/ and docs/development-learning-journal/2026-09-12-saturday.md.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visual review found 17 of 18 cubes, one missed red cube, and no additional visible box across the eight saved validation views. In V03, blue and green were detected and red was missed. The automated precision and recall are reported at a selected operating point, while average precision summarizes a confidence curve. They need not match the visible-box count at the plotting cutoff. Keep the dataset limitation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saved screenshot shows the red cube at confidence 0.78. The model score is a ranking or confidence signal, not a measured 78% success rate. In another observed scene, blue, green and red were present together and the view showed exactly three matching boxes. Maher then removed the cubes and reported keep=0. These are limited scene observations, not a long-duration accuracy study.</a:t>
            </a:r>
          </a:p>
          <a:p xmlns:a="http://schemas.openxmlformats.org/drawingml/2006/main">
            <a:r>
              <a:t/>
            </a:r>
          </a:p>
          <a:p xmlns:a="http://schemas.openxmlformats.org/drawingml/2006/main">
            <a:r>
              <a:t>The node's recent 100-frame windows reported median total processing around 57.7–59.1 ms and median TensorRT inference around 25.9 ms. The slide rounds the first measurement. This is node processing time, not camera-to-browser end-to-end latency or a directly measured output frame rate. A separate synthetic TensorRT benchmark used random inputs and is not substituted for live-pipeline performance. No full distance sweep or stability test is claimed. Source: docs/development-learning-journal/2026-09-13-sunday.md, temporary live model node and live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diagnostic logic. With the filter disabled, the detector showed correct cubes. With the same engine and the filter enabled, the model still generated about four candidates per frame, but the filter rejected every one under the flat category and published zero detections. We did not tune thresholds today because that needs synchronized RGB and depth evidence rather than guessing.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requirements from the beginning. The new learned detector is deployed and has direct live evidence, including three colors together and a negative scene. The evidence is limited to the tested conditions. We have not established reliability across the full intended distance range, long-running changes, or other environments. The current filter is not acceptable for the complete pipeline because it removes valid cubes.</a:t>
            </a:r>
          </a:p>
          <a:p xmlns:a="http://schemas.openxmlformats.org/drawingml/2006/main">
            <a:r>
              <a:t/>
            </a:r>
          </a:p>
          <a:p xmlns:a="http://schemas.openxmlformats.org/drawingml/2006/main">
            <a:r>
              <a:t>The next engineering action is to capture synchronized RGB and depth and inspect per-candidate values, then correct the diagnosed cause and test both cube retention and distractor rejection. Verify physical locations separately. The project demonstrates the learning-to-deployment path while making its incomplete acceptance clear. Source: docs/development-learning-journal/2026-09-13-sunday.md; docs/sunday-presentation-plan.md.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Precision is correct detections divided by reported detections; recall is found objects divided by real objects. Average precision summarizes precision/recall behavior across confidence levels. mAP averages across classes. IoU, intersection over union, measures box overlap: the shared area divided by the total area covered by both boxes. mAP50 uses IoU 0.50; mAP50–95 averages thresholds 0.50 through 0.95 in increments of 0.05.</a:t>
            </a:r>
          </a:p>
          <a:p xmlns:a="http://schemas.openxmlformats.org/drawingml/2006/main">
            <a:r>
              <a:t/>
            </a:r>
          </a:p>
          <a:p xmlns:a="http://schemas.openxmlformats.org/drawingml/2006/main">
            <a:r>
              <a:t>The eight-image visual review counted 17 matching visible boxes for 18 cubes. Do not substitute that count for the library's reported precision and recall. Ultralytics calculates class curves and reports precision and recall at a selected point; plotted detections use a display confidence threshold. The two presentations can therefore differ without contradiction. All values still describe this small development-validation set. Sources: runs/robot_2026-09-12/experiment_60ep_20260912_221210+0200/summary.json; installed Ultralytics utils/metrics.py and utils/plotting.py; docs/validation-prediction-review-2026-09-13.md.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PyTorch transfer learning tutorial, https://docs.pytorch.org/tutorials/beginner/transfer_learning_tutorial.html ; scikit-learn cross-validation and grouped data guidance, https://scikit-learn.org/stable/modules/cross_validation.html ; Dive into Deep Learning generalization, https://en.d2l.ai/chapter_linear-classification/generalization-classification.html . They support general methods, not a benchmark claim about this detector.</a:t>
            </a:r>
          </a:p>
          <a:p xmlns:a="http://schemas.openxmlformats.org/drawingml/2006/main">
            <a:r>
              <a:t/>
            </a:r>
          </a:p>
          <a:p xmlns:a="http://schemas.openxmlformats.org/drawingml/2006/main">
            <a:r>
              <a:t>Local rationale: docs/training-validation-methodology-review.md; docs/indoor-cube-capture-checklist.md; docs/architecture.md. Authoritative run: runs/robot_2026-09-12/experiment_60ep_20260912_221210+0200/summary.json, requested_settings.json, results.csv and weights/best.pt. Training uses YOLOv5u-small, 60 epochs, batch=4, nbs=4, image size 640, AdamW lr0=0.001, warmup_epochs=0, patience=15 and seed=42. The output used the best epoch 45 checkpoint. Model conversion and live evidence are documented in docs/development-learning-journal/2026-09-13-sunday.md. The full source files preserve details omitted from the main slides for clarity.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0463f3428f4a3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4d4911019942cf" /><Relationship Type="http://schemas.openxmlformats.org/officeDocument/2006/relationships/slideLayout" Target="/ppt/slideLayouts/slideLayout1.xml" Id="R3fd3ea011a4a44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d3ea011a4a44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3f88e175f8b47e1" /><Relationship Type="http://schemas.openxmlformats.org/officeDocument/2006/relationships/image" Target="/ppt/media/image.png" Id="Rd29b693e7779461d" /><Relationship Type="http://schemas.openxmlformats.org/officeDocument/2006/relationships/notesSlide" Target="/ppt/notesSlides/notesSlide1.xml" Id="R98875cf911f444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33eedb4a8e3454f" /><Relationship Type="http://schemas.openxmlformats.org/officeDocument/2006/relationships/notesSlide" Target="/ppt/notesSlides/notesSlide2.xml" Id="Rbc488b2272c440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f251f7c2a6746e0" /><Relationship Type="http://schemas.openxmlformats.org/officeDocument/2006/relationships/notesSlide" Target="/ppt/notesSlides/notesSlide3.xml" Id="R034949a632c948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cfa10562a947a8" /><Relationship Type="http://schemas.openxmlformats.org/officeDocument/2006/relationships/image" Target="/ppt/media/image2.png" Id="R9943dca70b11405c" /><Relationship Type="http://schemas.openxmlformats.org/officeDocument/2006/relationships/notesSlide" Target="/ppt/notesSlides/notesSlide4.xml" Id="R4e5c1517f87743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7e32913668f4d27" /><Relationship Type="http://schemas.openxmlformats.org/officeDocument/2006/relationships/notesSlide" Target="/ppt/notesSlides/notesSlide5.xml" Id="R186ce3d574ef45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4d0b1f4c1ff41ce" /><Relationship Type="http://schemas.openxmlformats.org/officeDocument/2006/relationships/notesSlide" Target="/ppt/notesSlides/notesSlide6.xml" Id="Rf8170ec222d549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7e60f6146934f25" /><Relationship Type="http://schemas.openxmlformats.org/officeDocument/2006/relationships/notesSlide" Target="/ppt/notesSlides/notesSlide7.xml" Id="R5251d34e3ce24af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046b1bc94324495" /><Relationship Type="http://schemas.openxmlformats.org/officeDocument/2006/relationships/notesSlide" Target="/ppt/notesSlides/notesSlide8.xml" Id="R956f9934840940b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ef324cc81374fad" /><Relationship Type="http://schemas.openxmlformats.org/officeDocument/2006/relationships/notesSlide" Target="/ppt/notesSlides/notesSlide9.xml" Id="Rd4cdcba0f52647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18360dd90a74490" /><Relationship Type="http://schemas.openxmlformats.org/officeDocument/2006/relationships/notesSlide" Target="/ppt/notesSlides/notesSlide10.xml" Id="R1699edb0cc9a478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033c0422fc54fa2" /><Relationship Type="http://schemas.openxmlformats.org/officeDocument/2006/relationships/notesSlide" Target="/ppt/notesSlides/notesSlide11.xml" Id="R4ad61dcab92c4a7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a1aac6aaa304b66" /><Relationship Type="http://schemas.openxmlformats.org/officeDocument/2006/relationships/notesSlide" Target="/ppt/notesSlides/notesSlide12.xml" Id="Rf063abb4d9ab4d3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c36f3e7f9ca465f" /><Relationship Type="http://schemas.openxmlformats.org/officeDocument/2006/relationships/image" Target="/ppt/media/image.jpeg" Id="Raa020191b1374dde" /><Relationship Type="http://schemas.openxmlformats.org/officeDocument/2006/relationships/image" Target="/ppt/media/image2.jpeg" Id="R767b0f95a76b4402" /><Relationship Type="http://schemas.openxmlformats.org/officeDocument/2006/relationships/notesSlide" Target="/ppt/notesSlides/notesSlide13.xml" Id="Rdc8952d75d6d4af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e33980919744ed8" /><Relationship Type="http://schemas.openxmlformats.org/officeDocument/2006/relationships/image" Target="/ppt/media/image3.png" Id="Rc384d27e041743c0" /><Relationship Type="http://schemas.openxmlformats.org/officeDocument/2006/relationships/notesSlide" Target="/ppt/notesSlides/notesSlide14.xml" Id="R626ab6fd347e490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f92dd2f2ba54013" /><Relationship Type="http://schemas.openxmlformats.org/officeDocument/2006/relationships/notesSlide" Target="/ppt/notesSlides/notesSlide15.xml" Id="Rab154ae5566c4fe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35021c4e858422d" /><Relationship Type="http://schemas.openxmlformats.org/officeDocument/2006/relationships/notesSlide" Target="/ppt/notesSlides/notesSlide16.xml" Id="R7446503d054d412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dccc3fd1f4a484b" /><Relationship Type="http://schemas.openxmlformats.org/officeDocument/2006/relationships/notesSlide" Target="/ppt/notesSlides/notesSlide17.xml" Id="R7999e9ee7b65469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7d08550536e4551" /><Relationship Type="http://schemas.openxmlformats.org/officeDocument/2006/relationships/notesSlide" Target="/ppt/notesSlides/notesSlide18.xml" Id="Rc95d0633bd7c447e" /></Relationships>
</file>

<file path=ppt/slides/slide1.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29b693e7779461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C5935D9-3F36-4733-A2D2-C3B0257C530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827">
              <a:alpha val="85098"/>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DD013F7-9EFC-427E-9B78-F54232047D90}"/>
              </a:ext>
            </a:extLst>
          </p:cNvPr>
          <p:cNvSpPr>
            <a:spLocks xmlns:a="http://schemas.openxmlformats.org/drawingml/2006/main" noGrp="1"/>
          </p:cNvSpPr>
          <p:nvPr/>
        </p:nvSpPr>
        <p:spPr>
          <a:xfrm xmlns:a="http://schemas.openxmlformats.org/drawingml/2006/main">
            <a:off x="685800" y="106680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i="0">
                <a:solidFill>
                  <a:srgbClr val="14B8A6"/>
                </a:solidFill>
                <a:latin typeface="DejaVu Sans"/>
                <a:ea typeface="DejaVu Sans"/>
                <a:cs typeface="DejaVu Sans"/>
              </a:defRPr>
            </a:pPr>
            <a:r>
              <a:rPr sz="1275" b="1" i="0">
                <a:solidFill>
                  <a:srgbClr val="14B8A6"/>
                </a:solidFill>
                <a:latin typeface="DejaVu Sans"/>
                <a:ea typeface="DejaVu Sans"/>
                <a:cs typeface="DejaVu Sans"/>
              </a:rPr>
              <a:t>REAL-TIME COMPUTER VISION</a:t>
            </a:r>
          </a:p>
        </p:txBody>
      </p:sp>
      <p:sp>
        <p:nvSpPr>
          <p:cNvPr id="4" name="">
            <a:extLst xmlns:a="http://schemas.openxmlformats.org/drawingml/2006/main">
              <a:ext uri="{FF2B5EF4-FFF2-40B4-BE49-F238E27FC236}">
                <a16:creationId xmlns:a16="http://schemas.microsoft.com/office/drawing/2014/main" id="{ED7F7591-A707-466B-AB6F-0463D12EE81A}"/>
              </a:ext>
            </a:extLst>
          </p:cNvPr>
          <p:cNvSpPr>
            <a:spLocks xmlns:a="http://schemas.openxmlformats.org/drawingml/2006/main" noGrp="1"/>
          </p:cNvSpPr>
          <p:nvPr/>
        </p:nvSpPr>
        <p:spPr>
          <a:xfrm xmlns:a="http://schemas.openxmlformats.org/drawingml/2006/main">
            <a:off x="685800" y="1581150"/>
            <a:ext cx="7620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450" b="1" i="0">
                <a:solidFill>
                  <a:srgbClr val="FFFFFF"/>
                </a:solidFill>
                <a:latin typeface="DejaVu Sans"/>
                <a:ea typeface="DejaVu Sans"/>
                <a:cs typeface="DejaVu Sans"/>
              </a:defRPr>
            </a:pPr>
            <a:r>
              <a:rPr sz="3450" b="1" i="0">
                <a:solidFill>
                  <a:srgbClr val="FFFFFF"/>
                </a:solidFill>
                <a:latin typeface="DejaVu Sans"/>
                <a:ea typeface="DejaVu Sans"/>
                <a:cs typeface="DejaVu Sans"/>
              </a:rPr>
              <a:t>Colored Cube Detection</a:t>
            </a:r>
          </a:p>
          <a:p xmlns:a="http://schemas.openxmlformats.org/drawingml/2006/main">
            <a:pPr>
              <a:defRPr sz="3450" b="1" i="0">
                <a:solidFill>
                  <a:srgbClr val="FFFFFF"/>
                </a:solidFill>
                <a:latin typeface="DejaVu Sans"/>
                <a:ea typeface="DejaVu Sans"/>
                <a:cs typeface="DejaVu Sans"/>
              </a:defRPr>
            </a:pPr>
            <a:r>
              <a:rPr sz="3450" b="1" i="0">
                <a:solidFill>
                  <a:srgbClr val="FFFFFF"/>
                </a:solidFill>
                <a:latin typeface="DejaVu Sans"/>
                <a:ea typeface="DejaVu Sans"/>
                <a:cs typeface="DejaVu Sans"/>
              </a:rPr>
              <a:t>on NVIDIA Jetson Hardware</a:t>
            </a:r>
          </a:p>
        </p:txBody>
      </p:sp>
      <p:sp>
        <p:nvSpPr>
          <p:cNvPr id="5" name="">
            <a:extLst xmlns:a="http://schemas.openxmlformats.org/drawingml/2006/main">
              <a:ext uri="{FF2B5EF4-FFF2-40B4-BE49-F238E27FC236}">
                <a16:creationId xmlns:a16="http://schemas.microsoft.com/office/drawing/2014/main" id="{4CA8B5D1-447C-4EBB-805D-5A537C185E24}"/>
              </a:ext>
            </a:extLst>
          </p:cNvPr>
          <p:cNvSpPr>
            <a:spLocks xmlns:a="http://schemas.openxmlformats.org/drawingml/2006/main" noGrp="1"/>
          </p:cNvSpPr>
          <p:nvPr/>
        </p:nvSpPr>
        <p:spPr>
          <a:xfrm xmlns:a="http://schemas.openxmlformats.org/drawingml/2006/main">
            <a:off x="723900" y="3714750"/>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C7D9E5"/>
                </a:solidFill>
                <a:latin typeface="DejaVu Sans"/>
                <a:ea typeface="DejaVu Sans"/>
                <a:cs typeface="DejaVu Sans"/>
              </a:defRPr>
            </a:pPr>
            <a:r>
              <a:rPr sz="1800" b="0" i="0">
                <a:solidFill>
                  <a:srgbClr val="C7D9E5"/>
                </a:solidFill>
                <a:latin typeface="DejaVu Sans"/>
                <a:ea typeface="DejaVu Sans"/>
                <a:cs typeface="DejaVu Sans"/>
              </a:rPr>
              <a:t>YOLO  ·  TensorRT  ·  ROS 2</a:t>
            </a:r>
          </a:p>
        </p:txBody>
      </p:sp>
      <p:sp>
        <p:nvSpPr>
          <p:cNvPr id="6" name="">
            <a:extLst xmlns:a="http://schemas.openxmlformats.org/drawingml/2006/main">
              <a:ext uri="{FF2B5EF4-FFF2-40B4-BE49-F238E27FC236}">
                <a16:creationId xmlns:a16="http://schemas.microsoft.com/office/drawing/2014/main" id="{C5CABCB7-A7B2-4D89-9E5C-5C7AD780539B}"/>
              </a:ext>
            </a:extLst>
          </p:cNvPr>
          <p:cNvSpPr>
            <a:spLocks xmlns:a="http://schemas.openxmlformats.org/drawingml/2006/main" noGrp="1"/>
          </p:cNvSpPr>
          <p:nvPr/>
        </p:nvSpPr>
        <p:spPr>
          <a:xfrm xmlns:a="http://schemas.openxmlformats.org/drawingml/2006/main">
            <a:off x="723900" y="592455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C7D9E5"/>
                </a:solidFill>
                <a:latin typeface="DejaVu Sans"/>
                <a:ea typeface="DejaVu Sans"/>
                <a:cs typeface="DejaVu Sans"/>
              </a:defRPr>
            </a:pPr>
            <a:r>
              <a:rPr sz="1350" b="0" i="0">
                <a:solidFill>
                  <a:srgbClr val="C7D9E5"/>
                </a:solidFill>
                <a:latin typeface="DejaVu Sans"/>
                <a:ea typeface="DejaVu Sans"/>
                <a:cs typeface="DejaVu Sans"/>
              </a:rPr>
              <a:t>Maher  |  13 September 2026</a:t>
            </a:r>
          </a:p>
        </p:txBody>
      </p:sp>
    </p:spTree>
    <p:extLst>
      <p:ext uri="{BB962C8B-B14F-4D97-AF65-F5344CB8AC3E}">
        <p14:creationId xmlns:p14="http://schemas.microsoft.com/office/powerpoint/2010/main" val="367203587"/>
      </p:ext>
    </p:extLst>
  </p:cSld>
</p:sld>
</file>

<file path=ppt/slides/slide2.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C51DAD1-0D42-4A09-BA10-D981789FF3F8}"/>
              </a:ext>
            </a:extLst>
          </p:cNvPr>
          <p:cNvSpPr>
            <a:spLocks xmlns:a="http://schemas.openxmlformats.org/drawingml/2006/main" noGrp="1"/>
          </p:cNvSpPr>
          <p:nvPr/>
        </p:nvSpPr>
        <p:spPr>
          <a:xfrm xmlns:a="http://schemas.openxmlformats.org/drawingml/2006/main">
            <a:off x="609600" y="400050"/>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i="0">
                <a:solidFill>
                  <a:srgbClr val="142735"/>
                </a:solidFill>
                <a:latin typeface="DejaVu Sans"/>
                <a:ea typeface="DejaVu Sans"/>
                <a:cs typeface="DejaVu Sans"/>
              </a:defRPr>
            </a:pPr>
            <a:r>
              <a:rPr sz="2550" b="1" i="0">
                <a:solidFill>
                  <a:srgbClr val="142735"/>
                </a:solidFill>
                <a:latin typeface="DejaVu Sans"/>
                <a:ea typeface="DejaVu Sans"/>
                <a:cs typeface="DejaVu Sans"/>
              </a:rPr>
              <a:t>The problem and what success means</a:t>
            </a:r>
          </a:p>
        </p:txBody>
      </p:sp>
      <p:sp>
        <p:nvSpPr>
          <p:cNvPr id="2" name="">
            <a:extLst xmlns:a="http://schemas.openxmlformats.org/drawingml/2006/main">
              <a:ext uri="{FF2B5EF4-FFF2-40B4-BE49-F238E27FC236}">
                <a16:creationId xmlns:a16="http://schemas.microsoft.com/office/drawing/2014/main" id="{6C83A8DC-172E-4720-819B-C00110BD47AD}"/>
              </a:ext>
            </a:extLst>
          </p:cNvPr>
          <p:cNvSpPr>
            <a:spLocks xmlns:a="http://schemas.openxmlformats.org/drawingml/2006/main" noGrp="1"/>
          </p:cNvSpPr>
          <p:nvPr/>
        </p:nvSpPr>
        <p:spPr>
          <a:xfrm xmlns:a="http://schemas.openxmlformats.org/drawingml/2006/main">
            <a:off x="609600" y="1028700"/>
            <a:ext cx="819150" cy="57150"/>
          </a:xfrm>
          <a:prstGeom xmlns:a="http://schemas.openxmlformats.org/drawingml/2006/main" prst="rect">
            <a:avLst/>
          </a:prstGeom>
          <a:solidFill xmlns:a="http://schemas.openxmlformats.org/drawingml/2006/main">
            <a:srgbClr val="14B8A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3CF62CB-B864-4DA1-AD64-88474EBC520B}"/>
              </a:ext>
            </a:extLst>
          </p:cNvPr>
          <p:cNvSpPr>
            <a:spLocks xmlns:a="http://schemas.openxmlformats.org/drawingml/2006/main" noGrp="1"/>
          </p:cNvSpPr>
          <p:nvPr/>
        </p:nvSpPr>
        <p:spPr>
          <a:xfrm xmlns:a="http://schemas.openxmlformats.org/drawingml/2006/main">
            <a:off x="11144250" y="45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26777"/>
                </a:solidFill>
                <a:latin typeface="DejaVu Sans"/>
                <a:ea typeface="DejaVu Sans"/>
                <a:cs typeface="DejaVu Sans"/>
              </a:defRPr>
            </a:pPr>
            <a:r>
              <a:rPr sz="1200" b="1" i="0">
                <a:solidFill>
                  <a:srgbClr val="526777"/>
                </a:solidFill>
                <a:latin typeface="DejaVu Sans"/>
                <a:ea typeface="DejaVu Sans"/>
                <a:cs typeface="DejaVu Sans"/>
              </a:rPr>
              <a:t>02</a:t>
            </a:r>
          </a:p>
        </p:txBody>
      </p:sp>
      <p:sp>
        <p:nvSpPr>
          <p:cNvPr id="4" name="">
            <a:extLst xmlns:a="http://schemas.openxmlformats.org/drawingml/2006/main">
              <a:ext uri="{FF2B5EF4-FFF2-40B4-BE49-F238E27FC236}">
                <a16:creationId xmlns:a16="http://schemas.microsoft.com/office/drawing/2014/main" id="{5D40EB55-B591-45BE-BEAF-57A85A2B62BA}"/>
              </a:ext>
            </a:extLst>
          </p:cNvPr>
          <p:cNvSpPr>
            <a:spLocks xmlns:a="http://schemas.openxmlformats.org/drawingml/2006/main" noGrp="1"/>
          </p:cNvSpPr>
          <p:nvPr/>
        </p:nvSpPr>
        <p:spPr>
          <a:xfrm xmlns:a="http://schemas.openxmlformats.org/drawingml/2006/main">
            <a:off x="609600" y="1438275"/>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400" b="1" i="0">
                <a:solidFill>
                  <a:srgbClr val="142735"/>
                </a:solidFill>
                <a:latin typeface="DejaVu Sans"/>
                <a:ea typeface="DejaVu Sans"/>
                <a:cs typeface="DejaVu Sans"/>
              </a:defRPr>
            </a:pPr>
            <a:r>
              <a:rPr sz="2400" b="1" i="0">
                <a:solidFill>
                  <a:srgbClr val="142735"/>
                </a:solidFill>
                <a:latin typeface="DejaVu Sans"/>
                <a:ea typeface="DejaVu Sans"/>
                <a:cs typeface="DejaVu Sans"/>
              </a:rPr>
              <a:t>Find real red, green and blue cubes in a live indoor camera view and provide their locations to robot software.</a:t>
            </a:r>
          </a:p>
        </p:txBody>
      </p:sp>
      <p:sp>
        <p:nvSpPr>
          <p:cNvPr id="5" name="">
            <a:extLst xmlns:a="http://schemas.openxmlformats.org/drawingml/2006/main">
              <a:ext uri="{FF2B5EF4-FFF2-40B4-BE49-F238E27FC236}">
                <a16:creationId xmlns:a16="http://schemas.microsoft.com/office/drawing/2014/main" id="{94584961-482C-44AD-A1B7-20C76AFA6256}"/>
              </a:ext>
            </a:extLst>
          </p:cNvPr>
          <p:cNvSpPr>
            <a:spLocks xmlns:a="http://schemas.openxmlformats.org/drawingml/2006/main" noGrp="1"/>
          </p:cNvSpPr>
          <p:nvPr/>
        </p:nvSpPr>
        <p:spPr>
          <a:xfrm xmlns:a="http://schemas.openxmlformats.org/drawingml/2006/main">
            <a:off x="609600" y="2857500"/>
            <a:ext cx="4191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02A43"/>
                </a:solidFill>
                <a:latin typeface="DejaVu Sans"/>
                <a:ea typeface="DejaVu Sans"/>
                <a:cs typeface="DejaVu Sans"/>
              </a:defRPr>
            </a:pPr>
            <a:r>
              <a:rPr sz="2025" b="1" i="0">
                <a:solidFill>
                  <a:srgbClr val="102A43"/>
                </a:solidFill>
                <a:latin typeface="DejaVu Sans"/>
                <a:ea typeface="DejaVu Sans"/>
                <a:cs typeface="DejaVu Sans"/>
              </a:rPr>
              <a:t>Detect the right objects</a:t>
            </a:r>
          </a:p>
        </p:txBody>
      </p:sp>
      <p:sp>
        <p:nvSpPr>
          <p:cNvPr id="6" name="">
            <a:extLst xmlns:a="http://schemas.openxmlformats.org/drawingml/2006/main">
              <a:ext uri="{FF2B5EF4-FFF2-40B4-BE49-F238E27FC236}">
                <a16:creationId xmlns:a16="http://schemas.microsoft.com/office/drawing/2014/main" id="{04D45C72-75C6-4273-8F69-4C7C701CB8B7}"/>
              </a:ext>
            </a:extLst>
          </p:cNvPr>
          <p:cNvSpPr>
            <a:spLocks xmlns:a="http://schemas.openxmlformats.org/drawingml/2006/main" noGrp="1"/>
          </p:cNvSpPr>
          <p:nvPr/>
        </p:nvSpPr>
        <p:spPr>
          <a:xfrm xmlns:a="http://schemas.openxmlformats.org/drawingml/2006/main">
            <a:off x="5619750" y="2857500"/>
            <a:ext cx="5905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Correct color and box; ignore ordinary background objects.</a:t>
            </a:r>
          </a:p>
        </p:txBody>
      </p:sp>
      <p:sp>
        <p:nvSpPr>
          <p:cNvPr id="7" name="">
            <a:extLst xmlns:a="http://schemas.openxmlformats.org/drawingml/2006/main">
              <a:ext uri="{FF2B5EF4-FFF2-40B4-BE49-F238E27FC236}">
                <a16:creationId xmlns:a16="http://schemas.microsoft.com/office/drawing/2014/main" id="{D0E1F22F-7D4C-48C3-B38D-3800EA865FB4}"/>
              </a:ext>
            </a:extLst>
          </p:cNvPr>
          <p:cNvSpPr>
            <a:spLocks xmlns:a="http://schemas.openxmlformats.org/drawingml/2006/main" noGrp="1"/>
          </p:cNvSpPr>
          <p:nvPr/>
        </p:nvSpPr>
        <p:spPr>
          <a:xfrm xmlns:a="http://schemas.openxmlformats.org/drawingml/2006/main">
            <a:off x="609600" y="3733800"/>
            <a:ext cx="10839450" cy="19050"/>
          </a:xfrm>
          <a:prstGeom xmlns:a="http://schemas.openxmlformats.org/drawingml/2006/main" prst="rect">
            <a:avLst/>
          </a:prstGeom>
          <a:solidFill xmlns:a="http://schemas.openxmlformats.org/drawingml/2006/main">
            <a:srgbClr val="D8E0E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933D8FE-3F1B-4CD6-96FB-C8F9DA74B4AF}"/>
              </a:ext>
            </a:extLst>
          </p:cNvPr>
          <p:cNvSpPr>
            <a:spLocks xmlns:a="http://schemas.openxmlformats.org/drawingml/2006/main" noGrp="1"/>
          </p:cNvSpPr>
          <p:nvPr/>
        </p:nvSpPr>
        <p:spPr>
          <a:xfrm xmlns:a="http://schemas.openxmlformats.org/drawingml/2006/main">
            <a:off x="609600" y="3905250"/>
            <a:ext cx="4191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02A43"/>
                </a:solidFill>
                <a:latin typeface="DejaVu Sans"/>
                <a:ea typeface="DejaVu Sans"/>
                <a:cs typeface="DejaVu Sans"/>
              </a:defRPr>
            </a:pPr>
            <a:r>
              <a:rPr sz="2025" b="1" i="0">
                <a:solidFill>
                  <a:srgbClr val="102A43"/>
                </a:solidFill>
                <a:latin typeface="DejaVu Sans"/>
                <a:ea typeface="DejaVu Sans"/>
                <a:cs typeface="DejaVu Sans"/>
              </a:rPr>
              <a:t>Respond as the scene changes</a:t>
            </a:r>
          </a:p>
        </p:txBody>
      </p:sp>
      <p:sp>
        <p:nvSpPr>
          <p:cNvPr id="9" name="">
            <a:extLst xmlns:a="http://schemas.openxmlformats.org/drawingml/2006/main">
              <a:ext uri="{FF2B5EF4-FFF2-40B4-BE49-F238E27FC236}">
                <a16:creationId xmlns:a16="http://schemas.microsoft.com/office/drawing/2014/main" id="{FA655951-AA8C-433F-96C9-82BB3FBBA80C}"/>
              </a:ext>
            </a:extLst>
          </p:cNvPr>
          <p:cNvSpPr>
            <a:spLocks xmlns:a="http://schemas.openxmlformats.org/drawingml/2006/main" noGrp="1"/>
          </p:cNvSpPr>
          <p:nvPr/>
        </p:nvSpPr>
        <p:spPr>
          <a:xfrm xmlns:a="http://schemas.openxmlformats.org/drawingml/2006/main">
            <a:off x="5619750" y="3905250"/>
            <a:ext cx="5905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Run on the onboard Jetson and check behavior across positions and distances.</a:t>
            </a:r>
          </a:p>
        </p:txBody>
      </p:sp>
      <p:sp>
        <p:nvSpPr>
          <p:cNvPr id="10" name="">
            <a:extLst xmlns:a="http://schemas.openxmlformats.org/drawingml/2006/main">
              <a:ext uri="{FF2B5EF4-FFF2-40B4-BE49-F238E27FC236}">
                <a16:creationId xmlns:a16="http://schemas.microsoft.com/office/drawing/2014/main" id="{8AEAB945-EBE3-4531-A3C0-8D06FA6C3706}"/>
              </a:ext>
            </a:extLst>
          </p:cNvPr>
          <p:cNvSpPr>
            <a:spLocks xmlns:a="http://schemas.openxmlformats.org/drawingml/2006/main" noGrp="1"/>
          </p:cNvSpPr>
          <p:nvPr/>
        </p:nvSpPr>
        <p:spPr>
          <a:xfrm xmlns:a="http://schemas.openxmlformats.org/drawingml/2006/main">
            <a:off x="609600" y="4781550"/>
            <a:ext cx="10839450" cy="19050"/>
          </a:xfrm>
          <a:prstGeom xmlns:a="http://schemas.openxmlformats.org/drawingml/2006/main" prst="rect">
            <a:avLst/>
          </a:prstGeom>
          <a:solidFill xmlns:a="http://schemas.openxmlformats.org/drawingml/2006/main">
            <a:srgbClr val="D8E0E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56F0CB9-7013-4242-B237-53E2D7CFDC48}"/>
              </a:ext>
            </a:extLst>
          </p:cNvPr>
          <p:cNvSpPr>
            <a:spLocks xmlns:a="http://schemas.openxmlformats.org/drawingml/2006/main" noGrp="1"/>
          </p:cNvSpPr>
          <p:nvPr/>
        </p:nvSpPr>
        <p:spPr>
          <a:xfrm xmlns:a="http://schemas.openxmlformats.org/drawingml/2006/main">
            <a:off x="609600" y="4953000"/>
            <a:ext cx="4191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02A43"/>
                </a:solidFill>
                <a:latin typeface="DejaVu Sans"/>
                <a:ea typeface="DejaVu Sans"/>
                <a:cs typeface="DejaVu Sans"/>
              </a:defRPr>
            </a:pPr>
            <a:r>
              <a:rPr sz="2025" b="1" i="0">
                <a:solidFill>
                  <a:srgbClr val="102A43"/>
                </a:solidFill>
                <a:latin typeface="DejaVu Sans"/>
                <a:ea typeface="DejaVu Sans"/>
                <a:cs typeface="DejaVu Sans"/>
              </a:rPr>
              <a:t>Provide useful locations</a:t>
            </a:r>
          </a:p>
        </p:txBody>
      </p:sp>
      <p:sp>
        <p:nvSpPr>
          <p:cNvPr id="12" name="">
            <a:extLst xmlns:a="http://schemas.openxmlformats.org/drawingml/2006/main">
              <a:ext uri="{FF2B5EF4-FFF2-40B4-BE49-F238E27FC236}">
                <a16:creationId xmlns:a16="http://schemas.microsoft.com/office/drawing/2014/main" id="{38245A44-90D8-4727-8B48-B4E7D24CA2AB}"/>
              </a:ext>
            </a:extLst>
          </p:cNvPr>
          <p:cNvSpPr>
            <a:spLocks xmlns:a="http://schemas.openxmlformats.org/drawingml/2006/main" noGrp="1"/>
          </p:cNvSpPr>
          <p:nvPr/>
        </p:nvSpPr>
        <p:spPr>
          <a:xfrm xmlns:a="http://schemas.openxmlformats.org/drawingml/2006/main">
            <a:off x="5619750" y="4953000"/>
            <a:ext cx="5905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Distinguish image position from physical distance; verify the depth-based output.</a:t>
            </a:r>
          </a:p>
        </p:txBody>
      </p:sp>
      <p:sp>
        <p:nvSpPr>
          <p:cNvPr id="13" name="">
            <a:extLst xmlns:a="http://schemas.openxmlformats.org/drawingml/2006/main">
              <a:ext uri="{FF2B5EF4-FFF2-40B4-BE49-F238E27FC236}">
                <a16:creationId xmlns:a16="http://schemas.microsoft.com/office/drawing/2014/main" id="{31C808C5-D40C-4FF3-B56D-77EF20BD775A}"/>
              </a:ext>
            </a:extLst>
          </p:cNvPr>
          <p:cNvSpPr>
            <a:spLocks xmlns:a="http://schemas.openxmlformats.org/drawingml/2006/main" noGrp="1"/>
          </p:cNvSpPr>
          <p:nvPr/>
        </p:nvSpPr>
        <p:spPr>
          <a:xfrm xmlns:a="http://schemas.openxmlformats.org/drawingml/2006/main">
            <a:off x="609600" y="62293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0" i="0">
                <a:solidFill>
                  <a:srgbClr val="526777"/>
                </a:solidFill>
                <a:latin typeface="DejaVu Sans"/>
                <a:ea typeface="DejaVu Sans"/>
                <a:cs typeface="DejaVu Sans"/>
              </a:defRPr>
            </a:pPr>
            <a:r>
              <a:rPr sz="1350" b="0" i="0">
                <a:solidFill>
                  <a:srgbClr val="526777"/>
                </a:solidFill>
                <a:latin typeface="DejaVu Sans"/>
                <a:ea typeface="DejaVu Sans"/>
                <a:cs typeface="DejaVu Sans"/>
              </a:rPr>
              <a:t>Intended range: 20–80 cm. Scope: perception; navigation and picking are outside this project.</a:t>
            </a:r>
          </a:p>
        </p:txBody>
      </p:sp>
    </p:spTree>
    <p:extLst>
      <p:ext uri="{BB962C8B-B14F-4D97-AF65-F5344CB8AC3E}">
        <p14:creationId xmlns:p14="http://schemas.microsoft.com/office/powerpoint/2010/main" val="991603955"/>
      </p:ext>
    </p:extLst>
  </p:cSld>
</p:sld>
</file>

<file path=ppt/slides/slide3.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DCA07F7-A513-4016-B34C-E613C3BE05D4}"/>
              </a:ext>
            </a:extLst>
          </p:cNvPr>
          <p:cNvSpPr>
            <a:spLocks xmlns:a="http://schemas.openxmlformats.org/drawingml/2006/main" noGrp="1"/>
          </p:cNvSpPr>
          <p:nvPr/>
        </p:nvSpPr>
        <p:spPr>
          <a:xfrm xmlns:a="http://schemas.openxmlformats.org/drawingml/2006/main">
            <a:off x="609600" y="400050"/>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i="0">
                <a:solidFill>
                  <a:srgbClr val="142735"/>
                </a:solidFill>
                <a:latin typeface="DejaVu Sans"/>
                <a:ea typeface="DejaVu Sans"/>
                <a:cs typeface="DejaVu Sans"/>
              </a:defRPr>
            </a:pPr>
            <a:r>
              <a:rPr sz="2550" b="1" i="0">
                <a:solidFill>
                  <a:srgbClr val="142735"/>
                </a:solidFill>
                <a:latin typeface="DejaVu Sans"/>
                <a:ea typeface="DejaVu Sans"/>
                <a:cs typeface="DejaVu Sans"/>
              </a:rPr>
              <a:t>Computer vision: what should the system see?</a:t>
            </a:r>
          </a:p>
        </p:txBody>
      </p:sp>
      <p:sp>
        <p:nvSpPr>
          <p:cNvPr id="2" name="">
            <a:extLst xmlns:a="http://schemas.openxmlformats.org/drawingml/2006/main">
              <a:ext uri="{FF2B5EF4-FFF2-40B4-BE49-F238E27FC236}">
                <a16:creationId xmlns:a16="http://schemas.microsoft.com/office/drawing/2014/main" id="{D9633C9A-4006-4383-8A9E-6B9303E96C26}"/>
              </a:ext>
            </a:extLst>
          </p:cNvPr>
          <p:cNvSpPr>
            <a:spLocks xmlns:a="http://schemas.openxmlformats.org/drawingml/2006/main" noGrp="1"/>
          </p:cNvSpPr>
          <p:nvPr/>
        </p:nvSpPr>
        <p:spPr>
          <a:xfrm xmlns:a="http://schemas.openxmlformats.org/drawingml/2006/main">
            <a:off x="609600" y="1028700"/>
            <a:ext cx="819150" cy="57150"/>
          </a:xfrm>
          <a:prstGeom xmlns:a="http://schemas.openxmlformats.org/drawingml/2006/main" prst="rect">
            <a:avLst/>
          </a:prstGeom>
          <a:solidFill xmlns:a="http://schemas.openxmlformats.org/drawingml/2006/main">
            <a:srgbClr val="14B8A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E2E842B-5DE5-4FB9-87D3-A9A3F5A8D9CA}"/>
              </a:ext>
            </a:extLst>
          </p:cNvPr>
          <p:cNvSpPr>
            <a:spLocks xmlns:a="http://schemas.openxmlformats.org/drawingml/2006/main" noGrp="1"/>
          </p:cNvSpPr>
          <p:nvPr/>
        </p:nvSpPr>
        <p:spPr>
          <a:xfrm xmlns:a="http://schemas.openxmlformats.org/drawingml/2006/main">
            <a:off x="11144250" y="45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26777"/>
                </a:solidFill>
                <a:latin typeface="DejaVu Sans"/>
                <a:ea typeface="DejaVu Sans"/>
                <a:cs typeface="DejaVu Sans"/>
              </a:defRPr>
            </a:pPr>
            <a:r>
              <a:rPr sz="1200" b="1" i="0">
                <a:solidFill>
                  <a:srgbClr val="526777"/>
                </a:solidFill>
                <a:latin typeface="DejaVu Sans"/>
                <a:ea typeface="DejaVu Sans"/>
                <a:cs typeface="DejaVu Sans"/>
              </a:rPr>
              <a:t>03</a:t>
            </a:r>
          </a:p>
        </p:txBody>
      </p:sp>
      <p:sp>
        <p:nvSpPr>
          <p:cNvPr id="4" name="">
            <a:extLst xmlns:a="http://schemas.openxmlformats.org/drawingml/2006/main">
              <a:ext uri="{FF2B5EF4-FFF2-40B4-BE49-F238E27FC236}">
                <a16:creationId xmlns:a16="http://schemas.microsoft.com/office/drawing/2014/main" id="{E547EC42-5E6C-40EC-AB20-64A028A44B07}"/>
              </a:ext>
            </a:extLst>
          </p:cNvPr>
          <p:cNvSpPr>
            <a:spLocks xmlns:a="http://schemas.openxmlformats.org/drawingml/2006/main" noGrp="1"/>
          </p:cNvSpPr>
          <p:nvPr/>
        </p:nvSpPr>
        <p:spPr>
          <a:xfrm xmlns:a="http://schemas.openxmlformats.org/drawingml/2006/main">
            <a:off x="609600" y="1352550"/>
            <a:ext cx="1062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00" b="0" i="0">
                <a:solidFill>
                  <a:srgbClr val="142735"/>
                </a:solidFill>
                <a:latin typeface="DejaVu Sans"/>
                <a:ea typeface="DejaVu Sans"/>
                <a:cs typeface="DejaVu Sans"/>
              </a:defRPr>
            </a:pPr>
            <a:r>
              <a:rPr sz="2100" b="0" i="0">
                <a:solidFill>
                  <a:srgbClr val="142735"/>
                </a:solidFill>
                <a:latin typeface="DejaVu Sans"/>
                <a:ea typeface="DejaVu Sans"/>
                <a:cs typeface="DejaVu Sans"/>
              </a:rPr>
              <a:t>Computer vision turns image pixels into useful information.</a:t>
            </a:r>
          </a:p>
        </p:txBody>
      </p:sp>
      <p:sp>
        <p:nvSpPr>
          <p:cNvPr id="5" name="">
            <a:extLst xmlns:a="http://schemas.openxmlformats.org/drawingml/2006/main">
              <a:ext uri="{FF2B5EF4-FFF2-40B4-BE49-F238E27FC236}">
                <a16:creationId xmlns:a16="http://schemas.microsoft.com/office/drawing/2014/main" id="{5B5B0018-D826-427B-B7A7-86A069E1C96C}"/>
              </a:ext>
            </a:extLst>
          </p:cNvPr>
          <p:cNvSpPr>
            <a:spLocks xmlns:a="http://schemas.openxmlformats.org/drawingml/2006/main" noGrp="1"/>
          </p:cNvSpPr>
          <p:nvPr/>
        </p:nvSpPr>
        <p:spPr>
          <a:xfrm xmlns:a="http://schemas.openxmlformats.org/drawingml/2006/main">
            <a:off x="609600" y="2476500"/>
            <a:ext cx="4810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1" i="0">
                <a:solidFill>
                  <a:srgbClr val="14B8A6"/>
                </a:solidFill>
                <a:latin typeface="DejaVu Sans"/>
                <a:ea typeface="DejaVu Sans"/>
                <a:cs typeface="DejaVu Sans"/>
              </a:defRPr>
            </a:pPr>
            <a:r>
              <a:rPr sz="1875" b="1" i="0">
                <a:solidFill>
                  <a:srgbClr val="14B8A6"/>
                </a:solidFill>
                <a:latin typeface="DejaVu Sans"/>
                <a:ea typeface="DejaVu Sans"/>
                <a:cs typeface="DejaVu Sans"/>
              </a:rPr>
              <a:t>What is it?</a:t>
            </a:r>
          </a:p>
        </p:txBody>
      </p:sp>
      <p:sp>
        <p:nvSpPr>
          <p:cNvPr id="6" name="">
            <a:extLst xmlns:a="http://schemas.openxmlformats.org/drawingml/2006/main">
              <a:ext uri="{FF2B5EF4-FFF2-40B4-BE49-F238E27FC236}">
                <a16:creationId xmlns:a16="http://schemas.microsoft.com/office/drawing/2014/main" id="{F48F7DF5-FBC1-4F19-92FC-6849BD59E270}"/>
              </a:ext>
            </a:extLst>
          </p:cNvPr>
          <p:cNvSpPr>
            <a:spLocks xmlns:a="http://schemas.openxmlformats.org/drawingml/2006/main" noGrp="1"/>
          </p:cNvSpPr>
          <p:nvPr/>
        </p:nvSpPr>
        <p:spPr>
          <a:xfrm xmlns:a="http://schemas.openxmlformats.org/drawingml/2006/main">
            <a:off x="6143625" y="2476500"/>
            <a:ext cx="523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142735"/>
                </a:solidFill>
                <a:latin typeface="DejaVu Sans"/>
                <a:ea typeface="DejaVu Sans"/>
                <a:cs typeface="DejaVu Sans"/>
              </a:defRPr>
            </a:pPr>
            <a:r>
              <a:rPr sz="1800" b="0" i="0">
                <a:solidFill>
                  <a:srgbClr val="142735"/>
                </a:solidFill>
                <a:latin typeface="DejaVu Sans"/>
                <a:ea typeface="DejaVu Sans"/>
                <a:cs typeface="DejaVu Sans"/>
              </a:rPr>
              <a:t>A red, green or blue cube.</a:t>
            </a:r>
          </a:p>
        </p:txBody>
      </p:sp>
      <p:sp>
        <p:nvSpPr>
          <p:cNvPr id="7" name="">
            <a:extLst xmlns:a="http://schemas.openxmlformats.org/drawingml/2006/main">
              <a:ext uri="{FF2B5EF4-FFF2-40B4-BE49-F238E27FC236}">
                <a16:creationId xmlns:a16="http://schemas.microsoft.com/office/drawing/2014/main" id="{BEC94C27-162E-4C26-B381-D379F830C1E6}"/>
              </a:ext>
            </a:extLst>
          </p:cNvPr>
          <p:cNvSpPr>
            <a:spLocks xmlns:a="http://schemas.openxmlformats.org/drawingml/2006/main" noGrp="1"/>
          </p:cNvSpPr>
          <p:nvPr/>
        </p:nvSpPr>
        <p:spPr>
          <a:xfrm xmlns:a="http://schemas.openxmlformats.org/drawingml/2006/main">
            <a:off x="609600" y="3667125"/>
            <a:ext cx="4810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1" i="0">
                <a:solidFill>
                  <a:srgbClr val="14B8A6"/>
                </a:solidFill>
                <a:latin typeface="DejaVu Sans"/>
                <a:ea typeface="DejaVu Sans"/>
                <a:cs typeface="DejaVu Sans"/>
              </a:defRPr>
            </a:pPr>
            <a:r>
              <a:rPr sz="1875" b="1" i="0">
                <a:solidFill>
                  <a:srgbClr val="14B8A6"/>
                </a:solidFill>
                <a:latin typeface="DejaVu Sans"/>
                <a:ea typeface="DejaVu Sans"/>
                <a:cs typeface="DejaVu Sans"/>
              </a:rPr>
              <a:t>Where is it in the image?</a:t>
            </a:r>
          </a:p>
        </p:txBody>
      </p:sp>
      <p:sp>
        <p:nvSpPr>
          <p:cNvPr id="8" name="">
            <a:extLst xmlns:a="http://schemas.openxmlformats.org/drawingml/2006/main">
              <a:ext uri="{FF2B5EF4-FFF2-40B4-BE49-F238E27FC236}">
                <a16:creationId xmlns:a16="http://schemas.microsoft.com/office/drawing/2014/main" id="{F2D99ECC-2117-4EF6-92B3-D4B6EF11EB29}"/>
              </a:ext>
            </a:extLst>
          </p:cNvPr>
          <p:cNvSpPr>
            <a:spLocks xmlns:a="http://schemas.openxmlformats.org/drawingml/2006/main" noGrp="1"/>
          </p:cNvSpPr>
          <p:nvPr/>
        </p:nvSpPr>
        <p:spPr>
          <a:xfrm xmlns:a="http://schemas.openxmlformats.org/drawingml/2006/main">
            <a:off x="6143625" y="3667125"/>
            <a:ext cx="523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142735"/>
                </a:solidFill>
                <a:latin typeface="DejaVu Sans"/>
                <a:ea typeface="DejaVu Sans"/>
                <a:cs typeface="DejaVu Sans"/>
              </a:defRPr>
            </a:pPr>
            <a:r>
              <a:rPr sz="1800" b="0" i="0">
                <a:solidFill>
                  <a:srgbClr val="142735"/>
                </a:solidFill>
                <a:latin typeface="DejaVu Sans"/>
                <a:ea typeface="DejaVu Sans"/>
                <a:cs typeface="DejaVu Sans"/>
              </a:rPr>
              <a:t>A bounding box marks its location.</a:t>
            </a:r>
          </a:p>
        </p:txBody>
      </p:sp>
      <p:sp>
        <p:nvSpPr>
          <p:cNvPr id="9" name="">
            <a:extLst xmlns:a="http://schemas.openxmlformats.org/drawingml/2006/main">
              <a:ext uri="{FF2B5EF4-FFF2-40B4-BE49-F238E27FC236}">
                <a16:creationId xmlns:a16="http://schemas.microsoft.com/office/drawing/2014/main" id="{64D3570C-2D76-4C0E-888C-5922271F7396}"/>
              </a:ext>
            </a:extLst>
          </p:cNvPr>
          <p:cNvSpPr>
            <a:spLocks xmlns:a="http://schemas.openxmlformats.org/drawingml/2006/main" noGrp="1"/>
          </p:cNvSpPr>
          <p:nvPr/>
        </p:nvSpPr>
        <p:spPr>
          <a:xfrm xmlns:a="http://schemas.openxmlformats.org/drawingml/2006/main">
            <a:off x="609600" y="4857750"/>
            <a:ext cx="4810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1" i="0">
                <a:solidFill>
                  <a:srgbClr val="14B8A6"/>
                </a:solidFill>
                <a:latin typeface="DejaVu Sans"/>
                <a:ea typeface="DejaVu Sans"/>
                <a:cs typeface="DejaVu Sans"/>
              </a:defRPr>
            </a:pPr>
            <a:r>
              <a:rPr sz="1875" b="1" i="0">
                <a:solidFill>
                  <a:srgbClr val="14B8A6"/>
                </a:solidFill>
                <a:latin typeface="DejaVu Sans"/>
                <a:ea typeface="DejaVu Sans"/>
                <a:cs typeface="DejaVu Sans"/>
              </a:rPr>
              <a:t>How far away is it?</a:t>
            </a:r>
          </a:p>
        </p:txBody>
      </p:sp>
      <p:sp>
        <p:nvSpPr>
          <p:cNvPr id="10" name="">
            <a:extLst xmlns:a="http://schemas.openxmlformats.org/drawingml/2006/main">
              <a:ext uri="{FF2B5EF4-FFF2-40B4-BE49-F238E27FC236}">
                <a16:creationId xmlns:a16="http://schemas.microsoft.com/office/drawing/2014/main" id="{C7FB9762-F2EB-431F-A44F-7286B52BBD04}"/>
              </a:ext>
            </a:extLst>
          </p:cNvPr>
          <p:cNvSpPr>
            <a:spLocks xmlns:a="http://schemas.openxmlformats.org/drawingml/2006/main" noGrp="1"/>
          </p:cNvSpPr>
          <p:nvPr/>
        </p:nvSpPr>
        <p:spPr>
          <a:xfrm xmlns:a="http://schemas.openxmlformats.org/drawingml/2006/main">
            <a:off x="6143625" y="4857750"/>
            <a:ext cx="523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142735"/>
                </a:solidFill>
                <a:latin typeface="DejaVu Sans"/>
                <a:ea typeface="DejaVu Sans"/>
                <a:cs typeface="DejaVu Sans"/>
              </a:defRPr>
            </a:pPr>
            <a:r>
              <a:rPr sz="1800" b="0" i="0">
                <a:solidFill>
                  <a:srgbClr val="142735"/>
                </a:solidFill>
                <a:latin typeface="DejaVu Sans"/>
                <a:ea typeface="DejaVu Sans"/>
                <a:cs typeface="DejaVu Sans"/>
              </a:rPr>
              <a:t>Depth data adds physical distance.</a:t>
            </a:r>
          </a:p>
        </p:txBody>
      </p:sp>
    </p:spTree>
    <p:extLst>
      <p:ext uri="{BB962C8B-B14F-4D97-AF65-F5344CB8AC3E}">
        <p14:creationId xmlns:p14="http://schemas.microsoft.com/office/powerpoint/2010/main" val="435797357"/>
      </p:ext>
    </p:extLst>
  </p:cSld>
</p:sld>
</file>

<file path=ppt/slides/slide4.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65239AC-EDA4-4187-BAA4-84C72D7D5DFD}"/>
              </a:ext>
            </a:extLst>
          </p:cNvPr>
          <p:cNvSpPr>
            <a:spLocks xmlns:a="http://schemas.openxmlformats.org/drawingml/2006/main" noGrp="1"/>
          </p:cNvSpPr>
          <p:nvPr/>
        </p:nvSpPr>
        <p:spPr>
          <a:xfrm xmlns:a="http://schemas.openxmlformats.org/drawingml/2006/main">
            <a:off x="609600" y="400050"/>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i="0">
                <a:solidFill>
                  <a:srgbClr val="FFFFFF"/>
                </a:solidFill>
                <a:latin typeface="DejaVu Sans"/>
                <a:ea typeface="DejaVu Sans"/>
                <a:cs typeface="DejaVu Sans"/>
              </a:defRPr>
            </a:pPr>
            <a:r>
              <a:rPr sz="2550" b="1" i="0">
                <a:solidFill>
                  <a:srgbClr val="FFFFFF"/>
                </a:solidFill>
                <a:latin typeface="DejaVu Sans"/>
                <a:ea typeface="DejaVu Sans"/>
                <a:cs typeface="DejaVu Sans"/>
              </a:rPr>
              <a:t>System architecture</a:t>
            </a:r>
          </a:p>
        </p:txBody>
      </p:sp>
      <p:sp>
        <p:nvSpPr>
          <p:cNvPr id="2" name="">
            <a:extLst xmlns:a="http://schemas.openxmlformats.org/drawingml/2006/main">
              <a:ext uri="{FF2B5EF4-FFF2-40B4-BE49-F238E27FC236}">
                <a16:creationId xmlns:a16="http://schemas.microsoft.com/office/drawing/2014/main" id="{29A22297-3B6C-407E-90B4-55500ED9254C}"/>
              </a:ext>
            </a:extLst>
          </p:cNvPr>
          <p:cNvSpPr>
            <a:spLocks xmlns:a="http://schemas.openxmlformats.org/drawingml/2006/main" noGrp="1"/>
          </p:cNvSpPr>
          <p:nvPr/>
        </p:nvSpPr>
        <p:spPr>
          <a:xfrm xmlns:a="http://schemas.openxmlformats.org/drawingml/2006/main">
            <a:off x="609600" y="1028700"/>
            <a:ext cx="819150" cy="57150"/>
          </a:xfrm>
          <a:prstGeom xmlns:a="http://schemas.openxmlformats.org/drawingml/2006/main" prst="rect">
            <a:avLst/>
          </a:prstGeom>
          <a:solidFill xmlns:a="http://schemas.openxmlformats.org/drawingml/2006/main">
            <a:srgbClr val="14B8A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F5AC7D9-D11C-45F6-B7FE-E17DDA452EDB}"/>
              </a:ext>
            </a:extLst>
          </p:cNvPr>
          <p:cNvSpPr>
            <a:spLocks xmlns:a="http://schemas.openxmlformats.org/drawingml/2006/main" noGrp="1"/>
          </p:cNvSpPr>
          <p:nvPr/>
        </p:nvSpPr>
        <p:spPr>
          <a:xfrm xmlns:a="http://schemas.openxmlformats.org/drawingml/2006/main">
            <a:off x="11144250" y="45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FB3C9"/>
                </a:solidFill>
                <a:latin typeface="DejaVu Sans"/>
                <a:ea typeface="DejaVu Sans"/>
                <a:cs typeface="DejaVu Sans"/>
              </a:defRPr>
            </a:pPr>
            <a:r>
              <a:rPr sz="1200" b="1" i="0">
                <a:solidFill>
                  <a:srgbClr val="8FB3C9"/>
                </a:solidFill>
                <a:latin typeface="DejaVu Sans"/>
                <a:ea typeface="DejaVu Sans"/>
                <a:cs typeface="DejaVu Sans"/>
              </a:rPr>
              <a:t>04</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943dca70b11405c"/>
          <a:stretch xmlns:a="http://schemas.openxmlformats.org/drawingml/2006/main"/>
        </p:blipFill>
        <p:spPr>
          <a:xfrm xmlns:a="http://schemas.openxmlformats.org/drawingml/2006/main">
            <a:off x="1864916" y="1333500"/>
            <a:ext cx="8462168" cy="4762500"/>
          </a:xfrm>
          <a:prstGeom xmlns:a="http://schemas.openxmlformats.org/drawingml/2006/main" prst="rect">
            <a:avLst/>
          </a:prstGeom>
        </p:spPr>
      </p:pic>
    </p:spTree>
    <p:extLst>
      <p:ext uri="{BB962C8B-B14F-4D97-AF65-F5344CB8AC3E}">
        <p14:creationId xmlns:p14="http://schemas.microsoft.com/office/powerpoint/2010/main" val="1389708255"/>
      </p:ext>
    </p:extLst>
  </p:cSld>
</p:sld>
</file>

<file path=ppt/slides/slide5.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C4AAA29-CBC1-4B83-9AE2-C420C9815A85}"/>
              </a:ext>
            </a:extLst>
          </p:cNvPr>
          <p:cNvSpPr>
            <a:spLocks xmlns:a="http://schemas.openxmlformats.org/drawingml/2006/main" noGrp="1"/>
          </p:cNvSpPr>
          <p:nvPr/>
        </p:nvSpPr>
        <p:spPr>
          <a:xfrm xmlns:a="http://schemas.openxmlformats.org/drawingml/2006/main">
            <a:off x="609600" y="400050"/>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i="0">
                <a:solidFill>
                  <a:srgbClr val="142735"/>
                </a:solidFill>
                <a:latin typeface="DejaVu Sans"/>
                <a:ea typeface="DejaVu Sans"/>
                <a:cs typeface="DejaVu Sans"/>
              </a:defRPr>
            </a:pPr>
            <a:r>
              <a:rPr sz="2550" b="1" i="0">
                <a:solidFill>
                  <a:srgbClr val="142735"/>
                </a:solidFill>
                <a:latin typeface="DejaVu Sans"/>
                <a:ea typeface="DejaVu Sans"/>
                <a:cs typeface="DejaVu Sans"/>
              </a:rPr>
              <a:t>Why this approach?</a:t>
            </a:r>
          </a:p>
        </p:txBody>
      </p:sp>
      <p:sp>
        <p:nvSpPr>
          <p:cNvPr id="2" name="">
            <a:extLst xmlns:a="http://schemas.openxmlformats.org/drawingml/2006/main">
              <a:ext uri="{FF2B5EF4-FFF2-40B4-BE49-F238E27FC236}">
                <a16:creationId xmlns:a16="http://schemas.microsoft.com/office/drawing/2014/main" id="{6988154E-132B-4E66-8921-DB3D62C69C9C}"/>
              </a:ext>
            </a:extLst>
          </p:cNvPr>
          <p:cNvSpPr>
            <a:spLocks xmlns:a="http://schemas.openxmlformats.org/drawingml/2006/main" noGrp="1"/>
          </p:cNvSpPr>
          <p:nvPr/>
        </p:nvSpPr>
        <p:spPr>
          <a:xfrm xmlns:a="http://schemas.openxmlformats.org/drawingml/2006/main">
            <a:off x="609600" y="1028700"/>
            <a:ext cx="819150" cy="57150"/>
          </a:xfrm>
          <a:prstGeom xmlns:a="http://schemas.openxmlformats.org/drawingml/2006/main" prst="rect">
            <a:avLst/>
          </a:prstGeom>
          <a:solidFill xmlns:a="http://schemas.openxmlformats.org/drawingml/2006/main">
            <a:srgbClr val="14B8A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8F74810-70FA-4A2D-8C24-E6305BF49BC9}"/>
              </a:ext>
            </a:extLst>
          </p:cNvPr>
          <p:cNvSpPr>
            <a:spLocks xmlns:a="http://schemas.openxmlformats.org/drawingml/2006/main" noGrp="1"/>
          </p:cNvSpPr>
          <p:nvPr/>
        </p:nvSpPr>
        <p:spPr>
          <a:xfrm xmlns:a="http://schemas.openxmlformats.org/drawingml/2006/main">
            <a:off x="11144250" y="45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26777"/>
                </a:solidFill>
                <a:latin typeface="DejaVu Sans"/>
                <a:ea typeface="DejaVu Sans"/>
                <a:cs typeface="DejaVu Sans"/>
              </a:defRPr>
            </a:pPr>
            <a:r>
              <a:rPr sz="1200" b="1" i="0">
                <a:solidFill>
                  <a:srgbClr val="526777"/>
                </a:solidFill>
                <a:latin typeface="DejaVu Sans"/>
                <a:ea typeface="DejaVu Sans"/>
                <a:cs typeface="DejaVu Sans"/>
              </a:rPr>
              <a:t>05</a:t>
            </a:r>
          </a:p>
        </p:txBody>
      </p:sp>
      <p:sp>
        <p:nvSpPr>
          <p:cNvPr id="4" name="">
            <a:extLst xmlns:a="http://schemas.openxmlformats.org/drawingml/2006/main">
              <a:ext uri="{FF2B5EF4-FFF2-40B4-BE49-F238E27FC236}">
                <a16:creationId xmlns:a16="http://schemas.microsoft.com/office/drawing/2014/main" id="{482CE31C-1C71-4063-A62E-1F2F59AA86E5}"/>
              </a:ext>
            </a:extLst>
          </p:cNvPr>
          <p:cNvSpPr>
            <a:spLocks xmlns:a="http://schemas.openxmlformats.org/drawingml/2006/main" noGrp="1"/>
          </p:cNvSpPr>
          <p:nvPr/>
        </p:nvSpPr>
        <p:spPr>
          <a:xfrm xmlns:a="http://schemas.openxmlformats.org/drawingml/2006/main">
            <a:off x="609600" y="1714500"/>
            <a:ext cx="4286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02A43"/>
                </a:solidFill>
                <a:latin typeface="DejaVu Sans"/>
                <a:ea typeface="DejaVu Sans"/>
                <a:cs typeface="DejaVu Sans"/>
              </a:defRPr>
            </a:pPr>
            <a:r>
              <a:rPr sz="2025" b="1" i="0">
                <a:solidFill>
                  <a:srgbClr val="102A43"/>
                </a:solidFill>
                <a:latin typeface="DejaVu Sans"/>
                <a:ea typeface="DejaVu Sans"/>
                <a:cs typeface="DejaVu Sans"/>
              </a:rPr>
              <a:t>Color thresholds</a:t>
            </a:r>
          </a:p>
          <a:p xmlns:a="http://schemas.openxmlformats.org/drawingml/2006/main">
            <a:pPr>
              <a:defRPr sz="2025" b="1" i="0">
                <a:solidFill>
                  <a:srgbClr val="102A43"/>
                </a:solidFill>
                <a:latin typeface="DejaVu Sans"/>
                <a:ea typeface="DejaVu Sans"/>
                <a:cs typeface="DejaVu Sans"/>
              </a:defRPr>
            </a:pPr>
            <a:r>
              <a:rPr sz="2025" b="1" i="0">
                <a:solidFill>
                  <a:srgbClr val="102A43"/>
                </a:solidFill>
                <a:latin typeface="DejaVu Sans"/>
                <a:ea typeface="DejaVu Sans"/>
                <a:cs typeface="DejaVu Sans"/>
              </a:rPr>
              <a:t>A simple starting point</a:t>
            </a:r>
          </a:p>
        </p:txBody>
      </p:sp>
      <p:sp>
        <p:nvSpPr>
          <p:cNvPr id="5" name="">
            <a:extLst xmlns:a="http://schemas.openxmlformats.org/drawingml/2006/main">
              <a:ext uri="{FF2B5EF4-FFF2-40B4-BE49-F238E27FC236}">
                <a16:creationId xmlns:a16="http://schemas.microsoft.com/office/drawing/2014/main" id="{5B6F3684-085E-41C0-8214-788D65D21964}"/>
              </a:ext>
            </a:extLst>
          </p:cNvPr>
          <p:cNvSpPr>
            <a:spLocks xmlns:a="http://schemas.openxmlformats.org/drawingml/2006/main" noGrp="1"/>
          </p:cNvSpPr>
          <p:nvPr/>
        </p:nvSpPr>
        <p:spPr>
          <a:xfrm xmlns:a="http://schemas.openxmlformats.org/drawingml/2006/main">
            <a:off x="5810250" y="1714500"/>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They isolate colored regions, but color alone does not establish that an object is a cube.</a:t>
            </a:r>
          </a:p>
        </p:txBody>
      </p:sp>
      <p:sp>
        <p:nvSpPr>
          <p:cNvPr id="6" name="">
            <a:extLst xmlns:a="http://schemas.openxmlformats.org/drawingml/2006/main">
              <a:ext uri="{FF2B5EF4-FFF2-40B4-BE49-F238E27FC236}">
                <a16:creationId xmlns:a16="http://schemas.microsoft.com/office/drawing/2014/main" id="{854DE970-A568-4AA1-B719-A721C4948BC6}"/>
              </a:ext>
            </a:extLst>
          </p:cNvPr>
          <p:cNvSpPr>
            <a:spLocks xmlns:a="http://schemas.openxmlformats.org/drawingml/2006/main" noGrp="1"/>
          </p:cNvSpPr>
          <p:nvPr/>
        </p:nvSpPr>
        <p:spPr>
          <a:xfrm xmlns:a="http://schemas.openxmlformats.org/drawingml/2006/main">
            <a:off x="609600" y="2971800"/>
            <a:ext cx="10839450" cy="19050"/>
          </a:xfrm>
          <a:prstGeom xmlns:a="http://schemas.openxmlformats.org/drawingml/2006/main" prst="rect">
            <a:avLst/>
          </a:prstGeom>
          <a:solidFill xmlns:a="http://schemas.openxmlformats.org/drawingml/2006/main">
            <a:srgbClr val="D8E0E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9419148-FE04-41EA-AE38-AB3433A65DC5}"/>
              </a:ext>
            </a:extLst>
          </p:cNvPr>
          <p:cNvSpPr>
            <a:spLocks xmlns:a="http://schemas.openxmlformats.org/drawingml/2006/main" noGrp="1"/>
          </p:cNvSpPr>
          <p:nvPr/>
        </p:nvSpPr>
        <p:spPr>
          <a:xfrm xmlns:a="http://schemas.openxmlformats.org/drawingml/2006/main">
            <a:off x="609600" y="3143250"/>
            <a:ext cx="4286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287"/>
          </a:bodyPr>
          <a:lstStyle xmlns:a="http://schemas.openxmlformats.org/drawingml/2006/main"/>
          <a:p xmlns:a="http://schemas.openxmlformats.org/drawingml/2006/main">
            <a:pPr>
              <a:defRPr sz="2025" b="1" i="0">
                <a:solidFill>
                  <a:srgbClr val="102A43"/>
                </a:solidFill>
                <a:latin typeface="DejaVu Sans"/>
                <a:ea typeface="DejaVu Sans"/>
                <a:cs typeface="DejaVu Sans"/>
              </a:defRPr>
            </a:pPr>
            <a:r>
              <a:rPr sz="2025" b="1" i="0">
                <a:solidFill>
                  <a:srgbClr val="102A43"/>
                </a:solidFill>
                <a:latin typeface="DejaVu Sans"/>
                <a:ea typeface="DejaVu Sans"/>
                <a:cs typeface="DejaVu Sans"/>
              </a:rPr>
              <a:t>Pretrained YOLO + fine-tuning</a:t>
            </a:r>
          </a:p>
          <a:p xmlns:a="http://schemas.openxmlformats.org/drawingml/2006/main">
            <a:pPr>
              <a:defRPr sz="2025" b="1" i="0">
                <a:solidFill>
                  <a:srgbClr val="102A43"/>
                </a:solidFill>
                <a:latin typeface="DejaVu Sans"/>
                <a:ea typeface="DejaVu Sans"/>
                <a:cs typeface="DejaVu Sans"/>
              </a:defRPr>
            </a:pPr>
            <a:r>
              <a:rPr sz="2025" b="1" i="0">
                <a:solidFill>
                  <a:srgbClr val="102A43"/>
                </a:solidFill>
                <a:latin typeface="DejaVu Sans"/>
                <a:ea typeface="DejaVu Sans"/>
                <a:cs typeface="DejaVu Sans"/>
              </a:rPr>
              <a:t>Our main detector</a:t>
            </a:r>
          </a:p>
        </p:txBody>
      </p:sp>
      <p:sp>
        <p:nvSpPr>
          <p:cNvPr id="8" name="">
            <a:extLst xmlns:a="http://schemas.openxmlformats.org/drawingml/2006/main">
              <a:ext uri="{FF2B5EF4-FFF2-40B4-BE49-F238E27FC236}">
                <a16:creationId xmlns:a16="http://schemas.microsoft.com/office/drawing/2014/main" id="{A1BC94EF-1126-43B2-8A6D-0EB43F298BE5}"/>
              </a:ext>
            </a:extLst>
          </p:cNvPr>
          <p:cNvSpPr>
            <a:spLocks xmlns:a="http://schemas.openxmlformats.org/drawingml/2006/main" noGrp="1"/>
          </p:cNvSpPr>
          <p:nvPr/>
        </p:nvSpPr>
        <p:spPr>
          <a:xfrm xmlns:a="http://schemas.openxmlformats.org/drawingml/2006/main">
            <a:off x="5810250" y="3143250"/>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Learn cube examples from our camera while reusing visual features and the existing Jetson runtime.</a:t>
            </a:r>
          </a:p>
        </p:txBody>
      </p:sp>
      <p:sp>
        <p:nvSpPr>
          <p:cNvPr id="9" name="">
            <a:extLst xmlns:a="http://schemas.openxmlformats.org/drawingml/2006/main">
              <a:ext uri="{FF2B5EF4-FFF2-40B4-BE49-F238E27FC236}">
                <a16:creationId xmlns:a16="http://schemas.microsoft.com/office/drawing/2014/main" id="{2C53C7A1-29B4-4ED8-B232-F1673707A163}"/>
              </a:ext>
            </a:extLst>
          </p:cNvPr>
          <p:cNvSpPr>
            <a:spLocks xmlns:a="http://schemas.openxmlformats.org/drawingml/2006/main" noGrp="1"/>
          </p:cNvSpPr>
          <p:nvPr/>
        </p:nvSpPr>
        <p:spPr>
          <a:xfrm xmlns:a="http://schemas.openxmlformats.org/drawingml/2006/main">
            <a:off x="609600" y="4400550"/>
            <a:ext cx="10839450" cy="19050"/>
          </a:xfrm>
          <a:prstGeom xmlns:a="http://schemas.openxmlformats.org/drawingml/2006/main" prst="rect">
            <a:avLst/>
          </a:prstGeom>
          <a:solidFill xmlns:a="http://schemas.openxmlformats.org/drawingml/2006/main">
            <a:srgbClr val="D8E0E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3A63612-7FAB-4B2F-8EA7-5B053235AC64}"/>
              </a:ext>
            </a:extLst>
          </p:cNvPr>
          <p:cNvSpPr>
            <a:spLocks xmlns:a="http://schemas.openxmlformats.org/drawingml/2006/main" noGrp="1"/>
          </p:cNvSpPr>
          <p:nvPr/>
        </p:nvSpPr>
        <p:spPr>
          <a:xfrm xmlns:a="http://schemas.openxmlformats.org/drawingml/2006/main">
            <a:off x="609600" y="4572000"/>
            <a:ext cx="4286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02A43"/>
                </a:solidFill>
                <a:latin typeface="DejaVu Sans"/>
                <a:ea typeface="DejaVu Sans"/>
                <a:cs typeface="DejaVu Sans"/>
              </a:defRPr>
            </a:pPr>
            <a:r>
              <a:rPr sz="2025" b="1" i="0">
                <a:solidFill>
                  <a:srgbClr val="102A43"/>
                </a:solidFill>
                <a:latin typeface="DejaVu Sans"/>
                <a:ea typeface="DejaVu Sans"/>
                <a:cs typeface="DejaVu Sans"/>
              </a:rPr>
              <a:t>Depth / geometry check</a:t>
            </a:r>
          </a:p>
          <a:p xmlns:a="http://schemas.openxmlformats.org/drawingml/2006/main">
            <a:pPr>
              <a:defRPr sz="2025" b="1" i="0">
                <a:solidFill>
                  <a:srgbClr val="102A43"/>
                </a:solidFill>
                <a:latin typeface="DejaVu Sans"/>
                <a:ea typeface="DejaVu Sans"/>
                <a:cs typeface="DejaVu Sans"/>
              </a:defRPr>
            </a:pPr>
            <a:r>
              <a:rPr sz="2025" b="1" i="0">
                <a:solidFill>
                  <a:srgbClr val="102A43"/>
                </a:solidFill>
                <a:latin typeface="DejaVu Sans"/>
                <a:ea typeface="DejaVu Sans"/>
                <a:cs typeface="DejaVu Sans"/>
              </a:rPr>
              <a:t>A supporting stage</a:t>
            </a:r>
          </a:p>
        </p:txBody>
      </p:sp>
      <p:sp>
        <p:nvSpPr>
          <p:cNvPr id="11" name="">
            <a:extLst xmlns:a="http://schemas.openxmlformats.org/drawingml/2006/main">
              <a:ext uri="{FF2B5EF4-FFF2-40B4-BE49-F238E27FC236}">
                <a16:creationId xmlns:a16="http://schemas.microsoft.com/office/drawing/2014/main" id="{BC950E11-6E05-4D8B-86CA-341D19FE5F2E}"/>
              </a:ext>
            </a:extLst>
          </p:cNvPr>
          <p:cNvSpPr>
            <a:spLocks xmlns:a="http://schemas.openxmlformats.org/drawingml/2006/main" noGrp="1"/>
          </p:cNvSpPr>
          <p:nvPr/>
        </p:nvSpPr>
        <p:spPr>
          <a:xfrm xmlns:a="http://schemas.openxmlformats.org/drawingml/2006/main">
            <a:off x="5810250" y="4572000"/>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Add a physical-shape check after detection to reject unsuitable candidates.</a:t>
            </a:r>
          </a:p>
        </p:txBody>
      </p:sp>
      <p:sp>
        <p:nvSpPr>
          <p:cNvPr id="12" name="">
            <a:extLst xmlns:a="http://schemas.openxmlformats.org/drawingml/2006/main">
              <a:ext uri="{FF2B5EF4-FFF2-40B4-BE49-F238E27FC236}">
                <a16:creationId xmlns:a16="http://schemas.microsoft.com/office/drawing/2014/main" id="{A8157AFE-9B97-49E7-936A-81EF215BA706}"/>
              </a:ext>
            </a:extLst>
          </p:cNvPr>
          <p:cNvSpPr>
            <a:spLocks xmlns:a="http://schemas.openxmlformats.org/drawingml/2006/main" noGrp="1"/>
          </p:cNvSpPr>
          <p:nvPr/>
        </p:nvSpPr>
        <p:spPr>
          <a:xfrm xmlns:a="http://schemas.openxmlformats.org/drawingml/2006/main">
            <a:off x="609600" y="61722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defRPr sz="1500" b="0" i="0">
                <a:solidFill>
                  <a:srgbClr val="526777"/>
                </a:solidFill>
                <a:latin typeface="DejaVu Sans"/>
                <a:ea typeface="DejaVu Sans"/>
                <a:cs typeface="DejaVu Sans"/>
              </a:defRPr>
            </a:pPr>
            <a:r>
              <a:rPr sz="1500" b="0" i="0">
                <a:solidFill>
                  <a:srgbClr val="526777"/>
                </a:solidFill>
                <a:latin typeface="DejaVu Sans"/>
                <a:ea typeface="DejaVu Sans"/>
                <a:cs typeface="DejaVu Sans"/>
              </a:rPr>
              <a:t>Design rationale, not a benchmark ranking of competing detectors.</a:t>
            </a:r>
          </a:p>
        </p:txBody>
      </p:sp>
    </p:spTree>
    <p:extLst>
      <p:ext uri="{BB962C8B-B14F-4D97-AF65-F5344CB8AC3E}">
        <p14:creationId xmlns:p14="http://schemas.microsoft.com/office/powerpoint/2010/main" val="383197371"/>
      </p:ext>
    </p:extLst>
  </p:cSld>
</p:sld>
</file>

<file path=ppt/slides/slide6.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FBE6710-7596-4B19-AAA3-BEA307C363B0}"/>
              </a:ext>
            </a:extLst>
          </p:cNvPr>
          <p:cNvSpPr>
            <a:spLocks xmlns:a="http://schemas.openxmlformats.org/drawingml/2006/main" noGrp="1"/>
          </p:cNvSpPr>
          <p:nvPr/>
        </p:nvSpPr>
        <p:spPr>
          <a:xfrm xmlns:a="http://schemas.openxmlformats.org/drawingml/2006/main">
            <a:off x="609600" y="400050"/>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i="0">
                <a:solidFill>
                  <a:srgbClr val="142735"/>
                </a:solidFill>
                <a:latin typeface="DejaVu Sans"/>
                <a:ea typeface="DejaVu Sans"/>
                <a:cs typeface="DejaVu Sans"/>
              </a:defRPr>
            </a:pPr>
            <a:r>
              <a:rPr sz="2550" b="1" i="0">
                <a:solidFill>
                  <a:srgbClr val="142735"/>
                </a:solidFill>
                <a:latin typeface="DejaVu Sans"/>
                <a:ea typeface="DejaVu Sans"/>
                <a:cs typeface="DejaVu Sans"/>
              </a:rPr>
              <a:t>My contribution and the components I reused</a:t>
            </a:r>
          </a:p>
        </p:txBody>
      </p:sp>
      <p:sp>
        <p:nvSpPr>
          <p:cNvPr id="2" name="">
            <a:extLst xmlns:a="http://schemas.openxmlformats.org/drawingml/2006/main">
              <a:ext uri="{FF2B5EF4-FFF2-40B4-BE49-F238E27FC236}">
                <a16:creationId xmlns:a16="http://schemas.microsoft.com/office/drawing/2014/main" id="{48B61739-34B5-43AC-9710-BECA800F75B1}"/>
              </a:ext>
            </a:extLst>
          </p:cNvPr>
          <p:cNvSpPr>
            <a:spLocks xmlns:a="http://schemas.openxmlformats.org/drawingml/2006/main" noGrp="1"/>
          </p:cNvSpPr>
          <p:nvPr/>
        </p:nvSpPr>
        <p:spPr>
          <a:xfrm xmlns:a="http://schemas.openxmlformats.org/drawingml/2006/main">
            <a:off x="609600" y="1028700"/>
            <a:ext cx="819150" cy="57150"/>
          </a:xfrm>
          <a:prstGeom xmlns:a="http://schemas.openxmlformats.org/drawingml/2006/main" prst="rect">
            <a:avLst/>
          </a:prstGeom>
          <a:solidFill xmlns:a="http://schemas.openxmlformats.org/drawingml/2006/main">
            <a:srgbClr val="14B8A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8E3AB2C-5D6C-4E11-98D4-E07097C83D47}"/>
              </a:ext>
            </a:extLst>
          </p:cNvPr>
          <p:cNvSpPr>
            <a:spLocks xmlns:a="http://schemas.openxmlformats.org/drawingml/2006/main" noGrp="1"/>
          </p:cNvSpPr>
          <p:nvPr/>
        </p:nvSpPr>
        <p:spPr>
          <a:xfrm xmlns:a="http://schemas.openxmlformats.org/drawingml/2006/main">
            <a:off x="11144250" y="45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26777"/>
                </a:solidFill>
                <a:latin typeface="DejaVu Sans"/>
                <a:ea typeface="DejaVu Sans"/>
                <a:cs typeface="DejaVu Sans"/>
              </a:defRPr>
            </a:pPr>
            <a:r>
              <a:rPr sz="1200" b="1" i="0">
                <a:solidFill>
                  <a:srgbClr val="526777"/>
                </a:solidFill>
                <a:latin typeface="DejaVu Sans"/>
                <a:ea typeface="DejaVu Sans"/>
                <a:cs typeface="DejaVu Sans"/>
              </a:rPr>
              <a:t>06</a:t>
            </a:r>
          </a:p>
        </p:txBody>
      </p:sp>
      <p:sp>
        <p:nvSpPr>
          <p:cNvPr id="4" name="">
            <a:extLst xmlns:a="http://schemas.openxmlformats.org/drawingml/2006/main">
              <a:ext uri="{FF2B5EF4-FFF2-40B4-BE49-F238E27FC236}">
                <a16:creationId xmlns:a16="http://schemas.microsoft.com/office/drawing/2014/main" id="{57EC5F51-CCFB-491D-A5C0-6E72B961A2D3}"/>
              </a:ext>
            </a:extLst>
          </p:cNvPr>
          <p:cNvSpPr>
            <a:spLocks xmlns:a="http://schemas.openxmlformats.org/drawingml/2006/main" noGrp="1"/>
          </p:cNvSpPr>
          <p:nvPr/>
        </p:nvSpPr>
        <p:spPr>
          <a:xfrm xmlns:a="http://schemas.openxmlformats.org/drawingml/2006/main">
            <a:off x="609600" y="1809750"/>
            <a:ext cx="3381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00" b="1" i="0">
                <a:solidFill>
                  <a:srgbClr val="14B8A6"/>
                </a:solidFill>
                <a:latin typeface="DejaVu Sans"/>
                <a:ea typeface="DejaVu Sans"/>
                <a:cs typeface="DejaVu Sans"/>
              </a:defRPr>
            </a:pPr>
            <a:r>
              <a:rPr sz="2100" b="1" i="0">
                <a:solidFill>
                  <a:srgbClr val="14B8A6"/>
                </a:solidFill>
                <a:latin typeface="DejaVu Sans"/>
                <a:ea typeface="DejaVu Sans"/>
                <a:cs typeface="DejaVu Sans"/>
              </a:rPr>
              <a:t>My engineering work</a:t>
            </a:r>
          </a:p>
        </p:txBody>
      </p:sp>
      <p:sp>
        <p:nvSpPr>
          <p:cNvPr id="5" name="">
            <a:extLst xmlns:a="http://schemas.openxmlformats.org/drawingml/2006/main">
              <a:ext uri="{FF2B5EF4-FFF2-40B4-BE49-F238E27FC236}">
                <a16:creationId xmlns:a16="http://schemas.microsoft.com/office/drawing/2014/main" id="{421BAFE4-1D00-439F-9D7B-2710FC40DD60}"/>
              </a:ext>
            </a:extLst>
          </p:cNvPr>
          <p:cNvSpPr>
            <a:spLocks xmlns:a="http://schemas.openxmlformats.org/drawingml/2006/main" noGrp="1"/>
          </p:cNvSpPr>
          <p:nvPr/>
        </p:nvSpPr>
        <p:spPr>
          <a:xfrm xmlns:a="http://schemas.openxmlformats.org/drawingml/2006/main">
            <a:off x="609600" y="2800350"/>
            <a:ext cx="3381375"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Arrange and capture scenes</a:t>
            </a:r>
          </a:p>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Review cube boxes and colors</a:t>
            </a:r>
          </a:p>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Run training and deployment</a:t>
            </a:r>
          </a:p>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Interpret validation and live tests</a:t>
            </a:r>
          </a:p>
        </p:txBody>
      </p:sp>
      <p:sp>
        <p:nvSpPr>
          <p:cNvPr id="6" name="">
            <a:extLst xmlns:a="http://schemas.openxmlformats.org/drawingml/2006/main">
              <a:ext uri="{FF2B5EF4-FFF2-40B4-BE49-F238E27FC236}">
                <a16:creationId xmlns:a16="http://schemas.microsoft.com/office/drawing/2014/main" id="{70679245-3B80-4AA8-8EB1-EB27C9353044}"/>
              </a:ext>
            </a:extLst>
          </p:cNvPr>
          <p:cNvSpPr>
            <a:spLocks xmlns:a="http://schemas.openxmlformats.org/drawingml/2006/main" noGrp="1"/>
          </p:cNvSpPr>
          <p:nvPr/>
        </p:nvSpPr>
        <p:spPr>
          <a:xfrm xmlns:a="http://schemas.openxmlformats.org/drawingml/2006/main">
            <a:off x="4381500" y="1809750"/>
            <a:ext cx="3381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00" b="1" i="0">
                <a:solidFill>
                  <a:srgbClr val="14B8A6"/>
                </a:solidFill>
                <a:latin typeface="DejaVu Sans"/>
                <a:ea typeface="DejaVu Sans"/>
                <a:cs typeface="DejaVu Sans"/>
              </a:defRPr>
            </a:pPr>
            <a:r>
              <a:rPr sz="2100" b="1" i="0">
                <a:solidFill>
                  <a:srgbClr val="14B8A6"/>
                </a:solidFill>
                <a:latin typeface="DejaVu Sans"/>
                <a:ea typeface="DejaVu Sans"/>
                <a:cs typeface="DejaVu Sans"/>
              </a:rPr>
              <a:t>Existing components</a:t>
            </a:r>
          </a:p>
        </p:txBody>
      </p:sp>
      <p:sp>
        <p:nvSpPr>
          <p:cNvPr id="7" name="">
            <a:extLst xmlns:a="http://schemas.openxmlformats.org/drawingml/2006/main">
              <a:ext uri="{FF2B5EF4-FFF2-40B4-BE49-F238E27FC236}">
                <a16:creationId xmlns:a16="http://schemas.microsoft.com/office/drawing/2014/main" id="{92CFA7AF-0698-466D-90DE-EAD4A5227294}"/>
              </a:ext>
            </a:extLst>
          </p:cNvPr>
          <p:cNvSpPr>
            <a:spLocks xmlns:a="http://schemas.openxmlformats.org/drawingml/2006/main" noGrp="1"/>
          </p:cNvSpPr>
          <p:nvPr/>
        </p:nvSpPr>
        <p:spPr>
          <a:xfrm xmlns:a="http://schemas.openxmlformats.org/drawingml/2006/main">
            <a:off x="4381500" y="2800350"/>
            <a:ext cx="3381375"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Vendor camera infrastructure</a:t>
            </a:r>
          </a:p>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Pretrained YOLO model</a:t>
            </a:r>
          </a:p>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PyTorch training library</a:t>
            </a:r>
          </a:p>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TensorRT and ROS 2</a:t>
            </a:r>
          </a:p>
        </p:txBody>
      </p:sp>
      <p:sp>
        <p:nvSpPr>
          <p:cNvPr id="8" name="">
            <a:extLst xmlns:a="http://schemas.openxmlformats.org/drawingml/2006/main">
              <a:ext uri="{FF2B5EF4-FFF2-40B4-BE49-F238E27FC236}">
                <a16:creationId xmlns:a16="http://schemas.microsoft.com/office/drawing/2014/main" id="{1A36E6DE-A163-4EE2-91E9-93F921EB981D}"/>
              </a:ext>
            </a:extLst>
          </p:cNvPr>
          <p:cNvSpPr>
            <a:spLocks xmlns:a="http://schemas.openxmlformats.org/drawingml/2006/main" noGrp="1"/>
          </p:cNvSpPr>
          <p:nvPr/>
        </p:nvSpPr>
        <p:spPr>
          <a:xfrm xmlns:a="http://schemas.openxmlformats.org/drawingml/2006/main">
            <a:off x="8153400" y="1809750"/>
            <a:ext cx="3381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00" b="1" i="0">
                <a:solidFill>
                  <a:srgbClr val="14B8A6"/>
                </a:solidFill>
                <a:latin typeface="DejaVu Sans"/>
                <a:ea typeface="DejaVu Sans"/>
                <a:cs typeface="DejaVu Sans"/>
              </a:defRPr>
            </a:pPr>
            <a:r>
              <a:rPr sz="2100" b="1" i="0">
                <a:solidFill>
                  <a:srgbClr val="14B8A6"/>
                </a:solidFill>
                <a:latin typeface="DejaVu Sans"/>
                <a:ea typeface="DejaVu Sans"/>
                <a:cs typeface="DejaVu Sans"/>
              </a:rPr>
              <a:t>Codex assistance</a:t>
            </a:r>
          </a:p>
        </p:txBody>
      </p:sp>
      <p:sp>
        <p:nvSpPr>
          <p:cNvPr id="9" name="">
            <a:extLst xmlns:a="http://schemas.openxmlformats.org/drawingml/2006/main">
              <a:ext uri="{FF2B5EF4-FFF2-40B4-BE49-F238E27FC236}">
                <a16:creationId xmlns:a16="http://schemas.microsoft.com/office/drawing/2014/main" id="{92B46BB0-EA30-47B4-B751-C859399CD9A7}"/>
              </a:ext>
            </a:extLst>
          </p:cNvPr>
          <p:cNvSpPr>
            <a:spLocks xmlns:a="http://schemas.openxmlformats.org/drawingml/2006/main" noGrp="1"/>
          </p:cNvSpPr>
          <p:nvPr/>
        </p:nvSpPr>
        <p:spPr>
          <a:xfrm xmlns:a="http://schemas.openxmlformats.org/drawingml/2006/main">
            <a:off x="8153400" y="2800350"/>
            <a:ext cx="3381375"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Prepare and adapt code</a:t>
            </a:r>
          </a:p>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Guide the technical steps</a:t>
            </a:r>
          </a:p>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Help check outputs</a:t>
            </a:r>
          </a:p>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Prepare documentation</a:t>
            </a:r>
          </a:p>
        </p:txBody>
      </p:sp>
      <p:sp>
        <p:nvSpPr>
          <p:cNvPr id="10" name="">
            <a:extLst xmlns:a="http://schemas.openxmlformats.org/drawingml/2006/main">
              <a:ext uri="{FF2B5EF4-FFF2-40B4-BE49-F238E27FC236}">
                <a16:creationId xmlns:a16="http://schemas.microsoft.com/office/drawing/2014/main" id="{074CE597-74B7-4AC5-870D-5361F03450CB}"/>
              </a:ext>
            </a:extLst>
          </p:cNvPr>
          <p:cNvSpPr>
            <a:spLocks xmlns:a="http://schemas.openxmlformats.org/drawingml/2006/main" noGrp="1"/>
          </p:cNvSpPr>
          <p:nvPr/>
        </p:nvSpPr>
        <p:spPr>
          <a:xfrm xmlns:a="http://schemas.openxmlformats.org/drawingml/2006/main">
            <a:off x="609600" y="5610225"/>
            <a:ext cx="10858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42735"/>
                </a:solidFill>
                <a:latin typeface="DejaVu Sans"/>
                <a:ea typeface="DejaVu Sans"/>
                <a:cs typeface="DejaVu Sans"/>
              </a:defRPr>
            </a:pPr>
            <a:r>
              <a:rPr sz="2025" b="1" i="0">
                <a:solidFill>
                  <a:srgbClr val="142735"/>
                </a:solidFill>
                <a:latin typeface="DejaVu Sans"/>
                <a:ea typeface="DejaVu Sans"/>
                <a:cs typeface="DejaVu Sans"/>
              </a:rPr>
              <a:t>The project work is connecting these parts, making justified choices, and checking what actually works.</a:t>
            </a:r>
          </a:p>
        </p:txBody>
      </p:sp>
    </p:spTree>
    <p:extLst>
      <p:ext uri="{BB962C8B-B14F-4D97-AF65-F5344CB8AC3E}">
        <p14:creationId xmlns:p14="http://schemas.microsoft.com/office/powerpoint/2010/main" val="1555860016"/>
      </p:ext>
    </p:extLst>
  </p:cSld>
</p:sld>
</file>

<file path=ppt/slides/slide7.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2101D6F-1399-4AEA-9D37-C198561D4B29}"/>
              </a:ext>
            </a:extLst>
          </p:cNvPr>
          <p:cNvSpPr>
            <a:spLocks xmlns:a="http://schemas.openxmlformats.org/drawingml/2006/main" noGrp="1"/>
          </p:cNvSpPr>
          <p:nvPr/>
        </p:nvSpPr>
        <p:spPr>
          <a:xfrm xmlns:a="http://schemas.openxmlformats.org/drawingml/2006/main">
            <a:off x="609600" y="400050"/>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i="0">
                <a:solidFill>
                  <a:srgbClr val="142735"/>
                </a:solidFill>
                <a:latin typeface="DejaVu Sans"/>
                <a:ea typeface="DejaVu Sans"/>
                <a:cs typeface="DejaVu Sans"/>
              </a:defRPr>
            </a:pPr>
            <a:r>
              <a:rPr sz="2550" b="1" i="0">
                <a:solidFill>
                  <a:srgbClr val="142735"/>
                </a:solidFill>
                <a:latin typeface="DejaVu Sans"/>
                <a:ea typeface="DejaVu Sans"/>
                <a:cs typeface="DejaVu Sans"/>
              </a:rPr>
              <a:t>Data quality: useful examples and honest checks</a:t>
            </a:r>
          </a:p>
        </p:txBody>
      </p:sp>
      <p:sp>
        <p:nvSpPr>
          <p:cNvPr id="2" name="">
            <a:extLst xmlns:a="http://schemas.openxmlformats.org/drawingml/2006/main">
              <a:ext uri="{FF2B5EF4-FFF2-40B4-BE49-F238E27FC236}">
                <a16:creationId xmlns:a16="http://schemas.microsoft.com/office/drawing/2014/main" id="{0BDE8806-6339-4C57-97D5-5D3EDB97DBF4}"/>
              </a:ext>
            </a:extLst>
          </p:cNvPr>
          <p:cNvSpPr>
            <a:spLocks xmlns:a="http://schemas.openxmlformats.org/drawingml/2006/main" noGrp="1"/>
          </p:cNvSpPr>
          <p:nvPr/>
        </p:nvSpPr>
        <p:spPr>
          <a:xfrm xmlns:a="http://schemas.openxmlformats.org/drawingml/2006/main">
            <a:off x="609600" y="1028700"/>
            <a:ext cx="819150" cy="57150"/>
          </a:xfrm>
          <a:prstGeom xmlns:a="http://schemas.openxmlformats.org/drawingml/2006/main" prst="rect">
            <a:avLst/>
          </a:prstGeom>
          <a:solidFill xmlns:a="http://schemas.openxmlformats.org/drawingml/2006/main">
            <a:srgbClr val="14B8A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9E213A1-2533-426C-8004-11C6962070A0}"/>
              </a:ext>
            </a:extLst>
          </p:cNvPr>
          <p:cNvSpPr>
            <a:spLocks xmlns:a="http://schemas.openxmlformats.org/drawingml/2006/main" noGrp="1"/>
          </p:cNvSpPr>
          <p:nvPr/>
        </p:nvSpPr>
        <p:spPr>
          <a:xfrm xmlns:a="http://schemas.openxmlformats.org/drawingml/2006/main">
            <a:off x="11144250" y="45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26777"/>
                </a:solidFill>
                <a:latin typeface="DejaVu Sans"/>
                <a:ea typeface="DejaVu Sans"/>
                <a:cs typeface="DejaVu Sans"/>
              </a:defRPr>
            </a:pPr>
            <a:r>
              <a:rPr sz="1200" b="1" i="0">
                <a:solidFill>
                  <a:srgbClr val="526777"/>
                </a:solidFill>
                <a:latin typeface="DejaVu Sans"/>
                <a:ea typeface="DejaVu Sans"/>
                <a:cs typeface="DejaVu Sans"/>
              </a:rPr>
              <a:t>07</a:t>
            </a:r>
          </a:p>
        </p:txBody>
      </p:sp>
      <p:sp>
        <p:nvSpPr>
          <p:cNvPr id="4" name="">
            <a:extLst xmlns:a="http://schemas.openxmlformats.org/drawingml/2006/main">
              <a:ext uri="{FF2B5EF4-FFF2-40B4-BE49-F238E27FC236}">
                <a16:creationId xmlns:a16="http://schemas.microsoft.com/office/drawing/2014/main" id="{A5A30B95-D7A7-4087-8576-8C7E71A58ADE}"/>
              </a:ext>
            </a:extLst>
          </p:cNvPr>
          <p:cNvSpPr>
            <a:spLocks xmlns:a="http://schemas.openxmlformats.org/drawingml/2006/main" noGrp="1"/>
          </p:cNvSpPr>
          <p:nvPr/>
        </p:nvSpPr>
        <p:spPr>
          <a:xfrm xmlns:a="http://schemas.openxmlformats.org/drawingml/2006/main">
            <a:off x="609600" y="1666875"/>
            <a:ext cx="4286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02A43"/>
                </a:solidFill>
                <a:latin typeface="DejaVu Sans"/>
                <a:ea typeface="DejaVu Sans"/>
                <a:cs typeface="DejaVu Sans"/>
              </a:defRPr>
            </a:pPr>
            <a:r>
              <a:rPr sz="2025" b="1" i="0">
                <a:solidFill>
                  <a:srgbClr val="102A43"/>
                </a:solidFill>
                <a:latin typeface="DejaVu Sans"/>
                <a:ea typeface="DejaVu Sans"/>
                <a:cs typeface="DejaVu Sans"/>
              </a:rPr>
              <a:t>Vary the scene</a:t>
            </a:r>
          </a:p>
        </p:txBody>
      </p:sp>
      <p:sp>
        <p:nvSpPr>
          <p:cNvPr id="5" name="">
            <a:extLst xmlns:a="http://schemas.openxmlformats.org/drawingml/2006/main">
              <a:ext uri="{FF2B5EF4-FFF2-40B4-BE49-F238E27FC236}">
                <a16:creationId xmlns:a16="http://schemas.microsoft.com/office/drawing/2014/main" id="{B426CE9E-BFA4-4599-984F-667B283D122B}"/>
              </a:ext>
            </a:extLst>
          </p:cNvPr>
          <p:cNvSpPr>
            <a:spLocks xmlns:a="http://schemas.openxmlformats.org/drawingml/2006/main" noGrp="1"/>
          </p:cNvSpPr>
          <p:nvPr/>
        </p:nvSpPr>
        <p:spPr>
          <a:xfrm xmlns:a="http://schemas.openxmlformats.org/drawingml/2006/main">
            <a:off x="5810250" y="1666875"/>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Change cube position, distance and arrangement. Include ordinary objects and empty scenes.</a:t>
            </a:r>
          </a:p>
        </p:txBody>
      </p:sp>
      <p:sp>
        <p:nvSpPr>
          <p:cNvPr id="6" name="">
            <a:extLst xmlns:a="http://schemas.openxmlformats.org/drawingml/2006/main">
              <a:ext uri="{FF2B5EF4-FFF2-40B4-BE49-F238E27FC236}">
                <a16:creationId xmlns:a16="http://schemas.microsoft.com/office/drawing/2014/main" id="{D75F1202-1B1F-484C-8492-9DFAE36F4A23}"/>
              </a:ext>
            </a:extLst>
          </p:cNvPr>
          <p:cNvSpPr>
            <a:spLocks xmlns:a="http://schemas.openxmlformats.org/drawingml/2006/main" noGrp="1"/>
          </p:cNvSpPr>
          <p:nvPr/>
        </p:nvSpPr>
        <p:spPr>
          <a:xfrm xmlns:a="http://schemas.openxmlformats.org/drawingml/2006/main">
            <a:off x="609600" y="2876550"/>
            <a:ext cx="10839450" cy="19050"/>
          </a:xfrm>
          <a:prstGeom xmlns:a="http://schemas.openxmlformats.org/drawingml/2006/main" prst="rect">
            <a:avLst/>
          </a:prstGeom>
          <a:solidFill xmlns:a="http://schemas.openxmlformats.org/drawingml/2006/main">
            <a:srgbClr val="D8E0E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18F5446-8FDF-4FA5-9241-E9F8FE4E3E1A}"/>
              </a:ext>
            </a:extLst>
          </p:cNvPr>
          <p:cNvSpPr>
            <a:spLocks xmlns:a="http://schemas.openxmlformats.org/drawingml/2006/main" noGrp="1"/>
          </p:cNvSpPr>
          <p:nvPr/>
        </p:nvSpPr>
        <p:spPr>
          <a:xfrm xmlns:a="http://schemas.openxmlformats.org/drawingml/2006/main">
            <a:off x="609600" y="3048000"/>
            <a:ext cx="4286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02A43"/>
                </a:solidFill>
                <a:latin typeface="DejaVu Sans"/>
                <a:ea typeface="DejaVu Sans"/>
                <a:cs typeface="DejaVu Sans"/>
              </a:defRPr>
            </a:pPr>
            <a:r>
              <a:rPr sz="2025" b="1" i="0">
                <a:solidFill>
                  <a:srgbClr val="102A43"/>
                </a:solidFill>
                <a:latin typeface="DejaVu Sans"/>
                <a:ea typeface="DejaVu Sans"/>
                <a:cs typeface="DejaVu Sans"/>
              </a:rPr>
              <a:t>Review the expected answers</a:t>
            </a:r>
          </a:p>
        </p:txBody>
      </p:sp>
      <p:sp>
        <p:nvSpPr>
          <p:cNvPr id="8" name="">
            <a:extLst xmlns:a="http://schemas.openxmlformats.org/drawingml/2006/main">
              <a:ext uri="{FF2B5EF4-FFF2-40B4-BE49-F238E27FC236}">
                <a16:creationId xmlns:a16="http://schemas.microsoft.com/office/drawing/2014/main" id="{1849B2AB-BF29-4EE4-A98E-DA4D45BE69FF}"/>
              </a:ext>
            </a:extLst>
          </p:cNvPr>
          <p:cNvSpPr>
            <a:spLocks xmlns:a="http://schemas.openxmlformats.org/drawingml/2006/main" noGrp="1"/>
          </p:cNvSpPr>
          <p:nvPr/>
        </p:nvSpPr>
        <p:spPr>
          <a:xfrm xmlns:a="http://schemas.openxmlformats.org/drawingml/2006/main">
            <a:off x="5810250" y="3048000"/>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A human-approved color and box define each cube. Check the labels before exporting them.</a:t>
            </a:r>
          </a:p>
        </p:txBody>
      </p:sp>
      <p:sp>
        <p:nvSpPr>
          <p:cNvPr id="9" name="">
            <a:extLst xmlns:a="http://schemas.openxmlformats.org/drawingml/2006/main">
              <a:ext uri="{FF2B5EF4-FFF2-40B4-BE49-F238E27FC236}">
                <a16:creationId xmlns:a16="http://schemas.microsoft.com/office/drawing/2014/main" id="{2F478C5A-0048-49FA-B7C2-7F2E6E84C8DF}"/>
              </a:ext>
            </a:extLst>
          </p:cNvPr>
          <p:cNvSpPr>
            <a:spLocks xmlns:a="http://schemas.openxmlformats.org/drawingml/2006/main" noGrp="1"/>
          </p:cNvSpPr>
          <p:nvPr/>
        </p:nvSpPr>
        <p:spPr>
          <a:xfrm xmlns:a="http://schemas.openxmlformats.org/drawingml/2006/main">
            <a:off x="609600" y="4257675"/>
            <a:ext cx="10839450" cy="19050"/>
          </a:xfrm>
          <a:prstGeom xmlns:a="http://schemas.openxmlformats.org/drawingml/2006/main" prst="rect">
            <a:avLst/>
          </a:prstGeom>
          <a:solidFill xmlns:a="http://schemas.openxmlformats.org/drawingml/2006/main">
            <a:srgbClr val="D8E0E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2805574-9B47-43CD-ADBB-059508C204C1}"/>
              </a:ext>
            </a:extLst>
          </p:cNvPr>
          <p:cNvSpPr>
            <a:spLocks xmlns:a="http://schemas.openxmlformats.org/drawingml/2006/main" noGrp="1"/>
          </p:cNvSpPr>
          <p:nvPr/>
        </p:nvSpPr>
        <p:spPr>
          <a:xfrm xmlns:a="http://schemas.openxmlformats.org/drawingml/2006/main">
            <a:off x="609600" y="4429125"/>
            <a:ext cx="4286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02A43"/>
                </a:solidFill>
                <a:latin typeface="DejaVu Sans"/>
                <a:ea typeface="DejaVu Sans"/>
                <a:cs typeface="DejaVu Sans"/>
              </a:defRPr>
            </a:pPr>
            <a:r>
              <a:rPr sz="2025" b="1" i="0">
                <a:solidFill>
                  <a:srgbClr val="102A43"/>
                </a:solidFill>
                <a:latin typeface="DejaVu Sans"/>
                <a:ea typeface="DejaVu Sans"/>
                <a:cs typeface="DejaVu Sans"/>
              </a:rPr>
              <a:t>Separate whole arrangements</a:t>
            </a:r>
          </a:p>
        </p:txBody>
      </p:sp>
      <p:sp>
        <p:nvSpPr>
          <p:cNvPr id="11" name="">
            <a:extLst xmlns:a="http://schemas.openxmlformats.org/drawingml/2006/main">
              <a:ext uri="{FF2B5EF4-FFF2-40B4-BE49-F238E27FC236}">
                <a16:creationId xmlns:a16="http://schemas.microsoft.com/office/drawing/2014/main" id="{18879ADA-9C7B-41E9-85EB-C49A40061850}"/>
              </a:ext>
            </a:extLst>
          </p:cNvPr>
          <p:cNvSpPr>
            <a:spLocks xmlns:a="http://schemas.openxmlformats.org/drawingml/2006/main" noGrp="1"/>
          </p:cNvSpPr>
          <p:nvPr/>
        </p:nvSpPr>
        <p:spPr>
          <a:xfrm xmlns:a="http://schemas.openxmlformats.org/drawingml/2006/main">
            <a:off x="5810250" y="4429125"/>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Do not split almost identical neighboring frames between learning and validation.</a:t>
            </a:r>
          </a:p>
        </p:txBody>
      </p:sp>
      <p:sp>
        <p:nvSpPr>
          <p:cNvPr id="12" name="">
            <a:extLst xmlns:a="http://schemas.openxmlformats.org/drawingml/2006/main">
              <a:ext uri="{FF2B5EF4-FFF2-40B4-BE49-F238E27FC236}">
                <a16:creationId xmlns:a16="http://schemas.microsoft.com/office/drawing/2014/main" id="{28151647-F257-4C28-9D4D-3AF02954D179}"/>
              </a:ext>
            </a:extLst>
          </p:cNvPr>
          <p:cNvSpPr>
            <a:spLocks xmlns:a="http://schemas.openxmlformats.org/drawingml/2006/main" noGrp="1"/>
          </p:cNvSpPr>
          <p:nvPr/>
        </p:nvSpPr>
        <p:spPr>
          <a:xfrm xmlns:a="http://schemas.openxmlformats.org/drawingml/2006/main">
            <a:off x="609600" y="60007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031"/>
          </a:bodyPr>
          <a:lstStyle xmlns:a="http://schemas.openxmlformats.org/drawingml/2006/main"/>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Research decision: validation uses new arrangements. One room and limited lighting still restrict coverage.</a:t>
            </a:r>
          </a:p>
        </p:txBody>
      </p:sp>
    </p:spTree>
    <p:extLst>
      <p:ext uri="{BB962C8B-B14F-4D97-AF65-F5344CB8AC3E}">
        <p14:creationId xmlns:p14="http://schemas.microsoft.com/office/powerpoint/2010/main" val="1569186863"/>
      </p:ext>
    </p:extLst>
  </p:cSld>
</p:sld>
</file>

<file path=ppt/slides/slide8.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1A15A54-1C49-480E-958E-72A5D4030143}"/>
              </a:ext>
            </a:extLst>
          </p:cNvPr>
          <p:cNvSpPr>
            <a:spLocks xmlns:a="http://schemas.openxmlformats.org/drawingml/2006/main" noGrp="1"/>
          </p:cNvSpPr>
          <p:nvPr/>
        </p:nvSpPr>
        <p:spPr>
          <a:xfrm xmlns:a="http://schemas.openxmlformats.org/drawingml/2006/main">
            <a:off x="609600" y="400050"/>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i="0">
                <a:solidFill>
                  <a:srgbClr val="142735"/>
                </a:solidFill>
                <a:latin typeface="DejaVu Sans"/>
                <a:ea typeface="DejaVu Sans"/>
                <a:cs typeface="DejaVu Sans"/>
              </a:defRPr>
            </a:pPr>
            <a:r>
              <a:rPr sz="2550" b="1" i="0">
                <a:solidFill>
                  <a:srgbClr val="142735"/>
                </a:solidFill>
                <a:latin typeface="DejaVu Sans"/>
                <a:ea typeface="DejaVu Sans"/>
                <a:cs typeface="DejaVu Sans"/>
              </a:rPr>
              <a:t>Training workflow: learning from examples</a:t>
            </a:r>
          </a:p>
        </p:txBody>
      </p:sp>
      <p:sp>
        <p:nvSpPr>
          <p:cNvPr id="2" name="">
            <a:extLst xmlns:a="http://schemas.openxmlformats.org/drawingml/2006/main">
              <a:ext uri="{FF2B5EF4-FFF2-40B4-BE49-F238E27FC236}">
                <a16:creationId xmlns:a16="http://schemas.microsoft.com/office/drawing/2014/main" id="{E5379283-DA6C-4697-9D4F-3B43B49ED609}"/>
              </a:ext>
            </a:extLst>
          </p:cNvPr>
          <p:cNvSpPr>
            <a:spLocks xmlns:a="http://schemas.openxmlformats.org/drawingml/2006/main" noGrp="1"/>
          </p:cNvSpPr>
          <p:nvPr/>
        </p:nvSpPr>
        <p:spPr>
          <a:xfrm xmlns:a="http://schemas.openxmlformats.org/drawingml/2006/main">
            <a:off x="609600" y="1028700"/>
            <a:ext cx="819150" cy="57150"/>
          </a:xfrm>
          <a:prstGeom xmlns:a="http://schemas.openxmlformats.org/drawingml/2006/main" prst="rect">
            <a:avLst/>
          </a:prstGeom>
          <a:solidFill xmlns:a="http://schemas.openxmlformats.org/drawingml/2006/main">
            <a:srgbClr val="14B8A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EDFED31-6E50-4993-B654-99D08CB22F9F}"/>
              </a:ext>
            </a:extLst>
          </p:cNvPr>
          <p:cNvSpPr>
            <a:spLocks xmlns:a="http://schemas.openxmlformats.org/drawingml/2006/main" noGrp="1"/>
          </p:cNvSpPr>
          <p:nvPr/>
        </p:nvSpPr>
        <p:spPr>
          <a:xfrm xmlns:a="http://schemas.openxmlformats.org/drawingml/2006/main">
            <a:off x="11144250" y="45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26777"/>
                </a:solidFill>
                <a:latin typeface="DejaVu Sans"/>
                <a:ea typeface="DejaVu Sans"/>
                <a:cs typeface="DejaVu Sans"/>
              </a:defRPr>
            </a:pPr>
            <a:r>
              <a:rPr sz="1200" b="1" i="0">
                <a:solidFill>
                  <a:srgbClr val="526777"/>
                </a:solidFill>
                <a:latin typeface="DejaVu Sans"/>
                <a:ea typeface="DejaVu Sans"/>
                <a:cs typeface="DejaVu Sans"/>
              </a:rPr>
              <a:t>08</a:t>
            </a:r>
          </a:p>
        </p:txBody>
      </p:sp>
      <p:sp>
        <p:nvSpPr>
          <p:cNvPr id="4" name="">
            <a:extLst xmlns:a="http://schemas.openxmlformats.org/drawingml/2006/main">
              <a:ext uri="{FF2B5EF4-FFF2-40B4-BE49-F238E27FC236}">
                <a16:creationId xmlns:a16="http://schemas.microsoft.com/office/drawing/2014/main" id="{8B80DFC4-D3D0-42BE-B81A-AD3E34837941}"/>
              </a:ext>
            </a:extLst>
          </p:cNvPr>
          <p:cNvSpPr>
            <a:spLocks xmlns:a="http://schemas.openxmlformats.org/drawingml/2006/main" noGrp="1"/>
          </p:cNvSpPr>
          <p:nvPr/>
        </p:nvSpPr>
        <p:spPr>
          <a:xfrm xmlns:a="http://schemas.openxmlformats.org/drawingml/2006/main">
            <a:off x="609600" y="1943100"/>
            <a:ext cx="2238375" cy="163830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19050">
            <a:solidFill>
              <a:srgbClr val="14B8A6"/>
            </a:solidFill>
            <a:prstDash val="solid"/>
          </a:ln>
        </p:spPr>
      </p:sp>
      <p:sp>
        <p:nvSpPr>
          <p:cNvPr id="5" name="">
            <a:extLst xmlns:a="http://schemas.openxmlformats.org/drawingml/2006/main">
              <a:ext uri="{FF2B5EF4-FFF2-40B4-BE49-F238E27FC236}">
                <a16:creationId xmlns:a16="http://schemas.microsoft.com/office/drawing/2014/main" id="{BA044D1D-4177-47F3-BE24-FECA005A013E}"/>
              </a:ext>
            </a:extLst>
          </p:cNvPr>
          <p:cNvSpPr>
            <a:spLocks xmlns:a="http://schemas.openxmlformats.org/drawingml/2006/main" noGrp="1"/>
          </p:cNvSpPr>
          <p:nvPr/>
        </p:nvSpPr>
        <p:spPr>
          <a:xfrm xmlns:a="http://schemas.openxmlformats.org/drawingml/2006/main">
            <a:off x="752475" y="2133600"/>
            <a:ext cx="1952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950" b="1" i="0">
                <a:solidFill>
                  <a:srgbClr val="142735"/>
                </a:solidFill>
                <a:latin typeface="DejaVu Sans"/>
                <a:ea typeface="DejaVu Sans"/>
                <a:cs typeface="DejaVu Sans"/>
              </a:defRPr>
            </a:pPr>
            <a:r>
              <a:rPr sz="1950" b="1" i="0">
                <a:solidFill>
                  <a:srgbClr val="142735"/>
                </a:solidFill>
                <a:latin typeface="DejaVu Sans"/>
                <a:ea typeface="DejaVu Sans"/>
                <a:cs typeface="DejaVu Sans"/>
              </a:rPr>
              <a:t>Capture</a:t>
            </a:r>
          </a:p>
        </p:txBody>
      </p:sp>
      <p:sp>
        <p:nvSpPr>
          <p:cNvPr id="6" name="">
            <a:extLst xmlns:a="http://schemas.openxmlformats.org/drawingml/2006/main">
              <a:ext uri="{FF2B5EF4-FFF2-40B4-BE49-F238E27FC236}">
                <a16:creationId xmlns:a16="http://schemas.microsoft.com/office/drawing/2014/main" id="{CE5AAA9B-FADA-4724-8726-9C899B97CC6A}"/>
              </a:ext>
            </a:extLst>
          </p:cNvPr>
          <p:cNvSpPr>
            <a:spLocks xmlns:a="http://schemas.openxmlformats.org/drawingml/2006/main" noGrp="1"/>
          </p:cNvSpPr>
          <p:nvPr/>
        </p:nvSpPr>
        <p:spPr>
          <a:xfrm xmlns:a="http://schemas.openxmlformats.org/drawingml/2006/main">
            <a:off x="752475" y="2828925"/>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Different scenes</a:t>
            </a:r>
          </a:p>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and backgrounds</a:t>
            </a:r>
          </a:p>
        </p:txBody>
      </p:sp>
      <p:sp>
        <p:nvSpPr>
          <p:cNvPr id="7" name="">
            <a:extLst xmlns:a="http://schemas.openxmlformats.org/drawingml/2006/main">
              <a:ext uri="{FF2B5EF4-FFF2-40B4-BE49-F238E27FC236}">
                <a16:creationId xmlns:a16="http://schemas.microsoft.com/office/drawing/2014/main" id="{3722365F-9EA2-4DC3-AF14-1DFA3F21E4E7}"/>
              </a:ext>
            </a:extLst>
          </p:cNvPr>
          <p:cNvSpPr>
            <a:spLocks xmlns:a="http://schemas.openxmlformats.org/drawingml/2006/main" noGrp="1"/>
          </p:cNvSpPr>
          <p:nvPr/>
        </p:nvSpPr>
        <p:spPr>
          <a:xfrm xmlns:a="http://schemas.openxmlformats.org/drawingml/2006/main">
            <a:off x="3514725" y="1943100"/>
            <a:ext cx="2238375" cy="163830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19050">
            <a:solidFill>
              <a:srgbClr val="14B8A6"/>
            </a:solidFill>
            <a:prstDash val="solid"/>
          </a:ln>
        </p:spPr>
      </p:sp>
      <p:sp>
        <p:nvSpPr>
          <p:cNvPr id="8" name="">
            <a:extLst xmlns:a="http://schemas.openxmlformats.org/drawingml/2006/main">
              <a:ext uri="{FF2B5EF4-FFF2-40B4-BE49-F238E27FC236}">
                <a16:creationId xmlns:a16="http://schemas.microsoft.com/office/drawing/2014/main" id="{6C68FF5C-6A44-4348-8612-E85C7F08CBAD}"/>
              </a:ext>
            </a:extLst>
          </p:cNvPr>
          <p:cNvSpPr>
            <a:spLocks xmlns:a="http://schemas.openxmlformats.org/drawingml/2006/main" noGrp="1"/>
          </p:cNvSpPr>
          <p:nvPr/>
        </p:nvSpPr>
        <p:spPr>
          <a:xfrm xmlns:a="http://schemas.openxmlformats.org/drawingml/2006/main">
            <a:off x="3657600" y="2133600"/>
            <a:ext cx="1952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56"/>
          </a:bodyPr>
          <a:lstStyle xmlns:a="http://schemas.openxmlformats.org/drawingml/2006/main"/>
          <a:p xmlns:a="http://schemas.openxmlformats.org/drawingml/2006/main">
            <a:pPr>
              <a:defRPr sz="1950" b="1" i="0">
                <a:solidFill>
                  <a:srgbClr val="142735"/>
                </a:solidFill>
                <a:latin typeface="DejaVu Sans"/>
                <a:ea typeface="DejaVu Sans"/>
                <a:cs typeface="DejaVu Sans"/>
              </a:defRPr>
            </a:pPr>
            <a:r>
              <a:rPr sz="1950" b="1" i="0">
                <a:solidFill>
                  <a:srgbClr val="142735"/>
                </a:solidFill>
                <a:latin typeface="DejaVu Sans"/>
                <a:ea typeface="DejaVu Sans"/>
                <a:cs typeface="DejaVu Sans"/>
              </a:rPr>
              <a:t>Label &amp; review</a:t>
            </a:r>
          </a:p>
        </p:txBody>
      </p:sp>
      <p:sp>
        <p:nvSpPr>
          <p:cNvPr id="9" name="">
            <a:extLst xmlns:a="http://schemas.openxmlformats.org/drawingml/2006/main">
              <a:ext uri="{FF2B5EF4-FFF2-40B4-BE49-F238E27FC236}">
                <a16:creationId xmlns:a16="http://schemas.microsoft.com/office/drawing/2014/main" id="{5D38F563-8236-4C72-9F80-CE21CA65745C}"/>
              </a:ext>
            </a:extLst>
          </p:cNvPr>
          <p:cNvSpPr>
            <a:spLocks xmlns:a="http://schemas.openxmlformats.org/drawingml/2006/main" noGrp="1"/>
          </p:cNvSpPr>
          <p:nvPr/>
        </p:nvSpPr>
        <p:spPr>
          <a:xfrm xmlns:a="http://schemas.openxmlformats.org/drawingml/2006/main">
            <a:off x="3657600" y="2828925"/>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Approve cube</a:t>
            </a:r>
          </a:p>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colors and boxes</a:t>
            </a:r>
          </a:p>
        </p:txBody>
      </p:sp>
      <p:sp>
        <p:nvSpPr>
          <p:cNvPr id="10" name="">
            <a:extLst xmlns:a="http://schemas.openxmlformats.org/drawingml/2006/main">
              <a:ext uri="{FF2B5EF4-FFF2-40B4-BE49-F238E27FC236}">
                <a16:creationId xmlns:a16="http://schemas.microsoft.com/office/drawing/2014/main" id="{9B65351A-1661-4DB7-B44A-BD9B9EE20205}"/>
              </a:ext>
            </a:extLst>
          </p:cNvPr>
          <p:cNvSpPr>
            <a:spLocks xmlns:a="http://schemas.openxmlformats.org/drawingml/2006/main" noGrp="1"/>
          </p:cNvSpPr>
          <p:nvPr/>
        </p:nvSpPr>
        <p:spPr>
          <a:xfrm xmlns:a="http://schemas.openxmlformats.org/drawingml/2006/main">
            <a:off x="6419850" y="1943100"/>
            <a:ext cx="2238375" cy="163830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19050">
            <a:solidFill>
              <a:srgbClr val="14B8A6"/>
            </a:solidFill>
            <a:prstDash val="solid"/>
          </a:ln>
        </p:spPr>
      </p:sp>
      <p:sp>
        <p:nvSpPr>
          <p:cNvPr id="11" name="">
            <a:extLst xmlns:a="http://schemas.openxmlformats.org/drawingml/2006/main">
              <a:ext uri="{FF2B5EF4-FFF2-40B4-BE49-F238E27FC236}">
                <a16:creationId xmlns:a16="http://schemas.microsoft.com/office/drawing/2014/main" id="{362F332F-2CCF-455E-ADF3-73B90294472B}"/>
              </a:ext>
            </a:extLst>
          </p:cNvPr>
          <p:cNvSpPr>
            <a:spLocks xmlns:a="http://schemas.openxmlformats.org/drawingml/2006/main" noGrp="1"/>
          </p:cNvSpPr>
          <p:nvPr/>
        </p:nvSpPr>
        <p:spPr>
          <a:xfrm xmlns:a="http://schemas.openxmlformats.org/drawingml/2006/main">
            <a:off x="6562725" y="2133600"/>
            <a:ext cx="1952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325"/>
          </a:bodyPr>
          <a:lstStyle xmlns:a="http://schemas.openxmlformats.org/drawingml/2006/main"/>
          <a:p xmlns:a="http://schemas.openxmlformats.org/drawingml/2006/main">
            <a:pPr>
              <a:defRPr sz="1950" b="1" i="0">
                <a:solidFill>
                  <a:srgbClr val="142735"/>
                </a:solidFill>
                <a:latin typeface="DejaVu Sans"/>
                <a:ea typeface="DejaVu Sans"/>
                <a:cs typeface="DejaVu Sans"/>
              </a:defRPr>
            </a:pPr>
            <a:r>
              <a:rPr sz="1950" b="1" i="0">
                <a:solidFill>
                  <a:srgbClr val="142735"/>
                </a:solidFill>
                <a:latin typeface="DejaVu Sans"/>
                <a:ea typeface="DejaVu Sans"/>
                <a:cs typeface="DejaVu Sans"/>
              </a:rPr>
              <a:t>Split by scene</a:t>
            </a:r>
          </a:p>
        </p:txBody>
      </p:sp>
      <p:sp>
        <p:nvSpPr>
          <p:cNvPr id="12" name="">
            <a:extLst xmlns:a="http://schemas.openxmlformats.org/drawingml/2006/main">
              <a:ext uri="{FF2B5EF4-FFF2-40B4-BE49-F238E27FC236}">
                <a16:creationId xmlns:a16="http://schemas.microsoft.com/office/drawing/2014/main" id="{2439E30D-7D60-420E-90B6-B7AB5ED1C6E1}"/>
              </a:ext>
            </a:extLst>
          </p:cNvPr>
          <p:cNvSpPr>
            <a:spLocks xmlns:a="http://schemas.openxmlformats.org/drawingml/2006/main" noGrp="1"/>
          </p:cNvSpPr>
          <p:nvPr/>
        </p:nvSpPr>
        <p:spPr>
          <a:xfrm xmlns:a="http://schemas.openxmlformats.org/drawingml/2006/main">
            <a:off x="6562725" y="2828925"/>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Training scenes /</a:t>
            </a:r>
          </a:p>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validation scenes</a:t>
            </a:r>
          </a:p>
        </p:txBody>
      </p:sp>
      <p:sp>
        <p:nvSpPr>
          <p:cNvPr id="13" name="">
            <a:extLst xmlns:a="http://schemas.openxmlformats.org/drawingml/2006/main">
              <a:ext uri="{FF2B5EF4-FFF2-40B4-BE49-F238E27FC236}">
                <a16:creationId xmlns:a16="http://schemas.microsoft.com/office/drawing/2014/main" id="{0BB3E152-6EA9-4CCE-8F4D-7D24F9E12528}"/>
              </a:ext>
            </a:extLst>
          </p:cNvPr>
          <p:cNvSpPr>
            <a:spLocks xmlns:a="http://schemas.openxmlformats.org/drawingml/2006/main" noGrp="1"/>
          </p:cNvSpPr>
          <p:nvPr/>
        </p:nvSpPr>
        <p:spPr>
          <a:xfrm xmlns:a="http://schemas.openxmlformats.org/drawingml/2006/main">
            <a:off x="9324975" y="1943100"/>
            <a:ext cx="2238375" cy="163830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19050">
            <a:solidFill>
              <a:srgbClr val="14B8A6"/>
            </a:solidFill>
            <a:prstDash val="solid"/>
          </a:ln>
        </p:spPr>
      </p:sp>
      <p:sp>
        <p:nvSpPr>
          <p:cNvPr id="14" name="">
            <a:extLst xmlns:a="http://schemas.openxmlformats.org/drawingml/2006/main">
              <a:ext uri="{FF2B5EF4-FFF2-40B4-BE49-F238E27FC236}">
                <a16:creationId xmlns:a16="http://schemas.microsoft.com/office/drawing/2014/main" id="{86DA8ECF-0375-4C42-B721-A86AD78EB85B}"/>
              </a:ext>
            </a:extLst>
          </p:cNvPr>
          <p:cNvSpPr>
            <a:spLocks xmlns:a="http://schemas.openxmlformats.org/drawingml/2006/main" noGrp="1"/>
          </p:cNvSpPr>
          <p:nvPr/>
        </p:nvSpPr>
        <p:spPr>
          <a:xfrm xmlns:a="http://schemas.openxmlformats.org/drawingml/2006/main">
            <a:off x="9467850" y="2133600"/>
            <a:ext cx="1952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950" b="1" i="0">
                <a:solidFill>
                  <a:srgbClr val="142735"/>
                </a:solidFill>
                <a:latin typeface="DejaVu Sans"/>
                <a:ea typeface="DejaVu Sans"/>
                <a:cs typeface="DejaVu Sans"/>
              </a:defRPr>
            </a:pPr>
            <a:r>
              <a:rPr sz="1950" b="1" i="0">
                <a:solidFill>
                  <a:srgbClr val="142735"/>
                </a:solidFill>
                <a:latin typeface="DejaVu Sans"/>
                <a:ea typeface="DejaVu Sans"/>
                <a:cs typeface="DejaVu Sans"/>
              </a:rPr>
              <a:t>Fine-tune</a:t>
            </a:r>
          </a:p>
        </p:txBody>
      </p:sp>
      <p:sp>
        <p:nvSpPr>
          <p:cNvPr id="15" name="">
            <a:extLst xmlns:a="http://schemas.openxmlformats.org/drawingml/2006/main">
              <a:ext uri="{FF2B5EF4-FFF2-40B4-BE49-F238E27FC236}">
                <a16:creationId xmlns:a16="http://schemas.microsoft.com/office/drawing/2014/main" id="{B32156B4-D4FC-44E8-9794-EADE626337BD}"/>
              </a:ext>
            </a:extLst>
          </p:cNvPr>
          <p:cNvSpPr>
            <a:spLocks xmlns:a="http://schemas.openxmlformats.org/drawingml/2006/main" noGrp="1"/>
          </p:cNvSpPr>
          <p:nvPr/>
        </p:nvSpPr>
        <p:spPr>
          <a:xfrm xmlns:a="http://schemas.openxmlformats.org/drawingml/2006/main">
            <a:off x="9467850" y="2828925"/>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Learn from the</a:t>
            </a:r>
          </a:p>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training split</a:t>
            </a:r>
          </a:p>
        </p:txBody>
      </p:sp>
      <p:cxnSp>
        <p:nvCxnSpPr>
          <p:cNvPr id="37" name=""/>
          <p:cNvCxnSpPr>
            <a:stCxn xmlns:a="http://schemas.openxmlformats.org/drawingml/2006/main" id="4" idx="3"/>
            <a:endCxn xmlns:a="http://schemas.openxmlformats.org/drawingml/2006/main" id="7" idx="1"/>
          </p:cNvCxnSpPr>
          <p:nvPr/>
        </p:nvCxnSpPr>
        <p:spPr>
          <a:xfrm xmlns:a="http://schemas.openxmlformats.org/drawingml/2006/main">
            <a:off x="2847975" y="2762250"/>
            <a:ext cx="666750" cy="0"/>
          </a:xfrm>
          <a:prstGeom xmlns:a="http://schemas.openxmlformats.org/drawingml/2006/main" prst="straightConnector1">
            <a:avLst/>
          </a:prstGeom>
          <a:ln xmlns:a="http://schemas.openxmlformats.org/drawingml/2006/main" w="28575">
            <a:solidFill>
              <a:srgbClr val="14B8A6"/>
            </a:solidFill>
            <a:prstDash val="solid"/>
            <a:tailEnd type="triangle" w="med" len="med"/>
          </a:ln>
        </p:spPr>
      </p:cxnSp>
      <p:cxnSp>
        <p:nvCxnSpPr>
          <p:cNvPr id="38" name=""/>
          <p:cNvCxnSpPr>
            <a:stCxn xmlns:a="http://schemas.openxmlformats.org/drawingml/2006/main" id="7" idx="3"/>
            <a:endCxn xmlns:a="http://schemas.openxmlformats.org/drawingml/2006/main" id="10" idx="1"/>
          </p:cNvCxnSpPr>
          <p:nvPr/>
        </p:nvCxnSpPr>
        <p:spPr>
          <a:xfrm xmlns:a="http://schemas.openxmlformats.org/drawingml/2006/main">
            <a:off x="5753100" y="2762250"/>
            <a:ext cx="666750" cy="0"/>
          </a:xfrm>
          <a:prstGeom xmlns:a="http://schemas.openxmlformats.org/drawingml/2006/main" prst="straightConnector1">
            <a:avLst/>
          </a:prstGeom>
          <a:ln xmlns:a="http://schemas.openxmlformats.org/drawingml/2006/main" w="28575">
            <a:solidFill>
              <a:srgbClr val="14B8A6"/>
            </a:solidFill>
            <a:prstDash val="solid"/>
            <a:tailEnd type="triangle" w="med" len="med"/>
          </a:ln>
        </p:spPr>
      </p:cxnSp>
      <p:cxnSp>
        <p:nvCxnSpPr>
          <p:cNvPr id="39" name=""/>
          <p:cNvCxnSpPr>
            <a:stCxn xmlns:a="http://schemas.openxmlformats.org/drawingml/2006/main" id="10" idx="3"/>
            <a:endCxn xmlns:a="http://schemas.openxmlformats.org/drawingml/2006/main" id="13" idx="1"/>
          </p:cNvCxnSpPr>
          <p:nvPr/>
        </p:nvCxnSpPr>
        <p:spPr>
          <a:xfrm xmlns:a="http://schemas.openxmlformats.org/drawingml/2006/main">
            <a:off x="8658225" y="2762250"/>
            <a:ext cx="666750" cy="0"/>
          </a:xfrm>
          <a:prstGeom xmlns:a="http://schemas.openxmlformats.org/drawingml/2006/main" prst="straightConnector1">
            <a:avLst/>
          </a:prstGeom>
          <a:ln xmlns:a="http://schemas.openxmlformats.org/drawingml/2006/main" w="28575">
            <a:solidFill>
              <a:srgbClr val="14B8A6"/>
            </a:solidFill>
            <a:prstDash val="solid"/>
            <a:tailEnd type="triangle" w="med" len="med"/>
          </a:ln>
        </p:spPr>
      </p:cxnSp>
      <p:sp>
        <p:nvSpPr>
          <p:cNvPr id="19" name="">
            <a:extLst xmlns:a="http://schemas.openxmlformats.org/drawingml/2006/main">
              <a:ext uri="{FF2B5EF4-FFF2-40B4-BE49-F238E27FC236}">
                <a16:creationId xmlns:a16="http://schemas.microsoft.com/office/drawing/2014/main" id="{B148281F-3DDE-44EF-A14C-83185666425E}"/>
              </a:ext>
            </a:extLst>
          </p:cNvPr>
          <p:cNvSpPr>
            <a:spLocks xmlns:a="http://schemas.openxmlformats.org/drawingml/2006/main" noGrp="1"/>
          </p:cNvSpPr>
          <p:nvPr/>
        </p:nvSpPr>
        <p:spPr>
          <a:xfrm xmlns:a="http://schemas.openxmlformats.org/drawingml/2006/main">
            <a:off x="609600" y="405765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725" b="1" i="0">
                <a:solidFill>
                  <a:srgbClr val="14B8A6"/>
                </a:solidFill>
                <a:latin typeface="DejaVu Sans"/>
                <a:ea typeface="DejaVu Sans"/>
                <a:cs typeface="DejaVu Sans"/>
              </a:defRPr>
            </a:pPr>
            <a:r>
              <a:rPr sz="1725" b="1" i="0">
                <a:solidFill>
                  <a:srgbClr val="14B8A6"/>
                </a:solidFill>
                <a:latin typeface="DejaVu Sans"/>
                <a:ea typeface="DejaVu Sans"/>
                <a:cs typeface="DejaVu Sans"/>
              </a:rPr>
              <a:t>Inside fine-tuning</a:t>
            </a:r>
          </a:p>
        </p:txBody>
      </p:sp>
      <p:sp>
        <p:nvSpPr>
          <p:cNvPr id="20" name="">
            <a:extLst xmlns:a="http://schemas.openxmlformats.org/drawingml/2006/main">
              <a:ext uri="{FF2B5EF4-FFF2-40B4-BE49-F238E27FC236}">
                <a16:creationId xmlns:a16="http://schemas.microsoft.com/office/drawing/2014/main" id="{4C2085AD-B849-40F2-B791-6FB7658E387F}"/>
              </a:ext>
            </a:extLst>
          </p:cNvPr>
          <p:cNvSpPr>
            <a:spLocks xmlns:a="http://schemas.openxmlformats.org/drawingml/2006/main" noGrp="1"/>
          </p:cNvSpPr>
          <p:nvPr/>
        </p:nvSpPr>
        <p:spPr>
          <a:xfrm xmlns:a="http://schemas.openxmlformats.org/drawingml/2006/main">
            <a:off x="609600" y="45815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75" b="1" i="0">
                <a:solidFill>
                  <a:srgbClr val="142735"/>
                </a:solidFill>
                <a:latin typeface="DejaVu Sans"/>
                <a:ea typeface="DejaVu Sans"/>
                <a:cs typeface="DejaVu Sans"/>
              </a:defRPr>
            </a:pPr>
            <a:r>
              <a:rPr sz="2175" b="1" i="0">
                <a:solidFill>
                  <a:srgbClr val="142735"/>
                </a:solidFill>
                <a:latin typeface="DejaVu Sans"/>
                <a:ea typeface="DejaVu Sans"/>
                <a:cs typeface="DejaVu Sans"/>
              </a:rPr>
              <a:t>Predict  →  Compare with labels  →  Adjust weights  →  Repeat</a:t>
            </a:r>
          </a:p>
        </p:txBody>
      </p:sp>
      <p:sp>
        <p:nvSpPr>
          <p:cNvPr id="21" name="">
            <a:extLst xmlns:a="http://schemas.openxmlformats.org/drawingml/2006/main">
              <a:ext uri="{FF2B5EF4-FFF2-40B4-BE49-F238E27FC236}">
                <a16:creationId xmlns:a16="http://schemas.microsoft.com/office/drawing/2014/main" id="{ADC2B5F9-B7D2-48B6-9607-FAE6E8D475C8}"/>
              </a:ext>
            </a:extLst>
          </p:cNvPr>
          <p:cNvSpPr>
            <a:spLocks xmlns:a="http://schemas.openxmlformats.org/drawingml/2006/main" noGrp="1"/>
          </p:cNvSpPr>
          <p:nvPr/>
        </p:nvSpPr>
        <p:spPr>
          <a:xfrm xmlns:a="http://schemas.openxmlformats.org/drawingml/2006/main">
            <a:off x="609600" y="5457825"/>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725" b="0" i="0">
                <a:solidFill>
                  <a:srgbClr val="526777"/>
                </a:solidFill>
                <a:latin typeface="DejaVu Sans"/>
                <a:ea typeface="DejaVu Sans"/>
                <a:cs typeface="DejaVu Sans"/>
              </a:defRPr>
            </a:pPr>
            <a:r>
              <a:rPr sz="1725" b="0" i="0">
                <a:solidFill>
                  <a:srgbClr val="526777"/>
                </a:solidFill>
                <a:latin typeface="DejaVu Sans"/>
                <a:ea typeface="DejaVu Sans"/>
                <a:cs typeface="DejaVu Sans"/>
              </a:rPr>
              <a:t>Weights = learned numbers. Pretrained = learned earlier.</a:t>
            </a:r>
          </a:p>
          <a:p xmlns:a="http://schemas.openxmlformats.org/drawingml/2006/main">
            <a:pPr>
              <a:defRPr sz="1725" b="0" i="0">
                <a:solidFill>
                  <a:srgbClr val="526777"/>
                </a:solidFill>
                <a:latin typeface="DejaVu Sans"/>
                <a:ea typeface="DejaVu Sans"/>
                <a:cs typeface="DejaVu Sans"/>
              </a:defRPr>
            </a:pPr>
            <a:r>
              <a:rPr sz="1725" b="0" i="0">
                <a:solidFill>
                  <a:srgbClr val="526777"/>
                </a:solidFill>
                <a:latin typeface="DejaVu Sans"/>
                <a:ea typeface="DejaVu Sans"/>
                <a:cs typeface="DejaVu Sans"/>
              </a:rPr>
              <a:t>Fine-tuning adapts them; a checkpoint saves their current state.</a:t>
            </a:r>
          </a:p>
        </p:txBody>
      </p:sp>
    </p:spTree>
    <p:extLst>
      <p:ext uri="{BB962C8B-B14F-4D97-AF65-F5344CB8AC3E}">
        <p14:creationId xmlns:p14="http://schemas.microsoft.com/office/powerpoint/2010/main" val="1936046051"/>
      </p:ext>
    </p:extLst>
  </p:cSld>
</p:sld>
</file>

<file path=ppt/slides/slide9.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DE7464E-8413-49C8-B5BF-4FA0DCBC6B8B}"/>
              </a:ext>
            </a:extLst>
          </p:cNvPr>
          <p:cNvSpPr>
            <a:spLocks xmlns:a="http://schemas.openxmlformats.org/drawingml/2006/main" noGrp="1"/>
          </p:cNvSpPr>
          <p:nvPr/>
        </p:nvSpPr>
        <p:spPr>
          <a:xfrm xmlns:a="http://schemas.openxmlformats.org/drawingml/2006/main">
            <a:off x="609600" y="400050"/>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i="0">
                <a:solidFill>
                  <a:srgbClr val="142735"/>
                </a:solidFill>
                <a:latin typeface="DejaVu Sans"/>
                <a:ea typeface="DejaVu Sans"/>
                <a:cs typeface="DejaVu Sans"/>
              </a:defRPr>
            </a:pPr>
            <a:r>
              <a:rPr sz="2550" b="1" i="0">
                <a:solidFill>
                  <a:srgbClr val="142735"/>
                </a:solidFill>
                <a:latin typeface="DejaVu Sans"/>
                <a:ea typeface="DejaVu Sans"/>
                <a:cs typeface="DejaVu Sans"/>
              </a:rPr>
              <a:t>Validation workflow: checking new scenes</a:t>
            </a:r>
          </a:p>
        </p:txBody>
      </p:sp>
      <p:sp>
        <p:nvSpPr>
          <p:cNvPr id="2" name="">
            <a:extLst xmlns:a="http://schemas.openxmlformats.org/drawingml/2006/main">
              <a:ext uri="{FF2B5EF4-FFF2-40B4-BE49-F238E27FC236}">
                <a16:creationId xmlns:a16="http://schemas.microsoft.com/office/drawing/2014/main" id="{78DD0505-5816-4694-B9B2-E148C2747E32}"/>
              </a:ext>
            </a:extLst>
          </p:cNvPr>
          <p:cNvSpPr>
            <a:spLocks xmlns:a="http://schemas.openxmlformats.org/drawingml/2006/main" noGrp="1"/>
          </p:cNvSpPr>
          <p:nvPr/>
        </p:nvSpPr>
        <p:spPr>
          <a:xfrm xmlns:a="http://schemas.openxmlformats.org/drawingml/2006/main">
            <a:off x="609600" y="1028700"/>
            <a:ext cx="819150" cy="57150"/>
          </a:xfrm>
          <a:prstGeom xmlns:a="http://schemas.openxmlformats.org/drawingml/2006/main" prst="rect">
            <a:avLst/>
          </a:prstGeom>
          <a:solidFill xmlns:a="http://schemas.openxmlformats.org/drawingml/2006/main">
            <a:srgbClr val="14B8A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D8B9718-AADA-43F1-A6BF-7625A3596910}"/>
              </a:ext>
            </a:extLst>
          </p:cNvPr>
          <p:cNvSpPr>
            <a:spLocks xmlns:a="http://schemas.openxmlformats.org/drawingml/2006/main" noGrp="1"/>
          </p:cNvSpPr>
          <p:nvPr/>
        </p:nvSpPr>
        <p:spPr>
          <a:xfrm xmlns:a="http://schemas.openxmlformats.org/drawingml/2006/main">
            <a:off x="11144250" y="45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26777"/>
                </a:solidFill>
                <a:latin typeface="DejaVu Sans"/>
                <a:ea typeface="DejaVu Sans"/>
                <a:cs typeface="DejaVu Sans"/>
              </a:defRPr>
            </a:pPr>
            <a:r>
              <a:rPr sz="1200" b="1" i="0">
                <a:solidFill>
                  <a:srgbClr val="526777"/>
                </a:solidFill>
                <a:latin typeface="DejaVu Sans"/>
                <a:ea typeface="DejaVu Sans"/>
                <a:cs typeface="DejaVu Sans"/>
              </a:rPr>
              <a:t>09</a:t>
            </a:r>
          </a:p>
        </p:txBody>
      </p:sp>
      <p:sp>
        <p:nvSpPr>
          <p:cNvPr id="4" name="">
            <a:extLst xmlns:a="http://schemas.openxmlformats.org/drawingml/2006/main">
              <a:ext uri="{FF2B5EF4-FFF2-40B4-BE49-F238E27FC236}">
                <a16:creationId xmlns:a16="http://schemas.microsoft.com/office/drawing/2014/main" id="{60A0037B-B4F1-4749-87F7-5CFB5CF7A05C}"/>
              </a:ext>
            </a:extLst>
          </p:cNvPr>
          <p:cNvSpPr>
            <a:spLocks xmlns:a="http://schemas.openxmlformats.org/drawingml/2006/main" noGrp="1"/>
          </p:cNvSpPr>
          <p:nvPr/>
        </p:nvSpPr>
        <p:spPr>
          <a:xfrm xmlns:a="http://schemas.openxmlformats.org/drawingml/2006/main">
            <a:off x="609600" y="1943100"/>
            <a:ext cx="2238375" cy="163830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19050">
            <a:solidFill>
              <a:srgbClr val="14B8A6"/>
            </a:solidFill>
            <a:prstDash val="solid"/>
          </a:ln>
        </p:spPr>
      </p:sp>
      <p:sp>
        <p:nvSpPr>
          <p:cNvPr id="5" name="">
            <a:extLst xmlns:a="http://schemas.openxmlformats.org/drawingml/2006/main">
              <a:ext uri="{FF2B5EF4-FFF2-40B4-BE49-F238E27FC236}">
                <a16:creationId xmlns:a16="http://schemas.microsoft.com/office/drawing/2014/main" id="{C003F522-97BF-4CF8-9D75-5DCFFA8688AF}"/>
              </a:ext>
            </a:extLst>
          </p:cNvPr>
          <p:cNvSpPr>
            <a:spLocks xmlns:a="http://schemas.openxmlformats.org/drawingml/2006/main" noGrp="1"/>
          </p:cNvSpPr>
          <p:nvPr/>
        </p:nvSpPr>
        <p:spPr>
          <a:xfrm xmlns:a="http://schemas.openxmlformats.org/drawingml/2006/main">
            <a:off x="752475" y="2133600"/>
            <a:ext cx="1952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3974"/>
          </a:bodyPr>
          <a:lstStyle xmlns:a="http://schemas.openxmlformats.org/drawingml/2006/main"/>
          <a:p xmlns:a="http://schemas.openxmlformats.org/drawingml/2006/main">
            <a:pPr>
              <a:defRPr sz="1950" b="1" i="0">
                <a:solidFill>
                  <a:srgbClr val="142735"/>
                </a:solidFill>
                <a:latin typeface="DejaVu Sans"/>
                <a:ea typeface="DejaVu Sans"/>
                <a:cs typeface="DejaVu Sans"/>
              </a:defRPr>
            </a:pPr>
            <a:r>
              <a:rPr sz="1950" b="1" i="0">
                <a:solidFill>
                  <a:srgbClr val="142735"/>
                </a:solidFill>
                <a:latin typeface="DejaVu Sans"/>
                <a:ea typeface="DejaVu Sans"/>
                <a:cs typeface="DejaVu Sans"/>
              </a:rPr>
              <a:t>Held-out scenes</a:t>
            </a:r>
          </a:p>
        </p:txBody>
      </p:sp>
      <p:sp>
        <p:nvSpPr>
          <p:cNvPr id="6" name="">
            <a:extLst xmlns:a="http://schemas.openxmlformats.org/drawingml/2006/main">
              <a:ext uri="{FF2B5EF4-FFF2-40B4-BE49-F238E27FC236}">
                <a16:creationId xmlns:a16="http://schemas.microsoft.com/office/drawing/2014/main" id="{36CA70B8-0F2D-4AE5-9A2B-B2FA6A1BA07C}"/>
              </a:ext>
            </a:extLst>
          </p:cNvPr>
          <p:cNvSpPr>
            <a:spLocks xmlns:a="http://schemas.openxmlformats.org/drawingml/2006/main" noGrp="1"/>
          </p:cNvSpPr>
          <p:nvPr/>
        </p:nvSpPr>
        <p:spPr>
          <a:xfrm xmlns:a="http://schemas.openxmlformats.org/drawingml/2006/main">
            <a:off x="752475" y="2828925"/>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Photos and</a:t>
            </a:r>
          </a:p>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approved labels</a:t>
            </a:r>
          </a:p>
        </p:txBody>
      </p:sp>
      <p:sp>
        <p:nvSpPr>
          <p:cNvPr id="7" name="">
            <a:extLst xmlns:a="http://schemas.openxmlformats.org/drawingml/2006/main">
              <a:ext uri="{FF2B5EF4-FFF2-40B4-BE49-F238E27FC236}">
                <a16:creationId xmlns:a16="http://schemas.microsoft.com/office/drawing/2014/main" id="{668E3E8F-45D7-4307-AB10-526FD110412D}"/>
              </a:ext>
            </a:extLst>
          </p:cNvPr>
          <p:cNvSpPr>
            <a:spLocks xmlns:a="http://schemas.openxmlformats.org/drawingml/2006/main" noGrp="1"/>
          </p:cNvSpPr>
          <p:nvPr/>
        </p:nvSpPr>
        <p:spPr>
          <a:xfrm xmlns:a="http://schemas.openxmlformats.org/drawingml/2006/main">
            <a:off x="3514725" y="1943100"/>
            <a:ext cx="2238375" cy="163830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19050">
            <a:solidFill>
              <a:srgbClr val="14B8A6"/>
            </a:solidFill>
            <a:prstDash val="solid"/>
          </a:ln>
        </p:spPr>
      </p:sp>
      <p:sp>
        <p:nvSpPr>
          <p:cNvPr id="8" name="">
            <a:extLst xmlns:a="http://schemas.openxmlformats.org/drawingml/2006/main">
              <a:ext uri="{FF2B5EF4-FFF2-40B4-BE49-F238E27FC236}">
                <a16:creationId xmlns:a16="http://schemas.microsoft.com/office/drawing/2014/main" id="{B7ADA039-8193-4E24-BA19-C7B40812DE59}"/>
              </a:ext>
            </a:extLst>
          </p:cNvPr>
          <p:cNvSpPr>
            <a:spLocks xmlns:a="http://schemas.openxmlformats.org/drawingml/2006/main" noGrp="1"/>
          </p:cNvSpPr>
          <p:nvPr/>
        </p:nvSpPr>
        <p:spPr>
          <a:xfrm xmlns:a="http://schemas.openxmlformats.org/drawingml/2006/main">
            <a:off x="3657600" y="2133600"/>
            <a:ext cx="1952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806"/>
          </a:bodyPr>
          <a:lstStyle xmlns:a="http://schemas.openxmlformats.org/drawingml/2006/main"/>
          <a:p xmlns:a="http://schemas.openxmlformats.org/drawingml/2006/main">
            <a:pPr>
              <a:defRPr sz="1950" b="1" i="0">
                <a:solidFill>
                  <a:srgbClr val="142735"/>
                </a:solidFill>
                <a:latin typeface="DejaVu Sans"/>
                <a:ea typeface="DejaVu Sans"/>
                <a:cs typeface="DejaVu Sans"/>
              </a:defRPr>
            </a:pPr>
            <a:r>
              <a:rPr sz="1950" b="1" i="0">
                <a:solidFill>
                  <a:srgbClr val="142735"/>
                </a:solidFill>
                <a:latin typeface="DejaVu Sans"/>
                <a:ea typeface="DejaVu Sans"/>
                <a:cs typeface="DejaVu Sans"/>
              </a:rPr>
              <a:t>Run inference</a:t>
            </a:r>
          </a:p>
        </p:txBody>
      </p:sp>
      <p:sp>
        <p:nvSpPr>
          <p:cNvPr id="9" name="">
            <a:extLst xmlns:a="http://schemas.openxmlformats.org/drawingml/2006/main">
              <a:ext uri="{FF2B5EF4-FFF2-40B4-BE49-F238E27FC236}">
                <a16:creationId xmlns:a16="http://schemas.microsoft.com/office/drawing/2014/main" id="{FF18F814-5A69-4010-B04E-FB3632AE217E}"/>
              </a:ext>
            </a:extLst>
          </p:cNvPr>
          <p:cNvSpPr>
            <a:spLocks xmlns:a="http://schemas.openxmlformats.org/drawingml/2006/main" noGrp="1"/>
          </p:cNvSpPr>
          <p:nvPr/>
        </p:nvSpPr>
        <p:spPr>
          <a:xfrm xmlns:a="http://schemas.openxmlformats.org/drawingml/2006/main">
            <a:off x="3657600" y="2828925"/>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121"/>
          </a:bodyPr>
          <a:lstStyle xmlns:a="http://schemas.openxmlformats.org/drawingml/2006/main"/>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Predict with the</a:t>
            </a:r>
          </a:p>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current checkpoint</a:t>
            </a:r>
          </a:p>
        </p:txBody>
      </p:sp>
      <p:sp>
        <p:nvSpPr>
          <p:cNvPr id="10" name="">
            <a:extLst xmlns:a="http://schemas.openxmlformats.org/drawingml/2006/main">
              <a:ext uri="{FF2B5EF4-FFF2-40B4-BE49-F238E27FC236}">
                <a16:creationId xmlns:a16="http://schemas.microsoft.com/office/drawing/2014/main" id="{5BFBAB80-A136-414E-B8E1-D84153DE7736}"/>
              </a:ext>
            </a:extLst>
          </p:cNvPr>
          <p:cNvSpPr>
            <a:spLocks xmlns:a="http://schemas.openxmlformats.org/drawingml/2006/main" noGrp="1"/>
          </p:cNvSpPr>
          <p:nvPr/>
        </p:nvSpPr>
        <p:spPr>
          <a:xfrm xmlns:a="http://schemas.openxmlformats.org/drawingml/2006/main">
            <a:off x="6419850" y="1943100"/>
            <a:ext cx="2238375" cy="163830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19050">
            <a:solidFill>
              <a:srgbClr val="14B8A6"/>
            </a:solidFill>
            <a:prstDash val="solid"/>
          </a:ln>
        </p:spPr>
      </p:sp>
      <p:sp>
        <p:nvSpPr>
          <p:cNvPr id="11" name="">
            <a:extLst xmlns:a="http://schemas.openxmlformats.org/drawingml/2006/main">
              <a:ext uri="{FF2B5EF4-FFF2-40B4-BE49-F238E27FC236}">
                <a16:creationId xmlns:a16="http://schemas.microsoft.com/office/drawing/2014/main" id="{CC7DD506-132C-4B80-B54C-BF3785CECA96}"/>
              </a:ext>
            </a:extLst>
          </p:cNvPr>
          <p:cNvSpPr>
            <a:spLocks xmlns:a="http://schemas.openxmlformats.org/drawingml/2006/main" noGrp="1"/>
          </p:cNvSpPr>
          <p:nvPr/>
        </p:nvSpPr>
        <p:spPr>
          <a:xfrm xmlns:a="http://schemas.openxmlformats.org/drawingml/2006/main">
            <a:off x="6562725" y="2133600"/>
            <a:ext cx="1952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950" b="1" i="0">
                <a:solidFill>
                  <a:srgbClr val="142735"/>
                </a:solidFill>
                <a:latin typeface="DejaVu Sans"/>
                <a:ea typeface="DejaVu Sans"/>
                <a:cs typeface="DejaVu Sans"/>
              </a:defRPr>
            </a:pPr>
            <a:r>
              <a:rPr sz="1950" b="1" i="0">
                <a:solidFill>
                  <a:srgbClr val="142735"/>
                </a:solidFill>
                <a:latin typeface="DejaVu Sans"/>
                <a:ea typeface="DejaVu Sans"/>
                <a:cs typeface="DejaVu Sans"/>
              </a:rPr>
              <a:t>Compare</a:t>
            </a:r>
          </a:p>
        </p:txBody>
      </p:sp>
      <p:sp>
        <p:nvSpPr>
          <p:cNvPr id="12" name="">
            <a:extLst xmlns:a="http://schemas.openxmlformats.org/drawingml/2006/main">
              <a:ext uri="{FF2B5EF4-FFF2-40B4-BE49-F238E27FC236}">
                <a16:creationId xmlns:a16="http://schemas.microsoft.com/office/drawing/2014/main" id="{19ED9E8B-9C91-4D44-8279-FA14D61424F9}"/>
              </a:ext>
            </a:extLst>
          </p:cNvPr>
          <p:cNvSpPr>
            <a:spLocks xmlns:a="http://schemas.openxmlformats.org/drawingml/2006/main" noGrp="1"/>
          </p:cNvSpPr>
          <p:nvPr/>
        </p:nvSpPr>
        <p:spPr>
          <a:xfrm xmlns:a="http://schemas.openxmlformats.org/drawingml/2006/main">
            <a:off x="6562725" y="2828925"/>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Match cube color</a:t>
            </a:r>
          </a:p>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and box overlap</a:t>
            </a:r>
          </a:p>
        </p:txBody>
      </p:sp>
      <p:sp>
        <p:nvSpPr>
          <p:cNvPr id="13" name="">
            <a:extLst xmlns:a="http://schemas.openxmlformats.org/drawingml/2006/main">
              <a:ext uri="{FF2B5EF4-FFF2-40B4-BE49-F238E27FC236}">
                <a16:creationId xmlns:a16="http://schemas.microsoft.com/office/drawing/2014/main" id="{2DCD4069-EBA5-4A7A-90E6-41C76EC72723}"/>
              </a:ext>
            </a:extLst>
          </p:cNvPr>
          <p:cNvSpPr>
            <a:spLocks xmlns:a="http://schemas.openxmlformats.org/drawingml/2006/main" noGrp="1"/>
          </p:cNvSpPr>
          <p:nvPr/>
        </p:nvSpPr>
        <p:spPr>
          <a:xfrm xmlns:a="http://schemas.openxmlformats.org/drawingml/2006/main">
            <a:off x="9324975" y="1943100"/>
            <a:ext cx="2238375" cy="163830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19050">
            <a:solidFill>
              <a:srgbClr val="14B8A6"/>
            </a:solidFill>
            <a:prstDash val="solid"/>
          </a:ln>
        </p:spPr>
      </p:sp>
      <p:sp>
        <p:nvSpPr>
          <p:cNvPr id="14" name="">
            <a:extLst xmlns:a="http://schemas.openxmlformats.org/drawingml/2006/main">
              <a:ext uri="{FF2B5EF4-FFF2-40B4-BE49-F238E27FC236}">
                <a16:creationId xmlns:a16="http://schemas.microsoft.com/office/drawing/2014/main" id="{0C9C6827-B99D-482D-B246-E1838DC7E47E}"/>
              </a:ext>
            </a:extLst>
          </p:cNvPr>
          <p:cNvSpPr>
            <a:spLocks xmlns:a="http://schemas.openxmlformats.org/drawingml/2006/main" noGrp="1"/>
          </p:cNvSpPr>
          <p:nvPr/>
        </p:nvSpPr>
        <p:spPr>
          <a:xfrm xmlns:a="http://schemas.openxmlformats.org/drawingml/2006/main">
            <a:off x="9467850" y="2133600"/>
            <a:ext cx="1952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3974"/>
          </a:bodyPr>
          <a:lstStyle xmlns:a="http://schemas.openxmlformats.org/drawingml/2006/main"/>
          <a:p xmlns:a="http://schemas.openxmlformats.org/drawingml/2006/main">
            <a:pPr>
              <a:defRPr sz="1950" b="1" i="0">
                <a:solidFill>
                  <a:srgbClr val="142735"/>
                </a:solidFill>
                <a:latin typeface="DejaVu Sans"/>
                <a:ea typeface="DejaVu Sans"/>
                <a:cs typeface="DejaVu Sans"/>
              </a:defRPr>
            </a:pPr>
            <a:r>
              <a:rPr sz="1950" b="1" i="0">
                <a:solidFill>
                  <a:srgbClr val="142735"/>
                </a:solidFill>
                <a:latin typeface="DejaVu Sans"/>
                <a:ea typeface="DejaVu Sans"/>
                <a:cs typeface="DejaVu Sans"/>
              </a:rPr>
              <a:t>Review &amp; select</a:t>
            </a:r>
          </a:p>
        </p:txBody>
      </p:sp>
      <p:sp>
        <p:nvSpPr>
          <p:cNvPr id="15" name="">
            <a:extLst xmlns:a="http://schemas.openxmlformats.org/drawingml/2006/main">
              <a:ext uri="{FF2B5EF4-FFF2-40B4-BE49-F238E27FC236}">
                <a16:creationId xmlns:a16="http://schemas.microsoft.com/office/drawing/2014/main" id="{010FF3E6-9AB9-43E1-A72D-1F66ECC8F812}"/>
              </a:ext>
            </a:extLst>
          </p:cNvPr>
          <p:cNvSpPr>
            <a:spLocks xmlns:a="http://schemas.openxmlformats.org/drawingml/2006/main" noGrp="1"/>
          </p:cNvSpPr>
          <p:nvPr/>
        </p:nvSpPr>
        <p:spPr>
          <a:xfrm xmlns:a="http://schemas.openxmlformats.org/drawingml/2006/main">
            <a:off x="9467850" y="2828925"/>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Count errors;</a:t>
            </a:r>
          </a:p>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select model</a:t>
            </a:r>
          </a:p>
        </p:txBody>
      </p:sp>
      <p:cxnSp>
        <p:nvCxnSpPr>
          <p:cNvPr id="41" name=""/>
          <p:cNvCxnSpPr>
            <a:stCxn xmlns:a="http://schemas.openxmlformats.org/drawingml/2006/main" id="4" idx="3"/>
            <a:endCxn xmlns:a="http://schemas.openxmlformats.org/drawingml/2006/main" id="7" idx="1"/>
          </p:cNvCxnSpPr>
          <p:nvPr/>
        </p:nvCxnSpPr>
        <p:spPr>
          <a:xfrm xmlns:a="http://schemas.openxmlformats.org/drawingml/2006/main">
            <a:off x="2847975" y="2762250"/>
            <a:ext cx="666750" cy="0"/>
          </a:xfrm>
          <a:prstGeom xmlns:a="http://schemas.openxmlformats.org/drawingml/2006/main" prst="straightConnector1">
            <a:avLst/>
          </a:prstGeom>
          <a:ln xmlns:a="http://schemas.openxmlformats.org/drawingml/2006/main" w="28575">
            <a:solidFill>
              <a:srgbClr val="14B8A6"/>
            </a:solidFill>
            <a:prstDash val="solid"/>
            <a:tailEnd type="triangle" w="med" len="med"/>
          </a:ln>
        </p:spPr>
      </p:cxnSp>
      <p:cxnSp>
        <p:nvCxnSpPr>
          <p:cNvPr id="42" name=""/>
          <p:cNvCxnSpPr>
            <a:stCxn xmlns:a="http://schemas.openxmlformats.org/drawingml/2006/main" id="7" idx="3"/>
            <a:endCxn xmlns:a="http://schemas.openxmlformats.org/drawingml/2006/main" id="10" idx="1"/>
          </p:cNvCxnSpPr>
          <p:nvPr/>
        </p:nvCxnSpPr>
        <p:spPr>
          <a:xfrm xmlns:a="http://schemas.openxmlformats.org/drawingml/2006/main">
            <a:off x="5753100" y="2762250"/>
            <a:ext cx="666750" cy="0"/>
          </a:xfrm>
          <a:prstGeom xmlns:a="http://schemas.openxmlformats.org/drawingml/2006/main" prst="straightConnector1">
            <a:avLst/>
          </a:prstGeom>
          <a:ln xmlns:a="http://schemas.openxmlformats.org/drawingml/2006/main" w="28575">
            <a:solidFill>
              <a:srgbClr val="14B8A6"/>
            </a:solidFill>
            <a:prstDash val="solid"/>
            <a:tailEnd type="triangle" w="med" len="med"/>
          </a:ln>
        </p:spPr>
      </p:cxnSp>
      <p:cxnSp>
        <p:nvCxnSpPr>
          <p:cNvPr id="43" name=""/>
          <p:cNvCxnSpPr>
            <a:stCxn xmlns:a="http://schemas.openxmlformats.org/drawingml/2006/main" id="10" idx="3"/>
            <a:endCxn xmlns:a="http://schemas.openxmlformats.org/drawingml/2006/main" id="13" idx="1"/>
          </p:cNvCxnSpPr>
          <p:nvPr/>
        </p:nvCxnSpPr>
        <p:spPr>
          <a:xfrm xmlns:a="http://schemas.openxmlformats.org/drawingml/2006/main">
            <a:off x="8658225" y="2762250"/>
            <a:ext cx="666750" cy="0"/>
          </a:xfrm>
          <a:prstGeom xmlns:a="http://schemas.openxmlformats.org/drawingml/2006/main" prst="straightConnector1">
            <a:avLst/>
          </a:prstGeom>
          <a:ln xmlns:a="http://schemas.openxmlformats.org/drawingml/2006/main" w="28575">
            <a:solidFill>
              <a:srgbClr val="14B8A6"/>
            </a:solidFill>
            <a:prstDash val="solid"/>
            <a:tailEnd type="triangle" w="med" len="med"/>
          </a:ln>
        </p:spPr>
      </p:cxnSp>
      <p:sp>
        <p:nvSpPr>
          <p:cNvPr id="19" name="">
            <a:extLst xmlns:a="http://schemas.openxmlformats.org/drawingml/2006/main">
              <a:ext uri="{FF2B5EF4-FFF2-40B4-BE49-F238E27FC236}">
                <a16:creationId xmlns:a16="http://schemas.microsoft.com/office/drawing/2014/main" id="{C78AB58A-A2FA-4DF2-9351-BE83688C9E98}"/>
              </a:ext>
            </a:extLst>
          </p:cNvPr>
          <p:cNvSpPr>
            <a:spLocks xmlns:a="http://schemas.openxmlformats.org/drawingml/2006/main" noGrp="1"/>
          </p:cNvSpPr>
          <p:nvPr/>
        </p:nvSpPr>
        <p:spPr>
          <a:xfrm xmlns:a="http://schemas.openxmlformats.org/drawingml/2006/main">
            <a:off x="609600" y="411480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950" b="1" i="0">
                <a:solidFill>
                  <a:srgbClr val="16A34A"/>
                </a:solidFill>
                <a:latin typeface="DejaVu Sans"/>
                <a:ea typeface="DejaVu Sans"/>
                <a:cs typeface="DejaVu Sans"/>
              </a:defRPr>
            </a:pPr>
            <a:r>
              <a:rPr sz="1950" b="1" i="0">
                <a:solidFill>
                  <a:srgbClr val="16A34A"/>
                </a:solidFill>
                <a:latin typeface="DejaVu Sans"/>
                <a:ea typeface="DejaVu Sans"/>
                <a:cs typeface="DejaVu Sans"/>
              </a:rPr>
              <a:t>Correct match</a:t>
            </a:r>
          </a:p>
        </p:txBody>
      </p:sp>
      <p:sp>
        <p:nvSpPr>
          <p:cNvPr id="20" name="">
            <a:extLst xmlns:a="http://schemas.openxmlformats.org/drawingml/2006/main">
              <a:ext uri="{FF2B5EF4-FFF2-40B4-BE49-F238E27FC236}">
                <a16:creationId xmlns:a16="http://schemas.microsoft.com/office/drawing/2014/main" id="{8F55650C-332A-449D-A890-888EA5AABA13}"/>
              </a:ext>
            </a:extLst>
          </p:cNvPr>
          <p:cNvSpPr>
            <a:spLocks xmlns:a="http://schemas.openxmlformats.org/drawingml/2006/main" noGrp="1"/>
          </p:cNvSpPr>
          <p:nvPr/>
        </p:nvSpPr>
        <p:spPr>
          <a:xfrm xmlns:a="http://schemas.openxmlformats.org/drawingml/2006/main">
            <a:off x="4381500" y="41148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950" b="1" i="0">
                <a:solidFill>
                  <a:srgbClr val="DC2626"/>
                </a:solidFill>
                <a:latin typeface="DejaVu Sans"/>
                <a:ea typeface="DejaVu Sans"/>
                <a:cs typeface="DejaVu Sans"/>
              </a:defRPr>
            </a:pPr>
            <a:r>
              <a:rPr sz="1950" b="1" i="0">
                <a:solidFill>
                  <a:srgbClr val="DC2626"/>
                </a:solidFill>
                <a:latin typeface="DejaVu Sans"/>
                <a:ea typeface="DejaVu Sans"/>
                <a:cs typeface="DejaVu Sans"/>
              </a:rPr>
              <a:t>Extra detection</a:t>
            </a:r>
          </a:p>
        </p:txBody>
      </p:sp>
      <p:sp>
        <p:nvSpPr>
          <p:cNvPr id="21" name="">
            <a:extLst xmlns:a="http://schemas.openxmlformats.org/drawingml/2006/main">
              <a:ext uri="{FF2B5EF4-FFF2-40B4-BE49-F238E27FC236}">
                <a16:creationId xmlns:a16="http://schemas.microsoft.com/office/drawing/2014/main" id="{43822D43-4773-4B56-A097-0B9058F3A607}"/>
              </a:ext>
            </a:extLst>
          </p:cNvPr>
          <p:cNvSpPr>
            <a:spLocks xmlns:a="http://schemas.openxmlformats.org/drawingml/2006/main" noGrp="1"/>
          </p:cNvSpPr>
          <p:nvPr/>
        </p:nvSpPr>
        <p:spPr>
          <a:xfrm xmlns:a="http://schemas.openxmlformats.org/drawingml/2006/main">
            <a:off x="8334375" y="411480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950" b="1" i="0">
                <a:solidFill>
                  <a:srgbClr val="D97706"/>
                </a:solidFill>
                <a:latin typeface="DejaVu Sans"/>
                <a:ea typeface="DejaVu Sans"/>
                <a:cs typeface="DejaVu Sans"/>
              </a:defRPr>
            </a:pPr>
            <a:r>
              <a:rPr sz="1950" b="1" i="0">
                <a:solidFill>
                  <a:srgbClr val="D97706"/>
                </a:solidFill>
                <a:latin typeface="DejaVu Sans"/>
                <a:ea typeface="DejaVu Sans"/>
                <a:cs typeface="DejaVu Sans"/>
              </a:rPr>
              <a:t>Missed cube</a:t>
            </a:r>
          </a:p>
        </p:txBody>
      </p:sp>
      <p:sp>
        <p:nvSpPr>
          <p:cNvPr id="22" name="">
            <a:extLst xmlns:a="http://schemas.openxmlformats.org/drawingml/2006/main">
              <a:ext uri="{FF2B5EF4-FFF2-40B4-BE49-F238E27FC236}">
                <a16:creationId xmlns:a16="http://schemas.microsoft.com/office/drawing/2014/main" id="{268049BB-9FB8-4CF9-B216-22839947B690}"/>
              </a:ext>
            </a:extLst>
          </p:cNvPr>
          <p:cNvSpPr>
            <a:spLocks xmlns:a="http://schemas.openxmlformats.org/drawingml/2006/main" noGrp="1"/>
          </p:cNvSpPr>
          <p:nvPr/>
        </p:nvSpPr>
        <p:spPr>
          <a:xfrm xmlns:a="http://schemas.openxmlformats.org/drawingml/2006/main">
            <a:off x="609600" y="462915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142735"/>
                </a:solidFill>
                <a:latin typeface="DejaVu Sans"/>
                <a:ea typeface="DejaVu Sans"/>
                <a:cs typeface="DejaVu Sans"/>
              </a:defRPr>
            </a:pPr>
            <a:r>
              <a:rPr sz="1800" b="0" i="0">
                <a:solidFill>
                  <a:srgbClr val="142735"/>
                </a:solidFill>
                <a:latin typeface="DejaVu Sans"/>
                <a:ea typeface="DejaVu Sans"/>
                <a:cs typeface="DejaVu Sans"/>
              </a:rPr>
              <a:t>Right color and a</a:t>
            </a:r>
          </a:p>
          <a:p xmlns:a="http://schemas.openxmlformats.org/drawingml/2006/main">
            <a:pPr>
              <a:defRPr sz="1800" b="0" i="0">
                <a:solidFill>
                  <a:srgbClr val="142735"/>
                </a:solidFill>
                <a:latin typeface="DejaVu Sans"/>
                <a:ea typeface="DejaVu Sans"/>
                <a:cs typeface="DejaVu Sans"/>
              </a:defRPr>
            </a:pPr>
            <a:r>
              <a:rPr sz="1800" b="0" i="0">
                <a:solidFill>
                  <a:srgbClr val="142735"/>
                </a:solidFill>
                <a:latin typeface="DejaVu Sans"/>
                <a:ea typeface="DejaVu Sans"/>
                <a:cs typeface="DejaVu Sans"/>
              </a:rPr>
              <a:t>matching location.</a:t>
            </a:r>
          </a:p>
        </p:txBody>
      </p:sp>
      <p:sp>
        <p:nvSpPr>
          <p:cNvPr id="23" name="">
            <a:extLst xmlns:a="http://schemas.openxmlformats.org/drawingml/2006/main">
              <a:ext uri="{FF2B5EF4-FFF2-40B4-BE49-F238E27FC236}">
                <a16:creationId xmlns:a16="http://schemas.microsoft.com/office/drawing/2014/main" id="{C5D04992-33AB-419A-B57F-D9CC710403E2}"/>
              </a:ext>
            </a:extLst>
          </p:cNvPr>
          <p:cNvSpPr>
            <a:spLocks xmlns:a="http://schemas.openxmlformats.org/drawingml/2006/main" noGrp="1"/>
          </p:cNvSpPr>
          <p:nvPr/>
        </p:nvSpPr>
        <p:spPr>
          <a:xfrm xmlns:a="http://schemas.openxmlformats.org/drawingml/2006/main">
            <a:off x="4381500" y="4629150"/>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142735"/>
                </a:solidFill>
                <a:latin typeface="DejaVu Sans"/>
                <a:ea typeface="DejaVu Sans"/>
                <a:cs typeface="DejaVu Sans"/>
              </a:defRPr>
            </a:pPr>
            <a:r>
              <a:rPr sz="1800" b="0" i="0">
                <a:solidFill>
                  <a:srgbClr val="142735"/>
                </a:solidFill>
                <a:latin typeface="DejaVu Sans"/>
                <a:ea typeface="DejaVu Sans"/>
                <a:cs typeface="DejaVu Sans"/>
              </a:rPr>
              <a:t>A predicted box with</a:t>
            </a:r>
          </a:p>
          <a:p xmlns:a="http://schemas.openxmlformats.org/drawingml/2006/main">
            <a:pPr>
              <a:defRPr sz="1800" b="0" i="0">
                <a:solidFill>
                  <a:srgbClr val="142735"/>
                </a:solidFill>
                <a:latin typeface="DejaVu Sans"/>
                <a:ea typeface="DejaVu Sans"/>
                <a:cs typeface="DejaVu Sans"/>
              </a:defRPr>
            </a:pPr>
            <a:r>
              <a:rPr sz="1800" b="0" i="0">
                <a:solidFill>
                  <a:srgbClr val="142735"/>
                </a:solidFill>
                <a:latin typeface="DejaVu Sans"/>
                <a:ea typeface="DejaVu Sans"/>
                <a:cs typeface="DejaVu Sans"/>
              </a:rPr>
              <a:t>no matching cube.</a:t>
            </a:r>
          </a:p>
        </p:txBody>
      </p:sp>
      <p:sp>
        <p:nvSpPr>
          <p:cNvPr id="24" name="">
            <a:extLst xmlns:a="http://schemas.openxmlformats.org/drawingml/2006/main">
              <a:ext uri="{FF2B5EF4-FFF2-40B4-BE49-F238E27FC236}">
                <a16:creationId xmlns:a16="http://schemas.microsoft.com/office/drawing/2014/main" id="{3725DAFE-4DEB-4BB0-AE91-7A79BA22F73B}"/>
              </a:ext>
            </a:extLst>
          </p:cNvPr>
          <p:cNvSpPr>
            <a:spLocks xmlns:a="http://schemas.openxmlformats.org/drawingml/2006/main" noGrp="1"/>
          </p:cNvSpPr>
          <p:nvPr/>
        </p:nvSpPr>
        <p:spPr>
          <a:xfrm xmlns:a="http://schemas.openxmlformats.org/drawingml/2006/main">
            <a:off x="8334375" y="462915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142735"/>
                </a:solidFill>
                <a:latin typeface="DejaVu Sans"/>
                <a:ea typeface="DejaVu Sans"/>
                <a:cs typeface="DejaVu Sans"/>
              </a:defRPr>
            </a:pPr>
            <a:r>
              <a:rPr sz="1800" b="0" i="0">
                <a:solidFill>
                  <a:srgbClr val="142735"/>
                </a:solidFill>
                <a:latin typeface="DejaVu Sans"/>
                <a:ea typeface="DejaVu Sans"/>
                <a:cs typeface="DejaVu Sans"/>
              </a:rPr>
              <a:t>A real cube without</a:t>
            </a:r>
          </a:p>
          <a:p xmlns:a="http://schemas.openxmlformats.org/drawingml/2006/main">
            <a:pPr>
              <a:defRPr sz="1800" b="0" i="0">
                <a:solidFill>
                  <a:srgbClr val="142735"/>
                </a:solidFill>
                <a:latin typeface="DejaVu Sans"/>
                <a:ea typeface="DejaVu Sans"/>
                <a:cs typeface="DejaVu Sans"/>
              </a:defRPr>
            </a:pPr>
            <a:r>
              <a:rPr sz="1800" b="0" i="0">
                <a:solidFill>
                  <a:srgbClr val="142735"/>
                </a:solidFill>
                <a:latin typeface="DejaVu Sans"/>
                <a:ea typeface="DejaVu Sans"/>
                <a:cs typeface="DejaVu Sans"/>
              </a:rPr>
              <a:t>a matching prediction.</a:t>
            </a:r>
          </a:p>
        </p:txBody>
      </p:sp>
      <p:sp>
        <p:nvSpPr>
          <p:cNvPr id="25" name="">
            <a:extLst xmlns:a="http://schemas.openxmlformats.org/drawingml/2006/main">
              <a:ext uri="{FF2B5EF4-FFF2-40B4-BE49-F238E27FC236}">
                <a16:creationId xmlns:a16="http://schemas.microsoft.com/office/drawing/2014/main" id="{84BF5887-8E73-4FF4-B913-8E8DBF5803DE}"/>
              </a:ext>
            </a:extLst>
          </p:cNvPr>
          <p:cNvSpPr>
            <a:spLocks xmlns:a="http://schemas.openxmlformats.org/drawingml/2006/main" noGrp="1"/>
          </p:cNvSpPr>
          <p:nvPr/>
        </p:nvSpPr>
        <p:spPr>
          <a:xfrm xmlns:a="http://schemas.openxmlformats.org/drawingml/2006/main">
            <a:off x="609600" y="5762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725" b="0" i="0">
                <a:solidFill>
                  <a:srgbClr val="526777"/>
                </a:solidFill>
                <a:latin typeface="DejaVu Sans"/>
                <a:ea typeface="DejaVu Sans"/>
                <a:cs typeface="DejaVu Sans"/>
              </a:defRPr>
            </a:pPr>
            <a:r>
              <a:rPr sz="1725" b="0" i="0">
                <a:solidFill>
                  <a:srgbClr val="526777"/>
                </a:solidFill>
                <a:latin typeface="DejaVu Sans"/>
                <a:ea typeface="DejaVu Sans"/>
                <a:cs typeface="DejaVu Sans"/>
              </a:rPr>
              <a:t>Validation does not update weights. After model selection, test the complete system live.</a:t>
            </a:r>
          </a:p>
        </p:txBody>
      </p:sp>
    </p:spTree>
    <p:extLst>
      <p:ext uri="{BB962C8B-B14F-4D97-AF65-F5344CB8AC3E}">
        <p14:creationId xmlns:p14="http://schemas.microsoft.com/office/powerpoint/2010/main" val="731367690"/>
      </p:ext>
    </p:extLst>
  </p:cSld>
</p:sld>
</file>

<file path=ppt/slides/slide10.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45FCF2A-DD73-471B-9A13-439586AC01BF}"/>
              </a:ext>
            </a:extLst>
          </p:cNvPr>
          <p:cNvSpPr>
            <a:spLocks xmlns:a="http://schemas.openxmlformats.org/drawingml/2006/main" noGrp="1"/>
          </p:cNvSpPr>
          <p:nvPr/>
        </p:nvSpPr>
        <p:spPr>
          <a:xfrm xmlns:a="http://schemas.openxmlformats.org/drawingml/2006/main">
            <a:off x="609600" y="400050"/>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i="0">
                <a:solidFill>
                  <a:srgbClr val="FFFFFF"/>
                </a:solidFill>
                <a:latin typeface="DejaVu Sans"/>
                <a:ea typeface="DejaVu Sans"/>
                <a:cs typeface="DejaVu Sans"/>
              </a:defRPr>
            </a:pPr>
            <a:r>
              <a:rPr sz="2550" b="1" i="0">
                <a:solidFill>
                  <a:srgbClr val="FFFFFF"/>
                </a:solidFill>
                <a:latin typeface="DejaVu Sans"/>
                <a:ea typeface="DejaVu Sans"/>
                <a:cs typeface="DejaVu Sans"/>
              </a:rPr>
              <a:t>Deployment on NVIDIA Jetson</a:t>
            </a:r>
          </a:p>
        </p:txBody>
      </p:sp>
      <p:sp>
        <p:nvSpPr>
          <p:cNvPr id="2" name="">
            <a:extLst xmlns:a="http://schemas.openxmlformats.org/drawingml/2006/main">
              <a:ext uri="{FF2B5EF4-FFF2-40B4-BE49-F238E27FC236}">
                <a16:creationId xmlns:a16="http://schemas.microsoft.com/office/drawing/2014/main" id="{4EB03BED-4EB6-42D1-8A2F-6DDC7F14077B}"/>
              </a:ext>
            </a:extLst>
          </p:cNvPr>
          <p:cNvSpPr>
            <a:spLocks xmlns:a="http://schemas.openxmlformats.org/drawingml/2006/main" noGrp="1"/>
          </p:cNvSpPr>
          <p:nvPr/>
        </p:nvSpPr>
        <p:spPr>
          <a:xfrm xmlns:a="http://schemas.openxmlformats.org/drawingml/2006/main">
            <a:off x="609600" y="1028700"/>
            <a:ext cx="819150" cy="57150"/>
          </a:xfrm>
          <a:prstGeom xmlns:a="http://schemas.openxmlformats.org/drawingml/2006/main" prst="rect">
            <a:avLst/>
          </a:prstGeom>
          <a:solidFill xmlns:a="http://schemas.openxmlformats.org/drawingml/2006/main">
            <a:srgbClr val="14B8A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D363CBB-C68F-4EC9-A57F-198931C65D76}"/>
              </a:ext>
            </a:extLst>
          </p:cNvPr>
          <p:cNvSpPr>
            <a:spLocks xmlns:a="http://schemas.openxmlformats.org/drawingml/2006/main" noGrp="1"/>
          </p:cNvSpPr>
          <p:nvPr/>
        </p:nvSpPr>
        <p:spPr>
          <a:xfrm xmlns:a="http://schemas.openxmlformats.org/drawingml/2006/main">
            <a:off x="11144250" y="45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FB3C9"/>
                </a:solidFill>
                <a:latin typeface="DejaVu Sans"/>
                <a:ea typeface="DejaVu Sans"/>
                <a:cs typeface="DejaVu Sans"/>
              </a:defRPr>
            </a:pPr>
            <a:r>
              <a:rPr sz="1200" b="1" i="0">
                <a:solidFill>
                  <a:srgbClr val="8FB3C9"/>
                </a:solidFill>
                <a:latin typeface="DejaVu Sans"/>
                <a:ea typeface="DejaVu Sans"/>
                <a:cs typeface="DejaVu Sans"/>
              </a:rPr>
              <a:t>10</a:t>
            </a:r>
          </a:p>
        </p:txBody>
      </p:sp>
      <p:sp>
        <p:nvSpPr>
          <p:cNvPr id="4" name="">
            <a:extLst xmlns:a="http://schemas.openxmlformats.org/drawingml/2006/main">
              <a:ext uri="{FF2B5EF4-FFF2-40B4-BE49-F238E27FC236}">
                <a16:creationId xmlns:a16="http://schemas.microsoft.com/office/drawing/2014/main" id="{C0FE1E6E-90B6-4A90-AD0F-B76B0A3B0E90}"/>
              </a:ext>
            </a:extLst>
          </p:cNvPr>
          <p:cNvSpPr>
            <a:spLocks xmlns:a="http://schemas.openxmlformats.org/drawingml/2006/main" noGrp="1"/>
          </p:cNvSpPr>
          <p:nvPr/>
        </p:nvSpPr>
        <p:spPr>
          <a:xfrm xmlns:a="http://schemas.openxmlformats.org/drawingml/2006/main">
            <a:off x="666750" y="1476375"/>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1" i="0">
                <a:solidFill>
                  <a:srgbClr val="14B8A6"/>
                </a:solidFill>
                <a:latin typeface="DejaVu Sans"/>
                <a:ea typeface="DejaVu Sans"/>
                <a:cs typeface="DejaVu Sans"/>
              </a:defRPr>
            </a:pPr>
            <a:r>
              <a:rPr sz="1575" b="1" i="0">
                <a:solidFill>
                  <a:srgbClr val="14B8A6"/>
                </a:solidFill>
                <a:latin typeface="DejaVu Sans"/>
                <a:ea typeface="DejaVu Sans"/>
                <a:cs typeface="DejaVu Sans"/>
              </a:rPr>
              <a:t>DESKTOP · train and export</a:t>
            </a:r>
          </a:p>
        </p:txBody>
      </p:sp>
      <p:sp>
        <p:nvSpPr>
          <p:cNvPr id="5" name="">
            <a:extLst xmlns:a="http://schemas.openxmlformats.org/drawingml/2006/main">
              <a:ext uri="{FF2B5EF4-FFF2-40B4-BE49-F238E27FC236}">
                <a16:creationId xmlns:a16="http://schemas.microsoft.com/office/drawing/2014/main" id="{6B71ECF6-D756-4FE0-AC27-4D1D15D8154F}"/>
              </a:ext>
            </a:extLst>
          </p:cNvPr>
          <p:cNvSpPr>
            <a:spLocks xmlns:a="http://schemas.openxmlformats.org/drawingml/2006/main" noGrp="1"/>
          </p:cNvSpPr>
          <p:nvPr/>
        </p:nvSpPr>
        <p:spPr>
          <a:xfrm xmlns:a="http://schemas.openxmlformats.org/drawingml/2006/main">
            <a:off x="6477000" y="1476375"/>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1" i="0">
                <a:solidFill>
                  <a:srgbClr val="14B8A6"/>
                </a:solidFill>
                <a:latin typeface="DejaVu Sans"/>
                <a:ea typeface="DejaVu Sans"/>
                <a:cs typeface="DejaVu Sans"/>
              </a:defRPr>
            </a:pPr>
            <a:r>
              <a:rPr sz="1575" b="1" i="0">
                <a:solidFill>
                  <a:srgbClr val="14B8A6"/>
                </a:solidFill>
                <a:latin typeface="DejaVu Sans"/>
                <a:ea typeface="DejaVu Sans"/>
                <a:cs typeface="DejaVu Sans"/>
              </a:rPr>
              <a:t>JETSON · optimize and run</a:t>
            </a:r>
          </a:p>
        </p:txBody>
      </p:sp>
      <p:sp>
        <p:nvSpPr>
          <p:cNvPr id="6" name="">
            <a:extLst xmlns:a="http://schemas.openxmlformats.org/drawingml/2006/main">
              <a:ext uri="{FF2B5EF4-FFF2-40B4-BE49-F238E27FC236}">
                <a16:creationId xmlns:a16="http://schemas.microsoft.com/office/drawing/2014/main" id="{056E0832-3892-420B-9994-E5C0B22C33AC}"/>
              </a:ext>
            </a:extLst>
          </p:cNvPr>
          <p:cNvSpPr>
            <a:spLocks xmlns:a="http://schemas.openxmlformats.org/drawingml/2006/main" noGrp="1"/>
          </p:cNvSpPr>
          <p:nvPr/>
        </p:nvSpPr>
        <p:spPr>
          <a:xfrm xmlns:a="http://schemas.openxmlformats.org/drawingml/2006/main">
            <a:off x="666750" y="2000250"/>
            <a:ext cx="2143125" cy="2047875"/>
          </a:xfrm>
          <a:prstGeom xmlns:a="http://schemas.openxmlformats.org/drawingml/2006/main" prst="roundRect">
            <a:avLst>
              <a:gd name="adj" fmla="val 3721"/>
            </a:avLst>
          </a:prstGeom>
          <a:solidFill xmlns:a="http://schemas.openxmlformats.org/drawingml/2006/main">
            <a:srgbClr val="102A43"/>
          </a:solidFill>
          <a:ln xmlns:a="http://schemas.openxmlformats.org/drawingml/2006/main" w="28575">
            <a:solidFill>
              <a:srgbClr val="2563EB"/>
            </a:solidFill>
            <a:prstDash val="solid"/>
          </a:ln>
        </p:spPr>
      </p:sp>
      <p:sp>
        <p:nvSpPr>
          <p:cNvPr id="7" name="">
            <a:extLst xmlns:a="http://schemas.openxmlformats.org/drawingml/2006/main">
              <a:ext uri="{FF2B5EF4-FFF2-40B4-BE49-F238E27FC236}">
                <a16:creationId xmlns:a16="http://schemas.microsoft.com/office/drawing/2014/main" id="{22AA2EB4-62F9-42CC-8317-EDFCD981D0D2}"/>
              </a:ext>
            </a:extLst>
          </p:cNvPr>
          <p:cNvSpPr>
            <a:spLocks xmlns:a="http://schemas.openxmlformats.org/drawingml/2006/main" noGrp="1"/>
          </p:cNvSpPr>
          <p:nvPr/>
        </p:nvSpPr>
        <p:spPr>
          <a:xfrm xmlns:a="http://schemas.openxmlformats.org/drawingml/2006/main">
            <a:off x="838200" y="2286000"/>
            <a:ext cx="18002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1" i="0">
                <a:solidFill>
                  <a:srgbClr val="FFFFFF"/>
                </a:solidFill>
                <a:latin typeface="DejaVu Sans"/>
                <a:ea typeface="DejaVu Sans"/>
                <a:cs typeface="DejaVu Sans"/>
              </a:defRPr>
            </a:pPr>
            <a:r>
              <a:rPr sz="1800" b="1" i="0">
                <a:solidFill>
                  <a:srgbClr val="FFFFFF"/>
                </a:solidFill>
                <a:latin typeface="DejaVu Sans"/>
                <a:ea typeface="DejaVu Sans"/>
                <a:cs typeface="DejaVu Sans"/>
              </a:rPr>
              <a:t>PyTorch</a:t>
            </a:r>
          </a:p>
        </p:txBody>
      </p:sp>
      <p:sp>
        <p:nvSpPr>
          <p:cNvPr id="8" name="">
            <a:extLst xmlns:a="http://schemas.openxmlformats.org/drawingml/2006/main">
              <a:ext uri="{FF2B5EF4-FFF2-40B4-BE49-F238E27FC236}">
                <a16:creationId xmlns:a16="http://schemas.microsoft.com/office/drawing/2014/main" id="{1B314B5B-2B66-49F5-A6D7-37C375E16396}"/>
              </a:ext>
            </a:extLst>
          </p:cNvPr>
          <p:cNvSpPr>
            <a:spLocks xmlns:a="http://schemas.openxmlformats.org/drawingml/2006/main" noGrp="1"/>
          </p:cNvSpPr>
          <p:nvPr/>
        </p:nvSpPr>
        <p:spPr>
          <a:xfrm xmlns:a="http://schemas.openxmlformats.org/drawingml/2006/main">
            <a:off x="838200" y="2819400"/>
            <a:ext cx="1800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2563EB"/>
                </a:solidFill>
                <a:latin typeface="DejaVu Sans"/>
                <a:ea typeface="DejaVu Sans"/>
                <a:cs typeface="DejaVu Sans"/>
              </a:defRPr>
            </a:pPr>
            <a:r>
              <a:rPr sz="1350" b="1" i="0">
                <a:solidFill>
                  <a:srgbClr val="2563EB"/>
                </a:solidFill>
                <a:latin typeface="DejaVu Sans"/>
                <a:ea typeface="DejaVu Sans"/>
                <a:cs typeface="DejaVu Sans"/>
              </a:rPr>
              <a:t>.pt</a:t>
            </a:r>
          </a:p>
        </p:txBody>
      </p:sp>
      <p:sp>
        <p:nvSpPr>
          <p:cNvPr id="9" name="">
            <a:extLst xmlns:a="http://schemas.openxmlformats.org/drawingml/2006/main">
              <a:ext uri="{FF2B5EF4-FFF2-40B4-BE49-F238E27FC236}">
                <a16:creationId xmlns:a16="http://schemas.microsoft.com/office/drawing/2014/main" id="{659EB9ED-59C7-4822-A864-6D30574379FE}"/>
              </a:ext>
            </a:extLst>
          </p:cNvPr>
          <p:cNvSpPr>
            <a:spLocks xmlns:a="http://schemas.openxmlformats.org/drawingml/2006/main" noGrp="1"/>
          </p:cNvSpPr>
          <p:nvPr/>
        </p:nvSpPr>
        <p:spPr>
          <a:xfrm xmlns:a="http://schemas.openxmlformats.org/drawingml/2006/main">
            <a:off x="838200" y="3295650"/>
            <a:ext cx="1800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C7D9E5"/>
                </a:solidFill>
                <a:latin typeface="DejaVu Sans"/>
                <a:ea typeface="DejaVu Sans"/>
                <a:cs typeface="DejaVu Sans"/>
              </a:defRPr>
            </a:pPr>
            <a:r>
              <a:rPr sz="1350" b="0" i="0">
                <a:solidFill>
                  <a:srgbClr val="C7D9E5"/>
                </a:solidFill>
                <a:latin typeface="DejaVu Sans"/>
                <a:ea typeface="DejaVu Sans"/>
                <a:cs typeface="DejaVu Sans"/>
              </a:rPr>
              <a:t>Selected trained</a:t>
            </a:r>
          </a:p>
          <a:p xmlns:a="http://schemas.openxmlformats.org/drawingml/2006/main">
            <a:pPr>
              <a:defRPr sz="1350" b="0" i="0">
                <a:solidFill>
                  <a:srgbClr val="C7D9E5"/>
                </a:solidFill>
                <a:latin typeface="DejaVu Sans"/>
                <a:ea typeface="DejaVu Sans"/>
                <a:cs typeface="DejaVu Sans"/>
              </a:defRPr>
            </a:pPr>
            <a:r>
              <a:rPr sz="1350" b="0" i="0">
                <a:solidFill>
                  <a:srgbClr val="C7D9E5"/>
                </a:solidFill>
                <a:latin typeface="DejaVu Sans"/>
                <a:ea typeface="DejaVu Sans"/>
                <a:cs typeface="DejaVu Sans"/>
              </a:rPr>
              <a:t>checkpoint</a:t>
            </a:r>
          </a:p>
        </p:txBody>
      </p:sp>
      <p:sp>
        <p:nvSpPr>
          <p:cNvPr id="10" name="">
            <a:extLst xmlns:a="http://schemas.openxmlformats.org/drawingml/2006/main">
              <a:ext uri="{FF2B5EF4-FFF2-40B4-BE49-F238E27FC236}">
                <a16:creationId xmlns:a16="http://schemas.microsoft.com/office/drawing/2014/main" id="{11468228-2FC7-4854-A3BA-185FA0E9B39B}"/>
              </a:ext>
            </a:extLst>
          </p:cNvPr>
          <p:cNvSpPr>
            <a:spLocks xmlns:a="http://schemas.openxmlformats.org/drawingml/2006/main" noGrp="1"/>
          </p:cNvSpPr>
          <p:nvPr/>
        </p:nvSpPr>
        <p:spPr>
          <a:xfrm xmlns:a="http://schemas.openxmlformats.org/drawingml/2006/main">
            <a:off x="3571875" y="2000250"/>
            <a:ext cx="2143125" cy="2047875"/>
          </a:xfrm>
          <a:prstGeom xmlns:a="http://schemas.openxmlformats.org/drawingml/2006/main" prst="roundRect">
            <a:avLst>
              <a:gd name="adj" fmla="val 3721"/>
            </a:avLst>
          </a:prstGeom>
          <a:solidFill xmlns:a="http://schemas.openxmlformats.org/drawingml/2006/main">
            <a:srgbClr val="102A43"/>
          </a:solidFill>
          <a:ln xmlns:a="http://schemas.openxmlformats.org/drawingml/2006/main" w="28575">
            <a:solidFill>
              <a:srgbClr val="14B8A6"/>
            </a:solidFill>
            <a:prstDash val="solid"/>
          </a:ln>
        </p:spPr>
      </p:sp>
      <p:sp>
        <p:nvSpPr>
          <p:cNvPr id="11" name="">
            <a:extLst xmlns:a="http://schemas.openxmlformats.org/drawingml/2006/main">
              <a:ext uri="{FF2B5EF4-FFF2-40B4-BE49-F238E27FC236}">
                <a16:creationId xmlns:a16="http://schemas.microsoft.com/office/drawing/2014/main" id="{C4F8A64B-5989-4B15-A9D9-4EBB8226BF4F}"/>
              </a:ext>
            </a:extLst>
          </p:cNvPr>
          <p:cNvSpPr>
            <a:spLocks xmlns:a="http://schemas.openxmlformats.org/drawingml/2006/main" noGrp="1"/>
          </p:cNvSpPr>
          <p:nvPr/>
        </p:nvSpPr>
        <p:spPr>
          <a:xfrm xmlns:a="http://schemas.openxmlformats.org/drawingml/2006/main">
            <a:off x="3743325" y="2286000"/>
            <a:ext cx="18002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1" i="0">
                <a:solidFill>
                  <a:srgbClr val="FFFFFF"/>
                </a:solidFill>
                <a:latin typeface="DejaVu Sans"/>
                <a:ea typeface="DejaVu Sans"/>
                <a:cs typeface="DejaVu Sans"/>
              </a:defRPr>
            </a:pPr>
            <a:r>
              <a:rPr sz="1800" b="1" i="0">
                <a:solidFill>
                  <a:srgbClr val="FFFFFF"/>
                </a:solidFill>
                <a:latin typeface="DejaVu Sans"/>
                <a:ea typeface="DejaVu Sans"/>
                <a:cs typeface="DejaVu Sans"/>
              </a:rPr>
              <a:t>ONNX</a:t>
            </a:r>
          </a:p>
        </p:txBody>
      </p:sp>
      <p:sp>
        <p:nvSpPr>
          <p:cNvPr id="12" name="">
            <a:extLst xmlns:a="http://schemas.openxmlformats.org/drawingml/2006/main">
              <a:ext uri="{FF2B5EF4-FFF2-40B4-BE49-F238E27FC236}">
                <a16:creationId xmlns:a16="http://schemas.microsoft.com/office/drawing/2014/main" id="{F8BD4C26-D9BB-44F8-AC51-ADC202355CD6}"/>
              </a:ext>
            </a:extLst>
          </p:cNvPr>
          <p:cNvSpPr>
            <a:spLocks xmlns:a="http://schemas.openxmlformats.org/drawingml/2006/main" noGrp="1"/>
          </p:cNvSpPr>
          <p:nvPr/>
        </p:nvSpPr>
        <p:spPr>
          <a:xfrm xmlns:a="http://schemas.openxmlformats.org/drawingml/2006/main">
            <a:off x="3743325" y="2819400"/>
            <a:ext cx="1800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4B8A6"/>
                </a:solidFill>
                <a:latin typeface="DejaVu Sans"/>
                <a:ea typeface="DejaVu Sans"/>
                <a:cs typeface="DejaVu Sans"/>
              </a:defRPr>
            </a:pPr>
            <a:r>
              <a:rPr sz="1350" b="1" i="0">
                <a:solidFill>
                  <a:srgbClr val="14B8A6"/>
                </a:solidFill>
                <a:latin typeface="DejaVu Sans"/>
                <a:ea typeface="DejaVu Sans"/>
                <a:cs typeface="DejaVu Sans"/>
              </a:rPr>
              <a:t>.onnx</a:t>
            </a:r>
          </a:p>
        </p:txBody>
      </p:sp>
      <p:sp>
        <p:nvSpPr>
          <p:cNvPr id="13" name="">
            <a:extLst xmlns:a="http://schemas.openxmlformats.org/drawingml/2006/main">
              <a:ext uri="{FF2B5EF4-FFF2-40B4-BE49-F238E27FC236}">
                <a16:creationId xmlns:a16="http://schemas.microsoft.com/office/drawing/2014/main" id="{9A5312D4-0606-4BAF-A0AB-C6171069CD3B}"/>
              </a:ext>
            </a:extLst>
          </p:cNvPr>
          <p:cNvSpPr>
            <a:spLocks xmlns:a="http://schemas.openxmlformats.org/drawingml/2006/main" noGrp="1"/>
          </p:cNvSpPr>
          <p:nvPr/>
        </p:nvSpPr>
        <p:spPr>
          <a:xfrm xmlns:a="http://schemas.openxmlformats.org/drawingml/2006/main">
            <a:off x="3743325" y="3295650"/>
            <a:ext cx="1800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436"/>
          </a:bodyPr>
          <a:lstStyle xmlns:a="http://schemas.openxmlformats.org/drawingml/2006/main"/>
          <a:p xmlns:a="http://schemas.openxmlformats.org/drawingml/2006/main">
            <a:pPr>
              <a:defRPr sz="1350" b="0" i="0">
                <a:solidFill>
                  <a:srgbClr val="C7D9E5"/>
                </a:solidFill>
                <a:latin typeface="DejaVu Sans"/>
                <a:ea typeface="DejaVu Sans"/>
                <a:cs typeface="DejaVu Sans"/>
              </a:defRPr>
            </a:pPr>
            <a:r>
              <a:rPr sz="1350" b="0" i="0">
                <a:solidFill>
                  <a:srgbClr val="C7D9E5"/>
                </a:solidFill>
                <a:latin typeface="DejaVu Sans"/>
                <a:ea typeface="DejaVu Sans"/>
                <a:cs typeface="DejaVu Sans"/>
              </a:rPr>
              <a:t>Portable</a:t>
            </a:r>
          </a:p>
          <a:p xmlns:a="http://schemas.openxmlformats.org/drawingml/2006/main">
            <a:pPr>
              <a:defRPr sz="1350" b="0" i="0">
                <a:solidFill>
                  <a:srgbClr val="C7D9E5"/>
                </a:solidFill>
                <a:latin typeface="DejaVu Sans"/>
                <a:ea typeface="DejaVu Sans"/>
                <a:cs typeface="DejaVu Sans"/>
              </a:defRPr>
            </a:pPr>
            <a:r>
              <a:rPr sz="1350" b="0" i="0">
                <a:solidFill>
                  <a:srgbClr val="C7D9E5"/>
                </a:solidFill>
                <a:latin typeface="DejaVu Sans"/>
                <a:ea typeface="DejaVu Sans"/>
                <a:cs typeface="DejaVu Sans"/>
              </a:rPr>
              <a:t>computation graph</a:t>
            </a:r>
          </a:p>
        </p:txBody>
      </p:sp>
      <p:sp>
        <p:nvSpPr>
          <p:cNvPr id="14" name="">
            <a:extLst xmlns:a="http://schemas.openxmlformats.org/drawingml/2006/main">
              <a:ext uri="{FF2B5EF4-FFF2-40B4-BE49-F238E27FC236}">
                <a16:creationId xmlns:a16="http://schemas.microsoft.com/office/drawing/2014/main" id="{FEB0F298-1588-4C98-B3F2-907A8996DD0F}"/>
              </a:ext>
            </a:extLst>
          </p:cNvPr>
          <p:cNvSpPr>
            <a:spLocks xmlns:a="http://schemas.openxmlformats.org/drawingml/2006/main" noGrp="1"/>
          </p:cNvSpPr>
          <p:nvPr/>
        </p:nvSpPr>
        <p:spPr>
          <a:xfrm xmlns:a="http://schemas.openxmlformats.org/drawingml/2006/main">
            <a:off x="6477000" y="2000250"/>
            <a:ext cx="2143125" cy="2047875"/>
          </a:xfrm>
          <a:prstGeom xmlns:a="http://schemas.openxmlformats.org/drawingml/2006/main" prst="roundRect">
            <a:avLst>
              <a:gd name="adj" fmla="val 3721"/>
            </a:avLst>
          </a:prstGeom>
          <a:solidFill xmlns:a="http://schemas.openxmlformats.org/drawingml/2006/main">
            <a:srgbClr val="102A43"/>
          </a:solidFill>
          <a:ln xmlns:a="http://schemas.openxmlformats.org/drawingml/2006/main" w="28575">
            <a:solidFill>
              <a:srgbClr val="D97706"/>
            </a:solidFill>
            <a:prstDash val="solid"/>
          </a:ln>
        </p:spPr>
      </p:sp>
      <p:sp>
        <p:nvSpPr>
          <p:cNvPr id="15" name="">
            <a:extLst xmlns:a="http://schemas.openxmlformats.org/drawingml/2006/main">
              <a:ext uri="{FF2B5EF4-FFF2-40B4-BE49-F238E27FC236}">
                <a16:creationId xmlns:a16="http://schemas.microsoft.com/office/drawing/2014/main" id="{659453A5-0E1D-4925-8216-BF50D15774DE}"/>
              </a:ext>
            </a:extLst>
          </p:cNvPr>
          <p:cNvSpPr>
            <a:spLocks xmlns:a="http://schemas.openxmlformats.org/drawingml/2006/main" noGrp="1"/>
          </p:cNvSpPr>
          <p:nvPr/>
        </p:nvSpPr>
        <p:spPr>
          <a:xfrm xmlns:a="http://schemas.openxmlformats.org/drawingml/2006/main">
            <a:off x="6648450" y="2286000"/>
            <a:ext cx="18002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419"/>
          </a:bodyPr>
          <a:lstStyle xmlns:a="http://schemas.openxmlformats.org/drawingml/2006/main"/>
          <a:p xmlns:a="http://schemas.openxmlformats.org/drawingml/2006/main">
            <a:pPr>
              <a:defRPr sz="1800" b="1" i="0">
                <a:solidFill>
                  <a:srgbClr val="FFFFFF"/>
                </a:solidFill>
                <a:latin typeface="DejaVu Sans"/>
                <a:ea typeface="DejaVu Sans"/>
                <a:cs typeface="DejaVu Sans"/>
              </a:defRPr>
            </a:pPr>
            <a:r>
              <a:rPr sz="1800" b="1" i="0">
                <a:solidFill>
                  <a:srgbClr val="FFFFFF"/>
                </a:solidFill>
                <a:latin typeface="DejaVu Sans"/>
                <a:ea typeface="DejaVu Sans"/>
                <a:cs typeface="DejaVu Sans"/>
              </a:rPr>
              <a:t>TensorRT FP16</a:t>
            </a:r>
          </a:p>
        </p:txBody>
      </p:sp>
      <p:sp>
        <p:nvSpPr>
          <p:cNvPr id="16" name="">
            <a:extLst xmlns:a="http://schemas.openxmlformats.org/drawingml/2006/main">
              <a:ext uri="{FF2B5EF4-FFF2-40B4-BE49-F238E27FC236}">
                <a16:creationId xmlns:a16="http://schemas.microsoft.com/office/drawing/2014/main" id="{3A08CE53-306D-4D9C-BA09-3893C8DD0C51}"/>
              </a:ext>
            </a:extLst>
          </p:cNvPr>
          <p:cNvSpPr>
            <a:spLocks xmlns:a="http://schemas.openxmlformats.org/drawingml/2006/main" noGrp="1"/>
          </p:cNvSpPr>
          <p:nvPr/>
        </p:nvSpPr>
        <p:spPr>
          <a:xfrm xmlns:a="http://schemas.openxmlformats.org/drawingml/2006/main">
            <a:off x="6648450" y="2819400"/>
            <a:ext cx="1800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D97706"/>
                </a:solidFill>
                <a:latin typeface="DejaVu Sans"/>
                <a:ea typeface="DejaVu Sans"/>
                <a:cs typeface="DejaVu Sans"/>
              </a:defRPr>
            </a:pPr>
            <a:r>
              <a:rPr sz="1350" b="1" i="0">
                <a:solidFill>
                  <a:srgbClr val="D97706"/>
                </a:solidFill>
                <a:latin typeface="DejaVu Sans"/>
                <a:ea typeface="DejaVu Sans"/>
                <a:cs typeface="DejaVu Sans"/>
              </a:rPr>
              <a:t>.engine</a:t>
            </a:r>
          </a:p>
        </p:txBody>
      </p:sp>
      <p:sp>
        <p:nvSpPr>
          <p:cNvPr id="17" name="">
            <a:extLst xmlns:a="http://schemas.openxmlformats.org/drawingml/2006/main">
              <a:ext uri="{FF2B5EF4-FFF2-40B4-BE49-F238E27FC236}">
                <a16:creationId xmlns:a16="http://schemas.microsoft.com/office/drawing/2014/main" id="{FCF86DB6-E875-4613-8121-C9B52D0990E5}"/>
              </a:ext>
            </a:extLst>
          </p:cNvPr>
          <p:cNvSpPr>
            <a:spLocks xmlns:a="http://schemas.openxmlformats.org/drawingml/2006/main" noGrp="1"/>
          </p:cNvSpPr>
          <p:nvPr/>
        </p:nvSpPr>
        <p:spPr>
          <a:xfrm xmlns:a="http://schemas.openxmlformats.org/drawingml/2006/main">
            <a:off x="6648450" y="3295650"/>
            <a:ext cx="1800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C7D9E5"/>
                </a:solidFill>
                <a:latin typeface="DejaVu Sans"/>
                <a:ea typeface="DejaVu Sans"/>
                <a:cs typeface="DejaVu Sans"/>
              </a:defRPr>
            </a:pPr>
            <a:r>
              <a:rPr sz="1350" b="0" i="0">
                <a:solidFill>
                  <a:srgbClr val="C7D9E5"/>
                </a:solidFill>
                <a:latin typeface="DejaVu Sans"/>
                <a:ea typeface="DejaVu Sans"/>
                <a:cs typeface="DejaVu Sans"/>
              </a:rPr>
              <a:t>Optimized on the</a:t>
            </a:r>
          </a:p>
          <a:p xmlns:a="http://schemas.openxmlformats.org/drawingml/2006/main">
            <a:pPr>
              <a:defRPr sz="1350" b="0" i="0">
                <a:solidFill>
                  <a:srgbClr val="C7D9E5"/>
                </a:solidFill>
                <a:latin typeface="DejaVu Sans"/>
                <a:ea typeface="DejaVu Sans"/>
                <a:cs typeface="DejaVu Sans"/>
              </a:defRPr>
            </a:pPr>
            <a:r>
              <a:rPr sz="1350" b="0" i="0">
                <a:solidFill>
                  <a:srgbClr val="C7D9E5"/>
                </a:solidFill>
                <a:latin typeface="DejaVu Sans"/>
                <a:ea typeface="DejaVu Sans"/>
                <a:cs typeface="DejaVu Sans"/>
              </a:rPr>
              <a:t>target Jetson</a:t>
            </a:r>
          </a:p>
        </p:txBody>
      </p:sp>
      <p:sp>
        <p:nvSpPr>
          <p:cNvPr id="18" name="">
            <a:extLst xmlns:a="http://schemas.openxmlformats.org/drawingml/2006/main">
              <a:ext uri="{FF2B5EF4-FFF2-40B4-BE49-F238E27FC236}">
                <a16:creationId xmlns:a16="http://schemas.microsoft.com/office/drawing/2014/main" id="{87691462-521E-4964-AF69-8815A3324253}"/>
              </a:ext>
            </a:extLst>
          </p:cNvPr>
          <p:cNvSpPr>
            <a:spLocks xmlns:a="http://schemas.openxmlformats.org/drawingml/2006/main" noGrp="1"/>
          </p:cNvSpPr>
          <p:nvPr/>
        </p:nvSpPr>
        <p:spPr>
          <a:xfrm xmlns:a="http://schemas.openxmlformats.org/drawingml/2006/main">
            <a:off x="9382125" y="2000250"/>
            <a:ext cx="2143125" cy="2047875"/>
          </a:xfrm>
          <a:prstGeom xmlns:a="http://schemas.openxmlformats.org/drawingml/2006/main" prst="roundRect">
            <a:avLst>
              <a:gd name="adj" fmla="val 3721"/>
            </a:avLst>
          </a:prstGeom>
          <a:solidFill xmlns:a="http://schemas.openxmlformats.org/drawingml/2006/main">
            <a:srgbClr val="102A43"/>
          </a:solidFill>
          <a:ln xmlns:a="http://schemas.openxmlformats.org/drawingml/2006/main" w="28575">
            <a:solidFill>
              <a:srgbClr val="16A34A"/>
            </a:solidFill>
            <a:prstDash val="solid"/>
          </a:ln>
        </p:spPr>
      </p:sp>
      <p:sp>
        <p:nvSpPr>
          <p:cNvPr id="19" name="">
            <a:extLst xmlns:a="http://schemas.openxmlformats.org/drawingml/2006/main">
              <a:ext uri="{FF2B5EF4-FFF2-40B4-BE49-F238E27FC236}">
                <a16:creationId xmlns:a16="http://schemas.microsoft.com/office/drawing/2014/main" id="{627240B9-97BA-48A4-8C98-EF722A02EBAD}"/>
              </a:ext>
            </a:extLst>
          </p:cNvPr>
          <p:cNvSpPr>
            <a:spLocks xmlns:a="http://schemas.openxmlformats.org/drawingml/2006/main" noGrp="1"/>
          </p:cNvSpPr>
          <p:nvPr/>
        </p:nvSpPr>
        <p:spPr>
          <a:xfrm xmlns:a="http://schemas.openxmlformats.org/drawingml/2006/main">
            <a:off x="9553575" y="2286000"/>
            <a:ext cx="18002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1" i="0">
                <a:solidFill>
                  <a:srgbClr val="FFFFFF"/>
                </a:solidFill>
                <a:latin typeface="DejaVu Sans"/>
                <a:ea typeface="DejaVu Sans"/>
                <a:cs typeface="DejaVu Sans"/>
              </a:defRPr>
            </a:pPr>
            <a:r>
              <a:rPr sz="1800" b="1" i="0">
                <a:solidFill>
                  <a:srgbClr val="FFFFFF"/>
                </a:solidFill>
                <a:latin typeface="DejaVu Sans"/>
                <a:ea typeface="DejaVu Sans"/>
                <a:cs typeface="DejaVu Sans"/>
              </a:rPr>
              <a:t>ROS 2</a:t>
            </a:r>
          </a:p>
        </p:txBody>
      </p:sp>
      <p:sp>
        <p:nvSpPr>
          <p:cNvPr id="20" name="">
            <a:extLst xmlns:a="http://schemas.openxmlformats.org/drawingml/2006/main">
              <a:ext uri="{FF2B5EF4-FFF2-40B4-BE49-F238E27FC236}">
                <a16:creationId xmlns:a16="http://schemas.microsoft.com/office/drawing/2014/main" id="{E1DFBABA-954B-4730-8655-8B7BB870A7A6}"/>
              </a:ext>
            </a:extLst>
          </p:cNvPr>
          <p:cNvSpPr>
            <a:spLocks xmlns:a="http://schemas.openxmlformats.org/drawingml/2006/main" noGrp="1"/>
          </p:cNvSpPr>
          <p:nvPr/>
        </p:nvSpPr>
        <p:spPr>
          <a:xfrm xmlns:a="http://schemas.openxmlformats.org/drawingml/2006/main">
            <a:off x="9553575" y="2819400"/>
            <a:ext cx="1800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6A34A"/>
                </a:solidFill>
                <a:latin typeface="DejaVu Sans"/>
                <a:ea typeface="DejaVu Sans"/>
                <a:cs typeface="DejaVu Sans"/>
              </a:defRPr>
            </a:pPr>
            <a:r>
              <a:rPr sz="1350" b="1" i="0">
                <a:solidFill>
                  <a:srgbClr val="16A34A"/>
                </a:solidFill>
                <a:latin typeface="DejaVu Sans"/>
                <a:ea typeface="DejaVu Sans"/>
                <a:cs typeface="DejaVu Sans"/>
              </a:rPr>
              <a:t>live node</a:t>
            </a:r>
          </a:p>
        </p:txBody>
      </p:sp>
      <p:sp>
        <p:nvSpPr>
          <p:cNvPr id="21" name="">
            <a:extLst xmlns:a="http://schemas.openxmlformats.org/drawingml/2006/main">
              <a:ext uri="{FF2B5EF4-FFF2-40B4-BE49-F238E27FC236}">
                <a16:creationId xmlns:a16="http://schemas.microsoft.com/office/drawing/2014/main" id="{0A30A931-0E42-4706-BAD7-82DE5BF78E84}"/>
              </a:ext>
            </a:extLst>
          </p:cNvPr>
          <p:cNvSpPr>
            <a:spLocks xmlns:a="http://schemas.openxmlformats.org/drawingml/2006/main" noGrp="1"/>
          </p:cNvSpPr>
          <p:nvPr/>
        </p:nvSpPr>
        <p:spPr>
          <a:xfrm xmlns:a="http://schemas.openxmlformats.org/drawingml/2006/main">
            <a:off x="9553575" y="3295650"/>
            <a:ext cx="1800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C7D9E5"/>
                </a:solidFill>
                <a:latin typeface="DejaVu Sans"/>
                <a:ea typeface="DejaVu Sans"/>
                <a:cs typeface="DejaVu Sans"/>
              </a:defRPr>
            </a:pPr>
            <a:r>
              <a:rPr sz="1350" b="0" i="0">
                <a:solidFill>
                  <a:srgbClr val="C7D9E5"/>
                </a:solidFill>
                <a:latin typeface="DejaVu Sans"/>
                <a:ea typeface="DejaVu Sans"/>
                <a:cs typeface="DejaVu Sans"/>
              </a:rPr>
              <a:t>Camera input and</a:t>
            </a:r>
          </a:p>
          <a:p xmlns:a="http://schemas.openxmlformats.org/drawingml/2006/main">
            <a:pPr>
              <a:defRPr sz="1350" b="0" i="0">
                <a:solidFill>
                  <a:srgbClr val="C7D9E5"/>
                </a:solidFill>
                <a:latin typeface="DejaVu Sans"/>
                <a:ea typeface="DejaVu Sans"/>
                <a:cs typeface="DejaVu Sans"/>
              </a:defRPr>
            </a:pPr>
            <a:r>
              <a:rPr sz="1350" b="0" i="0">
                <a:solidFill>
                  <a:srgbClr val="C7D9E5"/>
                </a:solidFill>
                <a:latin typeface="DejaVu Sans"/>
                <a:ea typeface="DejaVu Sans"/>
                <a:cs typeface="DejaVu Sans"/>
              </a:rPr>
              <a:t>detection output</a:t>
            </a:r>
          </a:p>
        </p:txBody>
      </p:sp>
      <p:cxnSp>
        <p:nvCxnSpPr>
          <p:cNvPr id="47" name=""/>
          <p:cNvCxnSpPr>
            <a:stCxn xmlns:a="http://schemas.openxmlformats.org/drawingml/2006/main" id="6" idx="3"/>
            <a:endCxn xmlns:a="http://schemas.openxmlformats.org/drawingml/2006/main" id="10" idx="1"/>
          </p:cNvCxnSpPr>
          <p:nvPr/>
        </p:nvCxnSpPr>
        <p:spPr>
          <a:xfrm xmlns:a="http://schemas.openxmlformats.org/drawingml/2006/main">
            <a:off x="2809875" y="3024188"/>
            <a:ext cx="762000" cy="0"/>
          </a:xfrm>
          <a:prstGeom xmlns:a="http://schemas.openxmlformats.org/drawingml/2006/main" prst="straightConnector1">
            <a:avLst/>
          </a:prstGeom>
          <a:ln xmlns:a="http://schemas.openxmlformats.org/drawingml/2006/main" w="28575">
            <a:solidFill>
              <a:srgbClr val="14B8A6"/>
            </a:solidFill>
            <a:prstDash val="solid"/>
            <a:tailEnd type="triangle" w="med" len="med"/>
          </a:ln>
        </p:spPr>
      </p:cxnSp>
      <p:cxnSp>
        <p:nvCxnSpPr>
          <p:cNvPr id="48" name=""/>
          <p:cNvCxnSpPr>
            <a:stCxn xmlns:a="http://schemas.openxmlformats.org/drawingml/2006/main" id="10" idx="3"/>
            <a:endCxn xmlns:a="http://schemas.openxmlformats.org/drawingml/2006/main" id="14" idx="1"/>
          </p:cNvCxnSpPr>
          <p:nvPr/>
        </p:nvCxnSpPr>
        <p:spPr>
          <a:xfrm xmlns:a="http://schemas.openxmlformats.org/drawingml/2006/main">
            <a:off x="5715000" y="3024188"/>
            <a:ext cx="762000" cy="0"/>
          </a:xfrm>
          <a:prstGeom xmlns:a="http://schemas.openxmlformats.org/drawingml/2006/main" prst="straightConnector1">
            <a:avLst/>
          </a:prstGeom>
          <a:ln xmlns:a="http://schemas.openxmlformats.org/drawingml/2006/main" w="28575">
            <a:solidFill>
              <a:srgbClr val="14B8A6"/>
            </a:solidFill>
            <a:prstDash val="solid"/>
            <a:tailEnd type="triangle" w="med" len="med"/>
          </a:ln>
        </p:spPr>
      </p:cxnSp>
      <p:cxnSp>
        <p:nvCxnSpPr>
          <p:cNvPr id="49" name=""/>
          <p:cNvCxnSpPr>
            <a:stCxn xmlns:a="http://schemas.openxmlformats.org/drawingml/2006/main" id="14" idx="3"/>
            <a:endCxn xmlns:a="http://schemas.openxmlformats.org/drawingml/2006/main" id="18" idx="1"/>
          </p:cNvCxnSpPr>
          <p:nvPr/>
        </p:nvCxnSpPr>
        <p:spPr>
          <a:xfrm xmlns:a="http://schemas.openxmlformats.org/drawingml/2006/main">
            <a:off x="8620125" y="3024188"/>
            <a:ext cx="762000" cy="0"/>
          </a:xfrm>
          <a:prstGeom xmlns:a="http://schemas.openxmlformats.org/drawingml/2006/main" prst="straightConnector1">
            <a:avLst/>
          </a:prstGeom>
          <a:ln xmlns:a="http://schemas.openxmlformats.org/drawingml/2006/main" w="28575">
            <a:solidFill>
              <a:srgbClr val="14B8A6"/>
            </a:solidFill>
            <a:prstDash val="solid"/>
            <a:tailEnd type="triangle" w="med" len="med"/>
          </a:ln>
        </p:spPr>
      </p:cxnSp>
      <p:sp>
        <p:nvSpPr>
          <p:cNvPr id="25" name="">
            <a:extLst xmlns:a="http://schemas.openxmlformats.org/drawingml/2006/main">
              <a:ext uri="{FF2B5EF4-FFF2-40B4-BE49-F238E27FC236}">
                <a16:creationId xmlns:a16="http://schemas.microsoft.com/office/drawing/2014/main" id="{85A88DB7-2265-41F8-BE13-AD01D80998E6}"/>
              </a:ext>
            </a:extLst>
          </p:cNvPr>
          <p:cNvSpPr>
            <a:spLocks xmlns:a="http://schemas.openxmlformats.org/drawingml/2006/main" noGrp="1"/>
          </p:cNvSpPr>
          <p:nvPr/>
        </p:nvSpPr>
        <p:spPr>
          <a:xfrm xmlns:a="http://schemas.openxmlformats.org/drawingml/2006/main">
            <a:off x="1428750" y="4857750"/>
            <a:ext cx="933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950" b="1" i="0">
                <a:solidFill>
                  <a:srgbClr val="FFFFFF"/>
                </a:solidFill>
                <a:latin typeface="DejaVu Sans"/>
                <a:ea typeface="DejaVu Sans"/>
                <a:cs typeface="DejaVu Sans"/>
              </a:defRPr>
            </a:pPr>
            <a:r>
              <a:rPr sz="1950" b="1" i="0">
                <a:solidFill>
                  <a:srgbClr val="FFFFFF"/>
                </a:solidFill>
                <a:latin typeface="DejaVu Sans"/>
                <a:ea typeface="DejaVu Sans"/>
                <a:cs typeface="DejaVu Sans"/>
              </a:rPr>
              <a:t>The desktop learns the weights. The Jetson uses them to predict. Live inference does not retrain the model.</a:t>
            </a:r>
          </a:p>
        </p:txBody>
      </p:sp>
    </p:spTree>
    <p:extLst>
      <p:ext uri="{BB962C8B-B14F-4D97-AF65-F5344CB8AC3E}">
        <p14:creationId xmlns:p14="http://schemas.microsoft.com/office/powerpoint/2010/main" val="1536088070"/>
      </p:ext>
    </p:extLst>
  </p:cSld>
</p:sld>
</file>

<file path=ppt/slides/slide11.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FA86DA3-84A4-4323-9130-A580BE8BA596}"/>
              </a:ext>
            </a:extLst>
          </p:cNvPr>
          <p:cNvSpPr>
            <a:spLocks xmlns:a="http://schemas.openxmlformats.org/drawingml/2006/main" noGrp="1"/>
          </p:cNvSpPr>
          <p:nvPr/>
        </p:nvSpPr>
        <p:spPr>
          <a:xfrm xmlns:a="http://schemas.openxmlformats.org/drawingml/2006/main">
            <a:off x="609600" y="400050"/>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i="0">
                <a:solidFill>
                  <a:srgbClr val="142735"/>
                </a:solidFill>
                <a:latin typeface="DejaVu Sans"/>
                <a:ea typeface="DejaVu Sans"/>
                <a:cs typeface="DejaVu Sans"/>
              </a:defRPr>
            </a:pPr>
            <a:r>
              <a:rPr sz="2550" b="1" i="0">
                <a:solidFill>
                  <a:srgbClr val="142735"/>
                </a:solidFill>
                <a:latin typeface="DejaVu Sans"/>
                <a:ea typeface="DejaVu Sans"/>
                <a:cs typeface="DejaVu Sans"/>
              </a:rPr>
              <a:t>Why add a geometry filter?</a:t>
            </a:r>
          </a:p>
        </p:txBody>
      </p:sp>
      <p:sp>
        <p:nvSpPr>
          <p:cNvPr id="2" name="">
            <a:extLst xmlns:a="http://schemas.openxmlformats.org/drawingml/2006/main">
              <a:ext uri="{FF2B5EF4-FFF2-40B4-BE49-F238E27FC236}">
                <a16:creationId xmlns:a16="http://schemas.microsoft.com/office/drawing/2014/main" id="{A0904CBF-D3C3-4D69-AA07-E216B6080013}"/>
              </a:ext>
            </a:extLst>
          </p:cNvPr>
          <p:cNvSpPr>
            <a:spLocks xmlns:a="http://schemas.openxmlformats.org/drawingml/2006/main" noGrp="1"/>
          </p:cNvSpPr>
          <p:nvPr/>
        </p:nvSpPr>
        <p:spPr>
          <a:xfrm xmlns:a="http://schemas.openxmlformats.org/drawingml/2006/main">
            <a:off x="609600" y="1028700"/>
            <a:ext cx="819150" cy="57150"/>
          </a:xfrm>
          <a:prstGeom xmlns:a="http://schemas.openxmlformats.org/drawingml/2006/main" prst="rect">
            <a:avLst/>
          </a:prstGeom>
          <a:solidFill xmlns:a="http://schemas.openxmlformats.org/drawingml/2006/main">
            <a:srgbClr val="14B8A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F220065-9EEB-4380-B40F-7D745B10EDEB}"/>
              </a:ext>
            </a:extLst>
          </p:cNvPr>
          <p:cNvSpPr>
            <a:spLocks xmlns:a="http://schemas.openxmlformats.org/drawingml/2006/main" noGrp="1"/>
          </p:cNvSpPr>
          <p:nvPr/>
        </p:nvSpPr>
        <p:spPr>
          <a:xfrm xmlns:a="http://schemas.openxmlformats.org/drawingml/2006/main">
            <a:off x="11144250" y="45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26777"/>
                </a:solidFill>
                <a:latin typeface="DejaVu Sans"/>
                <a:ea typeface="DejaVu Sans"/>
                <a:cs typeface="DejaVu Sans"/>
              </a:defRPr>
            </a:pPr>
            <a:r>
              <a:rPr sz="1200" b="1" i="0">
                <a:solidFill>
                  <a:srgbClr val="526777"/>
                </a:solidFill>
                <a:latin typeface="DejaVu Sans"/>
                <a:ea typeface="DejaVu Sans"/>
                <a:cs typeface="DejaVu Sans"/>
              </a:rPr>
              <a:t>11</a:t>
            </a:r>
          </a:p>
        </p:txBody>
      </p:sp>
      <p:sp>
        <p:nvSpPr>
          <p:cNvPr id="4" name="">
            <a:extLst xmlns:a="http://schemas.openxmlformats.org/drawingml/2006/main">
              <a:ext uri="{FF2B5EF4-FFF2-40B4-BE49-F238E27FC236}">
                <a16:creationId xmlns:a16="http://schemas.microsoft.com/office/drawing/2014/main" id="{3FB7205B-B546-41BD-9733-2BDA6E944CCC}"/>
              </a:ext>
            </a:extLst>
          </p:cNvPr>
          <p:cNvSpPr>
            <a:spLocks xmlns:a="http://schemas.openxmlformats.org/drawingml/2006/main" noGrp="1"/>
          </p:cNvSpPr>
          <p:nvPr/>
        </p:nvSpPr>
        <p:spPr>
          <a:xfrm xmlns:a="http://schemas.openxmlformats.org/drawingml/2006/main">
            <a:off x="609600" y="143827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400" b="1" i="0">
                <a:solidFill>
                  <a:srgbClr val="142735"/>
                </a:solidFill>
                <a:latin typeface="DejaVu Sans"/>
                <a:ea typeface="DejaVu Sans"/>
                <a:cs typeface="DejaVu Sans"/>
              </a:defRPr>
            </a:pPr>
            <a:r>
              <a:rPr sz="2400" b="1" i="0">
                <a:solidFill>
                  <a:srgbClr val="142735"/>
                </a:solidFill>
                <a:latin typeface="DejaVu Sans"/>
                <a:ea typeface="DejaVu Sans"/>
                <a:cs typeface="DejaVu Sans"/>
              </a:rPr>
              <a:t>A colored region can look convincing without being a cube.</a:t>
            </a:r>
          </a:p>
        </p:txBody>
      </p:sp>
      <p:sp>
        <p:nvSpPr>
          <p:cNvPr id="5" name="">
            <a:extLst xmlns:a="http://schemas.openxmlformats.org/drawingml/2006/main">
              <a:ext uri="{FF2B5EF4-FFF2-40B4-BE49-F238E27FC236}">
                <a16:creationId xmlns:a16="http://schemas.microsoft.com/office/drawing/2014/main" id="{AB39538A-2283-49AF-840E-5735AE865504}"/>
              </a:ext>
            </a:extLst>
          </p:cNvPr>
          <p:cNvSpPr>
            <a:spLocks xmlns:a="http://schemas.openxmlformats.org/drawingml/2006/main" noGrp="1"/>
          </p:cNvSpPr>
          <p:nvPr/>
        </p:nvSpPr>
        <p:spPr>
          <a:xfrm xmlns:a="http://schemas.openxmlformats.org/drawingml/2006/main">
            <a:off x="609600" y="2571750"/>
            <a:ext cx="2238375" cy="163830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19050">
            <a:solidFill>
              <a:srgbClr val="14B8A6"/>
            </a:solidFill>
            <a:prstDash val="solid"/>
          </a:ln>
        </p:spPr>
      </p:sp>
      <p:sp>
        <p:nvSpPr>
          <p:cNvPr id="6" name="">
            <a:extLst xmlns:a="http://schemas.openxmlformats.org/drawingml/2006/main">
              <a:ext uri="{FF2B5EF4-FFF2-40B4-BE49-F238E27FC236}">
                <a16:creationId xmlns:a16="http://schemas.microsoft.com/office/drawing/2014/main" id="{5F9724EE-645B-44BB-BF7D-1BBBC9DC994A}"/>
              </a:ext>
            </a:extLst>
          </p:cNvPr>
          <p:cNvSpPr>
            <a:spLocks xmlns:a="http://schemas.openxmlformats.org/drawingml/2006/main" noGrp="1"/>
          </p:cNvSpPr>
          <p:nvPr/>
        </p:nvSpPr>
        <p:spPr>
          <a:xfrm xmlns:a="http://schemas.openxmlformats.org/drawingml/2006/main">
            <a:off x="752475" y="2762250"/>
            <a:ext cx="1952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3974"/>
          </a:bodyPr>
          <a:lstStyle xmlns:a="http://schemas.openxmlformats.org/drawingml/2006/main"/>
          <a:p xmlns:a="http://schemas.openxmlformats.org/drawingml/2006/main">
            <a:pPr>
              <a:defRPr sz="1950" b="1" i="0">
                <a:solidFill>
                  <a:srgbClr val="142735"/>
                </a:solidFill>
                <a:latin typeface="DejaVu Sans"/>
                <a:ea typeface="DejaVu Sans"/>
                <a:cs typeface="DejaVu Sans"/>
              </a:defRPr>
            </a:pPr>
            <a:r>
              <a:rPr sz="1950" b="1" i="0">
                <a:solidFill>
                  <a:srgbClr val="142735"/>
                </a:solidFill>
                <a:latin typeface="DejaVu Sans"/>
                <a:ea typeface="DejaVu Sans"/>
                <a:cs typeface="DejaVu Sans"/>
              </a:rPr>
              <a:t>YOLO candidate</a:t>
            </a:r>
          </a:p>
        </p:txBody>
      </p:sp>
      <p:sp>
        <p:nvSpPr>
          <p:cNvPr id="7" name="">
            <a:extLst xmlns:a="http://schemas.openxmlformats.org/drawingml/2006/main">
              <a:ext uri="{FF2B5EF4-FFF2-40B4-BE49-F238E27FC236}">
                <a16:creationId xmlns:a16="http://schemas.microsoft.com/office/drawing/2014/main" id="{4A47C5D0-2EE6-4807-B4BE-CFB218651241}"/>
              </a:ext>
            </a:extLst>
          </p:cNvPr>
          <p:cNvSpPr>
            <a:spLocks xmlns:a="http://schemas.openxmlformats.org/drawingml/2006/main" noGrp="1"/>
          </p:cNvSpPr>
          <p:nvPr/>
        </p:nvSpPr>
        <p:spPr>
          <a:xfrm xmlns:a="http://schemas.openxmlformats.org/drawingml/2006/main">
            <a:off x="752475" y="3457575"/>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Possible cube</a:t>
            </a:r>
          </a:p>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from the image</a:t>
            </a:r>
          </a:p>
        </p:txBody>
      </p:sp>
      <p:sp>
        <p:nvSpPr>
          <p:cNvPr id="8" name="">
            <a:extLst xmlns:a="http://schemas.openxmlformats.org/drawingml/2006/main">
              <a:ext uri="{FF2B5EF4-FFF2-40B4-BE49-F238E27FC236}">
                <a16:creationId xmlns:a16="http://schemas.microsoft.com/office/drawing/2014/main" id="{DE1EBB23-AB50-41D4-BA00-5733D7D51398}"/>
              </a:ext>
            </a:extLst>
          </p:cNvPr>
          <p:cNvSpPr>
            <a:spLocks xmlns:a="http://schemas.openxmlformats.org/drawingml/2006/main" noGrp="1"/>
          </p:cNvSpPr>
          <p:nvPr/>
        </p:nvSpPr>
        <p:spPr>
          <a:xfrm xmlns:a="http://schemas.openxmlformats.org/drawingml/2006/main">
            <a:off x="3514725" y="2571750"/>
            <a:ext cx="2238375" cy="163830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19050">
            <a:solidFill>
              <a:srgbClr val="14B8A6"/>
            </a:solidFill>
            <a:prstDash val="solid"/>
          </a:ln>
        </p:spPr>
      </p:sp>
      <p:sp>
        <p:nvSpPr>
          <p:cNvPr id="9" name="">
            <a:extLst xmlns:a="http://schemas.openxmlformats.org/drawingml/2006/main">
              <a:ext uri="{FF2B5EF4-FFF2-40B4-BE49-F238E27FC236}">
                <a16:creationId xmlns:a16="http://schemas.microsoft.com/office/drawing/2014/main" id="{EAB35473-2599-4763-8217-D21D7F5B68CB}"/>
              </a:ext>
            </a:extLst>
          </p:cNvPr>
          <p:cNvSpPr>
            <a:spLocks xmlns:a="http://schemas.openxmlformats.org/drawingml/2006/main" noGrp="1"/>
          </p:cNvSpPr>
          <p:nvPr/>
        </p:nvSpPr>
        <p:spPr>
          <a:xfrm xmlns:a="http://schemas.openxmlformats.org/drawingml/2006/main">
            <a:off x="3657600" y="2762250"/>
            <a:ext cx="1952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3974"/>
          </a:bodyPr>
          <a:lstStyle xmlns:a="http://schemas.openxmlformats.org/drawingml/2006/main"/>
          <a:p xmlns:a="http://schemas.openxmlformats.org/drawingml/2006/main">
            <a:pPr>
              <a:defRPr sz="1950" b="1" i="0">
                <a:solidFill>
                  <a:srgbClr val="142735"/>
                </a:solidFill>
                <a:latin typeface="DejaVu Sans"/>
                <a:ea typeface="DejaVu Sans"/>
                <a:cs typeface="DejaVu Sans"/>
              </a:defRPr>
            </a:pPr>
            <a:r>
              <a:rPr sz="1950" b="1" i="0">
                <a:solidFill>
                  <a:srgbClr val="142735"/>
                </a:solidFill>
                <a:latin typeface="DejaVu Sans"/>
                <a:ea typeface="DejaVu Sans"/>
                <a:cs typeface="DejaVu Sans"/>
              </a:rPr>
              <a:t>Depth evidence</a:t>
            </a:r>
          </a:p>
        </p:txBody>
      </p:sp>
      <p:sp>
        <p:nvSpPr>
          <p:cNvPr id="10" name="">
            <a:extLst xmlns:a="http://schemas.openxmlformats.org/drawingml/2006/main">
              <a:ext uri="{FF2B5EF4-FFF2-40B4-BE49-F238E27FC236}">
                <a16:creationId xmlns:a16="http://schemas.microsoft.com/office/drawing/2014/main" id="{3CDA579B-2DED-43DB-ACA4-86DC77CE42E0}"/>
              </a:ext>
            </a:extLst>
          </p:cNvPr>
          <p:cNvSpPr>
            <a:spLocks xmlns:a="http://schemas.openxmlformats.org/drawingml/2006/main" noGrp="1"/>
          </p:cNvSpPr>
          <p:nvPr/>
        </p:nvSpPr>
        <p:spPr>
          <a:xfrm xmlns:a="http://schemas.openxmlformats.org/drawingml/2006/main">
            <a:off x="3657600" y="3457575"/>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569"/>
          </a:bodyPr>
          <a:lstStyle xmlns:a="http://schemas.openxmlformats.org/drawingml/2006/main"/>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Distances inside</a:t>
            </a:r>
          </a:p>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and around its box</a:t>
            </a:r>
          </a:p>
        </p:txBody>
      </p:sp>
      <p:sp>
        <p:nvSpPr>
          <p:cNvPr id="11" name="">
            <a:extLst xmlns:a="http://schemas.openxmlformats.org/drawingml/2006/main">
              <a:ext uri="{FF2B5EF4-FFF2-40B4-BE49-F238E27FC236}">
                <a16:creationId xmlns:a16="http://schemas.microsoft.com/office/drawing/2014/main" id="{CB7E759A-EDE3-4A21-91D7-5862D453790B}"/>
              </a:ext>
            </a:extLst>
          </p:cNvPr>
          <p:cNvSpPr>
            <a:spLocks xmlns:a="http://schemas.openxmlformats.org/drawingml/2006/main" noGrp="1"/>
          </p:cNvSpPr>
          <p:nvPr/>
        </p:nvSpPr>
        <p:spPr>
          <a:xfrm xmlns:a="http://schemas.openxmlformats.org/drawingml/2006/main">
            <a:off x="6419850" y="2571750"/>
            <a:ext cx="2238375" cy="163830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19050">
            <a:solidFill>
              <a:srgbClr val="14B8A6"/>
            </a:solidFill>
            <a:prstDash val="solid"/>
          </a:ln>
        </p:spPr>
      </p:sp>
      <p:sp>
        <p:nvSpPr>
          <p:cNvPr id="12" name="">
            <a:extLst xmlns:a="http://schemas.openxmlformats.org/drawingml/2006/main">
              <a:ext uri="{FF2B5EF4-FFF2-40B4-BE49-F238E27FC236}">
                <a16:creationId xmlns:a16="http://schemas.microsoft.com/office/drawing/2014/main" id="{4C9DDBF6-337B-4638-A48E-4C187E1A2CDA}"/>
              </a:ext>
            </a:extLst>
          </p:cNvPr>
          <p:cNvSpPr>
            <a:spLocks xmlns:a="http://schemas.openxmlformats.org/drawingml/2006/main" noGrp="1"/>
          </p:cNvSpPr>
          <p:nvPr/>
        </p:nvSpPr>
        <p:spPr>
          <a:xfrm xmlns:a="http://schemas.openxmlformats.org/drawingml/2006/main">
            <a:off x="6562725" y="2762250"/>
            <a:ext cx="1952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3974"/>
          </a:bodyPr>
          <a:lstStyle xmlns:a="http://schemas.openxmlformats.org/drawingml/2006/main"/>
          <a:p xmlns:a="http://schemas.openxmlformats.org/drawingml/2006/main">
            <a:pPr>
              <a:defRPr sz="1950" b="1" i="0">
                <a:solidFill>
                  <a:srgbClr val="142735"/>
                </a:solidFill>
                <a:latin typeface="DejaVu Sans"/>
                <a:ea typeface="DejaVu Sans"/>
                <a:cs typeface="DejaVu Sans"/>
              </a:defRPr>
            </a:pPr>
            <a:r>
              <a:rPr sz="1950" b="1" i="0">
                <a:solidFill>
                  <a:srgbClr val="142735"/>
                </a:solidFill>
                <a:latin typeface="DejaVu Sans"/>
                <a:ea typeface="DejaVu Sans"/>
                <a:cs typeface="DejaVu Sans"/>
              </a:rPr>
              <a:t>Geometry check</a:t>
            </a:r>
          </a:p>
        </p:txBody>
      </p:sp>
      <p:sp>
        <p:nvSpPr>
          <p:cNvPr id="13" name="">
            <a:extLst xmlns:a="http://schemas.openxmlformats.org/drawingml/2006/main">
              <a:ext uri="{FF2B5EF4-FFF2-40B4-BE49-F238E27FC236}">
                <a16:creationId xmlns:a16="http://schemas.microsoft.com/office/drawing/2014/main" id="{272E1846-09BE-4DE2-A6EA-4EC422482F57}"/>
              </a:ext>
            </a:extLst>
          </p:cNvPr>
          <p:cNvSpPr>
            <a:spLocks xmlns:a="http://schemas.openxmlformats.org/drawingml/2006/main" noGrp="1"/>
          </p:cNvSpPr>
          <p:nvPr/>
        </p:nvSpPr>
        <p:spPr>
          <a:xfrm xmlns:a="http://schemas.openxmlformats.org/drawingml/2006/main">
            <a:off x="6562725" y="3457575"/>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240"/>
          </a:bodyPr>
          <a:lstStyle xmlns:a="http://schemas.openxmlformats.org/drawingml/2006/main"/>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Raised surface</a:t>
            </a:r>
          </a:p>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and suitable shape?</a:t>
            </a:r>
          </a:p>
        </p:txBody>
      </p:sp>
      <p:sp>
        <p:nvSpPr>
          <p:cNvPr id="14" name="">
            <a:extLst xmlns:a="http://schemas.openxmlformats.org/drawingml/2006/main">
              <a:ext uri="{FF2B5EF4-FFF2-40B4-BE49-F238E27FC236}">
                <a16:creationId xmlns:a16="http://schemas.microsoft.com/office/drawing/2014/main" id="{3645E185-1D0D-4FF4-8390-D98E18A60301}"/>
              </a:ext>
            </a:extLst>
          </p:cNvPr>
          <p:cNvSpPr>
            <a:spLocks xmlns:a="http://schemas.openxmlformats.org/drawingml/2006/main" noGrp="1"/>
          </p:cNvSpPr>
          <p:nvPr/>
        </p:nvSpPr>
        <p:spPr>
          <a:xfrm xmlns:a="http://schemas.openxmlformats.org/drawingml/2006/main">
            <a:off x="9324975" y="2571750"/>
            <a:ext cx="2238375" cy="163830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19050">
            <a:solidFill>
              <a:srgbClr val="14B8A6"/>
            </a:solidFill>
            <a:prstDash val="solid"/>
          </a:ln>
        </p:spPr>
      </p:sp>
      <p:sp>
        <p:nvSpPr>
          <p:cNvPr id="15" name="">
            <a:extLst xmlns:a="http://schemas.openxmlformats.org/drawingml/2006/main">
              <a:ext uri="{FF2B5EF4-FFF2-40B4-BE49-F238E27FC236}">
                <a16:creationId xmlns:a16="http://schemas.microsoft.com/office/drawing/2014/main" id="{5C1C3324-B7C4-4C1B-81F5-81C6A97D0626}"/>
              </a:ext>
            </a:extLst>
          </p:cNvPr>
          <p:cNvSpPr>
            <a:spLocks xmlns:a="http://schemas.openxmlformats.org/drawingml/2006/main" noGrp="1"/>
          </p:cNvSpPr>
          <p:nvPr/>
        </p:nvSpPr>
        <p:spPr>
          <a:xfrm xmlns:a="http://schemas.openxmlformats.org/drawingml/2006/main">
            <a:off x="9467850" y="2762250"/>
            <a:ext cx="1952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363"/>
          </a:bodyPr>
          <a:lstStyle xmlns:a="http://schemas.openxmlformats.org/drawingml/2006/main"/>
          <a:p xmlns:a="http://schemas.openxmlformats.org/drawingml/2006/main">
            <a:pPr>
              <a:defRPr sz="1950" b="1" i="0">
                <a:solidFill>
                  <a:srgbClr val="142735"/>
                </a:solidFill>
                <a:latin typeface="DejaVu Sans"/>
                <a:ea typeface="DejaVu Sans"/>
                <a:cs typeface="DejaVu Sans"/>
              </a:defRPr>
            </a:pPr>
            <a:r>
              <a:rPr sz="1950" b="1" i="0">
                <a:solidFill>
                  <a:srgbClr val="142735"/>
                </a:solidFill>
                <a:latin typeface="DejaVu Sans"/>
                <a:ea typeface="DejaVu Sans"/>
                <a:cs typeface="DejaVu Sans"/>
              </a:rPr>
              <a:t>Keep or reject</a:t>
            </a:r>
          </a:p>
        </p:txBody>
      </p:sp>
      <p:sp>
        <p:nvSpPr>
          <p:cNvPr id="16" name="">
            <a:extLst xmlns:a="http://schemas.openxmlformats.org/drawingml/2006/main">
              <a:ext uri="{FF2B5EF4-FFF2-40B4-BE49-F238E27FC236}">
                <a16:creationId xmlns:a16="http://schemas.microsoft.com/office/drawing/2014/main" id="{7C1AD2A0-9C33-41D5-B41B-A31D83B29529}"/>
              </a:ext>
            </a:extLst>
          </p:cNvPr>
          <p:cNvSpPr>
            <a:spLocks xmlns:a="http://schemas.openxmlformats.org/drawingml/2006/main" noGrp="1"/>
          </p:cNvSpPr>
          <p:nvPr/>
        </p:nvSpPr>
        <p:spPr>
          <a:xfrm xmlns:a="http://schemas.openxmlformats.org/drawingml/2006/main">
            <a:off x="9467850" y="3457575"/>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93"/>
          </a:bodyPr>
          <a:lstStyle xmlns:a="http://schemas.openxmlformats.org/drawingml/2006/main"/>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Publish only the</a:t>
            </a:r>
          </a:p>
          <a:p xmlns:a="http://schemas.openxmlformats.org/drawingml/2006/main">
            <a:pPr>
              <a:defRPr sz="1575" b="0" i="0">
                <a:solidFill>
                  <a:srgbClr val="526777"/>
                </a:solidFill>
                <a:latin typeface="DejaVu Sans"/>
                <a:ea typeface="DejaVu Sans"/>
                <a:cs typeface="DejaVu Sans"/>
              </a:defRPr>
            </a:pPr>
            <a:r>
              <a:rPr sz="1575" b="0" i="0">
                <a:solidFill>
                  <a:srgbClr val="526777"/>
                </a:solidFill>
                <a:latin typeface="DejaVu Sans"/>
                <a:ea typeface="DejaVu Sans"/>
                <a:cs typeface="DejaVu Sans"/>
              </a:rPr>
              <a:t>surviving candidates</a:t>
            </a:r>
          </a:p>
        </p:txBody>
      </p:sp>
      <p:cxnSp>
        <p:nvCxnSpPr>
          <p:cNvPr id="38" name=""/>
          <p:cNvCxnSpPr>
            <a:stCxn xmlns:a="http://schemas.openxmlformats.org/drawingml/2006/main" id="5" idx="3"/>
            <a:endCxn xmlns:a="http://schemas.openxmlformats.org/drawingml/2006/main" id="8" idx="1"/>
          </p:cNvCxnSpPr>
          <p:nvPr/>
        </p:nvCxnSpPr>
        <p:spPr>
          <a:xfrm xmlns:a="http://schemas.openxmlformats.org/drawingml/2006/main">
            <a:off x="2847975" y="3390900"/>
            <a:ext cx="666750" cy="0"/>
          </a:xfrm>
          <a:prstGeom xmlns:a="http://schemas.openxmlformats.org/drawingml/2006/main" prst="straightConnector1">
            <a:avLst/>
          </a:prstGeom>
          <a:ln xmlns:a="http://schemas.openxmlformats.org/drawingml/2006/main" w="28575">
            <a:solidFill>
              <a:srgbClr val="14B8A6"/>
            </a:solidFill>
            <a:prstDash val="solid"/>
            <a:tailEnd type="triangle" w="med" len="med"/>
          </a:ln>
        </p:spPr>
      </p:cxnSp>
      <p:cxnSp>
        <p:nvCxnSpPr>
          <p:cNvPr id="39" name=""/>
          <p:cNvCxnSpPr>
            <a:stCxn xmlns:a="http://schemas.openxmlformats.org/drawingml/2006/main" id="8" idx="3"/>
            <a:endCxn xmlns:a="http://schemas.openxmlformats.org/drawingml/2006/main" id="11" idx="1"/>
          </p:cNvCxnSpPr>
          <p:nvPr/>
        </p:nvCxnSpPr>
        <p:spPr>
          <a:xfrm xmlns:a="http://schemas.openxmlformats.org/drawingml/2006/main">
            <a:off x="5753100" y="3390900"/>
            <a:ext cx="666750" cy="0"/>
          </a:xfrm>
          <a:prstGeom xmlns:a="http://schemas.openxmlformats.org/drawingml/2006/main" prst="straightConnector1">
            <a:avLst/>
          </a:prstGeom>
          <a:ln xmlns:a="http://schemas.openxmlformats.org/drawingml/2006/main" w="28575">
            <a:solidFill>
              <a:srgbClr val="14B8A6"/>
            </a:solidFill>
            <a:prstDash val="solid"/>
            <a:tailEnd type="triangle" w="med" len="med"/>
          </a:ln>
        </p:spPr>
      </p:cxnSp>
      <p:cxnSp>
        <p:nvCxnSpPr>
          <p:cNvPr id="40" name=""/>
          <p:cNvCxnSpPr>
            <a:stCxn xmlns:a="http://schemas.openxmlformats.org/drawingml/2006/main" id="11" idx="3"/>
            <a:endCxn xmlns:a="http://schemas.openxmlformats.org/drawingml/2006/main" id="14" idx="1"/>
          </p:cNvCxnSpPr>
          <p:nvPr/>
        </p:nvCxnSpPr>
        <p:spPr>
          <a:xfrm xmlns:a="http://schemas.openxmlformats.org/drawingml/2006/main">
            <a:off x="8658225" y="3390900"/>
            <a:ext cx="666750" cy="0"/>
          </a:xfrm>
          <a:prstGeom xmlns:a="http://schemas.openxmlformats.org/drawingml/2006/main" prst="straightConnector1">
            <a:avLst/>
          </a:prstGeom>
          <a:ln xmlns:a="http://schemas.openxmlformats.org/drawingml/2006/main" w="28575">
            <a:solidFill>
              <a:srgbClr val="14B8A6"/>
            </a:solidFill>
            <a:prstDash val="solid"/>
            <a:tailEnd type="triangle" w="med" len="med"/>
          </a:ln>
        </p:spPr>
      </p:cxnSp>
      <p:sp>
        <p:nvSpPr>
          <p:cNvPr id="20" name="">
            <a:extLst xmlns:a="http://schemas.openxmlformats.org/drawingml/2006/main">
              <a:ext uri="{FF2B5EF4-FFF2-40B4-BE49-F238E27FC236}">
                <a16:creationId xmlns:a16="http://schemas.microsoft.com/office/drawing/2014/main" id="{E399CA78-059E-4909-9178-5C0285A701C2}"/>
              </a:ext>
            </a:extLst>
          </p:cNvPr>
          <p:cNvSpPr>
            <a:spLocks xmlns:a="http://schemas.openxmlformats.org/drawingml/2006/main" noGrp="1"/>
          </p:cNvSpPr>
          <p:nvPr/>
        </p:nvSpPr>
        <p:spPr>
          <a:xfrm xmlns:a="http://schemas.openxmlformats.org/drawingml/2006/main">
            <a:off x="609600" y="46863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75" b="1" i="0">
                <a:solidFill>
                  <a:srgbClr val="14B8A6"/>
                </a:solidFill>
                <a:latin typeface="DejaVu Sans"/>
                <a:ea typeface="DejaVu Sans"/>
                <a:cs typeface="DejaVu Sans"/>
              </a:defRPr>
            </a:pPr>
            <a:r>
              <a:rPr sz="2175" b="1" i="0">
                <a:solidFill>
                  <a:srgbClr val="14B8A6"/>
                </a:solidFill>
                <a:latin typeface="DejaVu Sans"/>
                <a:ea typeface="DejaVu Sans"/>
                <a:cs typeface="DejaVu Sans"/>
              </a:rPr>
              <a:t>Two requirements: reject distractors and retain real cubes.</a:t>
            </a:r>
          </a:p>
        </p:txBody>
      </p:sp>
      <p:sp>
        <p:nvSpPr>
          <p:cNvPr id="21" name="">
            <a:extLst xmlns:a="http://schemas.openxmlformats.org/drawingml/2006/main">
              <a:ext uri="{FF2B5EF4-FFF2-40B4-BE49-F238E27FC236}">
                <a16:creationId xmlns:a16="http://schemas.microsoft.com/office/drawing/2014/main" id="{5BCF452F-740B-4B0B-B107-C169CBE98D6B}"/>
              </a:ext>
            </a:extLst>
          </p:cNvPr>
          <p:cNvSpPr>
            <a:spLocks xmlns:a="http://schemas.openxmlformats.org/drawingml/2006/main" noGrp="1"/>
          </p:cNvSpPr>
          <p:nvPr/>
        </p:nvSpPr>
        <p:spPr>
          <a:xfrm xmlns:a="http://schemas.openxmlformats.org/drawingml/2006/main">
            <a:off x="609600" y="5476875"/>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950" b="0" i="0">
                <a:solidFill>
                  <a:srgbClr val="142735"/>
                </a:solidFill>
                <a:latin typeface="DejaVu Sans"/>
                <a:ea typeface="DejaVu Sans"/>
                <a:cs typeface="DejaVu Sans"/>
              </a:defRPr>
            </a:pPr>
            <a:r>
              <a:rPr sz="1950" b="0" i="0">
                <a:solidFill>
                  <a:srgbClr val="142735"/>
                </a:solidFill>
                <a:latin typeface="DejaVu Sans"/>
                <a:ea typeface="DejaVu Sans"/>
                <a:cs typeface="DejaVu Sans"/>
              </a:rPr>
              <a:t>Compare the same scene with the filter off and on to isolate its effect.</a:t>
            </a:r>
          </a:p>
        </p:txBody>
      </p:sp>
    </p:spTree>
    <p:extLst>
      <p:ext uri="{BB962C8B-B14F-4D97-AF65-F5344CB8AC3E}">
        <p14:creationId xmlns:p14="http://schemas.microsoft.com/office/powerpoint/2010/main" val="745107640"/>
      </p:ext>
    </p:extLst>
  </p:cSld>
</p:sld>
</file>

<file path=ppt/slides/slide12.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73AE946-7BEC-4D14-8D80-F6C2D0BE8582}"/>
              </a:ext>
            </a:extLst>
          </p:cNvPr>
          <p:cNvSpPr>
            <a:spLocks xmlns:a="http://schemas.openxmlformats.org/drawingml/2006/main" noGrp="1"/>
          </p:cNvSpPr>
          <p:nvPr/>
        </p:nvSpPr>
        <p:spPr>
          <a:xfrm xmlns:a="http://schemas.openxmlformats.org/drawingml/2006/main">
            <a:off x="609600" y="400050"/>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i="0">
                <a:solidFill>
                  <a:srgbClr val="142735"/>
                </a:solidFill>
                <a:latin typeface="DejaVu Sans"/>
                <a:ea typeface="DejaVu Sans"/>
                <a:cs typeface="DejaVu Sans"/>
              </a:defRPr>
            </a:pPr>
            <a:r>
              <a:rPr sz="2550" b="1" i="0">
                <a:solidFill>
                  <a:srgbClr val="142735"/>
                </a:solidFill>
                <a:latin typeface="DejaVu Sans"/>
                <a:ea typeface="DejaVu Sans"/>
                <a:cs typeface="DejaVu Sans"/>
              </a:rPr>
              <a:t>Dataset and training outcomes</a:t>
            </a:r>
          </a:p>
        </p:txBody>
      </p:sp>
      <p:sp>
        <p:nvSpPr>
          <p:cNvPr id="2" name="">
            <a:extLst xmlns:a="http://schemas.openxmlformats.org/drawingml/2006/main">
              <a:ext uri="{FF2B5EF4-FFF2-40B4-BE49-F238E27FC236}">
                <a16:creationId xmlns:a16="http://schemas.microsoft.com/office/drawing/2014/main" id="{40E58EAC-9999-4DD5-85D9-70CD31C1E9E0}"/>
              </a:ext>
            </a:extLst>
          </p:cNvPr>
          <p:cNvSpPr>
            <a:spLocks xmlns:a="http://schemas.openxmlformats.org/drawingml/2006/main" noGrp="1"/>
          </p:cNvSpPr>
          <p:nvPr/>
        </p:nvSpPr>
        <p:spPr>
          <a:xfrm xmlns:a="http://schemas.openxmlformats.org/drawingml/2006/main">
            <a:off x="609600" y="1028700"/>
            <a:ext cx="819150" cy="57150"/>
          </a:xfrm>
          <a:prstGeom xmlns:a="http://schemas.openxmlformats.org/drawingml/2006/main" prst="rect">
            <a:avLst/>
          </a:prstGeom>
          <a:solidFill xmlns:a="http://schemas.openxmlformats.org/drawingml/2006/main">
            <a:srgbClr val="14B8A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8AB9A9C-CE1B-43EB-9261-D9D98EEB91FD}"/>
              </a:ext>
            </a:extLst>
          </p:cNvPr>
          <p:cNvSpPr>
            <a:spLocks xmlns:a="http://schemas.openxmlformats.org/drawingml/2006/main" noGrp="1"/>
          </p:cNvSpPr>
          <p:nvPr/>
        </p:nvSpPr>
        <p:spPr>
          <a:xfrm xmlns:a="http://schemas.openxmlformats.org/drawingml/2006/main">
            <a:off x="11144250" y="45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26777"/>
                </a:solidFill>
                <a:latin typeface="DejaVu Sans"/>
                <a:ea typeface="DejaVu Sans"/>
                <a:cs typeface="DejaVu Sans"/>
              </a:defRPr>
            </a:pPr>
            <a:r>
              <a:rPr sz="1200" b="1" i="0">
                <a:solidFill>
                  <a:srgbClr val="526777"/>
                </a:solidFill>
                <a:latin typeface="DejaVu Sans"/>
                <a:ea typeface="DejaVu Sans"/>
                <a:cs typeface="DejaVu Sans"/>
              </a:rPr>
              <a:t>12</a:t>
            </a:r>
          </a:p>
        </p:txBody>
      </p:sp>
      <p:sp>
        <p:nvSpPr>
          <p:cNvPr id="4" name="">
            <a:extLst xmlns:a="http://schemas.openxmlformats.org/drawingml/2006/main">
              <a:ext uri="{FF2B5EF4-FFF2-40B4-BE49-F238E27FC236}">
                <a16:creationId xmlns:a16="http://schemas.microsoft.com/office/drawing/2014/main" id="{24A3632D-E9DF-4133-BC2D-682CE493CC5E}"/>
              </a:ext>
            </a:extLst>
          </p:cNvPr>
          <p:cNvSpPr>
            <a:spLocks xmlns:a="http://schemas.openxmlformats.org/drawingml/2006/main" noGrp="1"/>
          </p:cNvSpPr>
          <p:nvPr/>
        </p:nvSpPr>
        <p:spPr>
          <a:xfrm xmlns:a="http://schemas.openxmlformats.org/drawingml/2006/main">
            <a:off x="609600" y="1714500"/>
            <a:ext cx="2286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4800" b="1" i="0">
                <a:solidFill>
                  <a:srgbClr val="2563EB"/>
                </a:solidFill>
                <a:latin typeface="DejaVu Sans"/>
                <a:ea typeface="DejaVu Sans"/>
                <a:cs typeface="DejaVu Sans"/>
              </a:defRPr>
            </a:pPr>
            <a:r>
              <a:rPr sz="4800" b="1" i="0">
                <a:solidFill>
                  <a:srgbClr val="2563EB"/>
                </a:solidFill>
                <a:latin typeface="DejaVu Sans"/>
                <a:ea typeface="DejaVu Sans"/>
                <a:cs typeface="DejaVu Sans"/>
              </a:rPr>
              <a:t>23</a:t>
            </a:r>
          </a:p>
        </p:txBody>
      </p:sp>
      <p:sp>
        <p:nvSpPr>
          <p:cNvPr id="5" name="">
            <a:extLst xmlns:a="http://schemas.openxmlformats.org/drawingml/2006/main">
              <a:ext uri="{FF2B5EF4-FFF2-40B4-BE49-F238E27FC236}">
                <a16:creationId xmlns:a16="http://schemas.microsoft.com/office/drawing/2014/main" id="{7C9A5B6A-B059-41CB-A853-967055877242}"/>
              </a:ext>
            </a:extLst>
          </p:cNvPr>
          <p:cNvSpPr>
            <a:spLocks xmlns:a="http://schemas.openxmlformats.org/drawingml/2006/main" noGrp="1"/>
          </p:cNvSpPr>
          <p:nvPr/>
        </p:nvSpPr>
        <p:spPr>
          <a:xfrm xmlns:a="http://schemas.openxmlformats.org/drawingml/2006/main">
            <a:off x="609600" y="26670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training images</a:t>
            </a:r>
          </a:p>
        </p:txBody>
      </p:sp>
      <p:sp>
        <p:nvSpPr>
          <p:cNvPr id="6" name="">
            <a:extLst xmlns:a="http://schemas.openxmlformats.org/drawingml/2006/main">
              <a:ext uri="{FF2B5EF4-FFF2-40B4-BE49-F238E27FC236}">
                <a16:creationId xmlns:a16="http://schemas.microsoft.com/office/drawing/2014/main" id="{3EDA7117-1FE9-4046-97E7-B4E370D9F97F}"/>
              </a:ext>
            </a:extLst>
          </p:cNvPr>
          <p:cNvSpPr>
            <a:spLocks xmlns:a="http://schemas.openxmlformats.org/drawingml/2006/main" noGrp="1"/>
          </p:cNvSpPr>
          <p:nvPr/>
        </p:nvSpPr>
        <p:spPr>
          <a:xfrm xmlns:a="http://schemas.openxmlformats.org/drawingml/2006/main">
            <a:off x="3905250" y="1714500"/>
            <a:ext cx="2286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4800" b="1" i="0">
                <a:solidFill>
                  <a:srgbClr val="16A34A"/>
                </a:solidFill>
                <a:latin typeface="DejaVu Sans"/>
                <a:ea typeface="DejaVu Sans"/>
                <a:cs typeface="DejaVu Sans"/>
              </a:defRPr>
            </a:pPr>
            <a:r>
              <a:rPr sz="4800" b="1" i="0">
                <a:solidFill>
                  <a:srgbClr val="16A34A"/>
                </a:solidFill>
                <a:latin typeface="DejaVu Sans"/>
                <a:ea typeface="DejaVu Sans"/>
                <a:cs typeface="DejaVu Sans"/>
              </a:rPr>
              <a:t>8</a:t>
            </a:r>
          </a:p>
        </p:txBody>
      </p:sp>
      <p:sp>
        <p:nvSpPr>
          <p:cNvPr id="7" name="">
            <a:extLst xmlns:a="http://schemas.openxmlformats.org/drawingml/2006/main">
              <a:ext uri="{FF2B5EF4-FFF2-40B4-BE49-F238E27FC236}">
                <a16:creationId xmlns:a16="http://schemas.microsoft.com/office/drawing/2014/main" id="{ED8440A6-9360-49CC-9FF1-61752F4B6505}"/>
              </a:ext>
            </a:extLst>
          </p:cNvPr>
          <p:cNvSpPr>
            <a:spLocks xmlns:a="http://schemas.openxmlformats.org/drawingml/2006/main" noGrp="1"/>
          </p:cNvSpPr>
          <p:nvPr/>
        </p:nvSpPr>
        <p:spPr>
          <a:xfrm xmlns:a="http://schemas.openxmlformats.org/drawingml/2006/main">
            <a:off x="3905250" y="26670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validation images</a:t>
            </a:r>
          </a:p>
        </p:txBody>
      </p:sp>
      <p:sp>
        <p:nvSpPr>
          <p:cNvPr id="8" name="">
            <a:extLst xmlns:a="http://schemas.openxmlformats.org/drawingml/2006/main">
              <a:ext uri="{FF2B5EF4-FFF2-40B4-BE49-F238E27FC236}">
                <a16:creationId xmlns:a16="http://schemas.microsoft.com/office/drawing/2014/main" id="{0CD8D174-FB4E-4683-BF6D-A067FC59A3E4}"/>
              </a:ext>
            </a:extLst>
          </p:cNvPr>
          <p:cNvSpPr>
            <a:spLocks xmlns:a="http://schemas.openxmlformats.org/drawingml/2006/main" noGrp="1"/>
          </p:cNvSpPr>
          <p:nvPr/>
        </p:nvSpPr>
        <p:spPr>
          <a:xfrm xmlns:a="http://schemas.openxmlformats.org/drawingml/2006/main">
            <a:off x="8001000" y="1714500"/>
            <a:ext cx="266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4800" b="1" i="0">
                <a:solidFill>
                  <a:srgbClr val="14B8A6"/>
                </a:solidFill>
                <a:latin typeface="DejaVu Sans"/>
                <a:ea typeface="DejaVu Sans"/>
                <a:cs typeface="DejaVu Sans"/>
              </a:defRPr>
            </a:pPr>
            <a:r>
              <a:rPr sz="4800" b="1" i="0">
                <a:solidFill>
                  <a:srgbClr val="14B8A6"/>
                </a:solidFill>
                <a:latin typeface="DejaVu Sans"/>
                <a:ea typeface="DejaVu Sans"/>
                <a:cs typeface="DejaVu Sans"/>
              </a:rPr>
              <a:t>45</a:t>
            </a:r>
          </a:p>
        </p:txBody>
      </p:sp>
      <p:sp>
        <p:nvSpPr>
          <p:cNvPr id="9" name="">
            <a:extLst xmlns:a="http://schemas.openxmlformats.org/drawingml/2006/main">
              <a:ext uri="{FF2B5EF4-FFF2-40B4-BE49-F238E27FC236}">
                <a16:creationId xmlns:a16="http://schemas.microsoft.com/office/drawing/2014/main" id="{8F8C6CF4-A161-43E6-8FCB-22F71435803B}"/>
              </a:ext>
            </a:extLst>
          </p:cNvPr>
          <p:cNvSpPr>
            <a:spLocks xmlns:a="http://schemas.openxmlformats.org/drawingml/2006/main" noGrp="1"/>
          </p:cNvSpPr>
          <p:nvPr/>
        </p:nvSpPr>
        <p:spPr>
          <a:xfrm xmlns:a="http://schemas.openxmlformats.org/drawingml/2006/main">
            <a:off x="8001000" y="2667000"/>
            <a:ext cx="333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best-checkpoint epoch</a:t>
            </a:r>
          </a:p>
        </p:txBody>
      </p:sp>
      <p:sp>
        <p:nvSpPr>
          <p:cNvPr id="10" name="">
            <a:extLst xmlns:a="http://schemas.openxmlformats.org/drawingml/2006/main">
              <a:ext uri="{FF2B5EF4-FFF2-40B4-BE49-F238E27FC236}">
                <a16:creationId xmlns:a16="http://schemas.microsoft.com/office/drawing/2014/main" id="{01EEA87A-3DAE-460A-9918-C52C46284D70}"/>
              </a:ext>
            </a:extLst>
          </p:cNvPr>
          <p:cNvSpPr>
            <a:spLocks xmlns:a="http://schemas.openxmlformats.org/drawingml/2006/main" noGrp="1"/>
          </p:cNvSpPr>
          <p:nvPr/>
        </p:nvSpPr>
        <p:spPr>
          <a:xfrm xmlns:a="http://schemas.openxmlformats.org/drawingml/2006/main">
            <a:off x="609600" y="3609975"/>
            <a:ext cx="10763250" cy="19050"/>
          </a:xfrm>
          <a:prstGeom xmlns:a="http://schemas.openxmlformats.org/drawingml/2006/main" prst="rect">
            <a:avLst/>
          </a:prstGeom>
          <a:solidFill xmlns:a="http://schemas.openxmlformats.org/drawingml/2006/main">
            <a:srgbClr val="D8E0E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8488857-73BC-45F7-9977-11CEA28F36F3}"/>
              </a:ext>
            </a:extLst>
          </p:cNvPr>
          <p:cNvSpPr>
            <a:spLocks xmlns:a="http://schemas.openxmlformats.org/drawingml/2006/main" noGrp="1"/>
          </p:cNvSpPr>
          <p:nvPr/>
        </p:nvSpPr>
        <p:spPr>
          <a:xfrm xmlns:a="http://schemas.openxmlformats.org/drawingml/2006/main">
            <a:off x="609600" y="401002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00" b="1" i="0">
                <a:solidFill>
                  <a:srgbClr val="142735"/>
                </a:solidFill>
                <a:latin typeface="DejaVu Sans"/>
                <a:ea typeface="DejaVu Sans"/>
                <a:cs typeface="DejaVu Sans"/>
              </a:defRPr>
            </a:pPr>
            <a:r>
              <a:rPr sz="2100" b="1" i="0">
                <a:solidFill>
                  <a:srgbClr val="142735"/>
                </a:solidFill>
                <a:latin typeface="DejaVu Sans"/>
                <a:ea typeface="DejaVu Sans"/>
                <a:cs typeface="DejaVu Sans"/>
              </a:rPr>
              <a:t>Balanced color coverage</a:t>
            </a:r>
          </a:p>
        </p:txBody>
      </p:sp>
      <p:sp>
        <p:nvSpPr>
          <p:cNvPr id="12" name="">
            <a:extLst xmlns:a="http://schemas.openxmlformats.org/drawingml/2006/main">
              <a:ext uri="{FF2B5EF4-FFF2-40B4-BE49-F238E27FC236}">
                <a16:creationId xmlns:a16="http://schemas.microsoft.com/office/drawing/2014/main" id="{555251A4-47F0-42A8-9E05-8DE0A3FDF268}"/>
              </a:ext>
            </a:extLst>
          </p:cNvPr>
          <p:cNvSpPr>
            <a:spLocks xmlns:a="http://schemas.openxmlformats.org/drawingml/2006/main" noGrp="1"/>
          </p:cNvSpPr>
          <p:nvPr/>
        </p:nvSpPr>
        <p:spPr>
          <a:xfrm xmlns:a="http://schemas.openxmlformats.org/drawingml/2006/main">
            <a:off x="609600" y="4610100"/>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142735"/>
                </a:solidFill>
                <a:latin typeface="DejaVu Sans"/>
                <a:ea typeface="DejaVu Sans"/>
                <a:cs typeface="DejaVu Sans"/>
              </a:defRPr>
            </a:pPr>
            <a:r>
              <a:rPr sz="1800" b="0" i="0">
                <a:solidFill>
                  <a:srgbClr val="142735"/>
                </a:solidFill>
                <a:latin typeface="DejaVu Sans"/>
                <a:ea typeface="DejaVu Sans"/>
                <a:cs typeface="DejaVu Sans"/>
              </a:rPr>
              <a:t>13 cubes per color in training.</a:t>
            </a:r>
          </a:p>
          <a:p xmlns:a="http://schemas.openxmlformats.org/drawingml/2006/main">
            <a:pPr>
              <a:defRPr sz="1800" b="0" i="0">
                <a:solidFill>
                  <a:srgbClr val="142735"/>
                </a:solidFill>
                <a:latin typeface="DejaVu Sans"/>
                <a:ea typeface="DejaVu Sans"/>
                <a:cs typeface="DejaVu Sans"/>
              </a:defRPr>
            </a:pPr>
            <a:r>
              <a:rPr sz="1800" b="0" i="0">
                <a:solidFill>
                  <a:srgbClr val="142735"/>
                </a:solidFill>
                <a:latin typeface="DejaVu Sans"/>
                <a:ea typeface="DejaVu Sans"/>
                <a:cs typeface="DejaVu Sans"/>
              </a:rPr>
              <a:t>6 per color in validation.</a:t>
            </a:r>
          </a:p>
          <a:p xmlns:a="http://schemas.openxmlformats.org/drawingml/2006/main">
            <a:pPr>
              <a:defRPr sz="1800" b="0" i="0">
                <a:solidFill>
                  <a:srgbClr val="142735"/>
                </a:solidFill>
                <a:latin typeface="DejaVu Sans"/>
                <a:ea typeface="DejaVu Sans"/>
                <a:cs typeface="DejaVu Sans"/>
              </a:defRPr>
            </a:pPr>
            <a:r>
              <a:rPr sz="1800" b="0" i="0">
                <a:solidFill>
                  <a:srgbClr val="142735"/>
                </a:solidFill>
                <a:latin typeface="DejaVu Sans"/>
                <a:ea typeface="DejaVu Sans"/>
                <a:cs typeface="DejaVu Sans"/>
              </a:rPr>
              <a:t>Background-only images in both sets.</a:t>
            </a:r>
          </a:p>
        </p:txBody>
      </p:sp>
      <p:sp>
        <p:nvSpPr>
          <p:cNvPr id="13" name="">
            <a:extLst xmlns:a="http://schemas.openxmlformats.org/drawingml/2006/main">
              <a:ext uri="{FF2B5EF4-FFF2-40B4-BE49-F238E27FC236}">
                <a16:creationId xmlns:a16="http://schemas.microsoft.com/office/drawing/2014/main" id="{5ABA8C36-6CB7-49BA-A71A-4B35B65F7521}"/>
              </a:ext>
            </a:extLst>
          </p:cNvPr>
          <p:cNvSpPr>
            <a:spLocks xmlns:a="http://schemas.openxmlformats.org/drawingml/2006/main" noGrp="1"/>
          </p:cNvSpPr>
          <p:nvPr/>
        </p:nvSpPr>
        <p:spPr>
          <a:xfrm xmlns:a="http://schemas.openxmlformats.org/drawingml/2006/main">
            <a:off x="6667500" y="401002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00" b="1" i="0">
                <a:solidFill>
                  <a:srgbClr val="142735"/>
                </a:solidFill>
                <a:latin typeface="DejaVu Sans"/>
                <a:ea typeface="DejaVu Sans"/>
                <a:cs typeface="DejaVu Sans"/>
              </a:defRPr>
            </a:pPr>
            <a:r>
              <a:rPr sz="2100" b="1" i="0">
                <a:solidFill>
                  <a:srgbClr val="142735"/>
                </a:solidFill>
                <a:latin typeface="DejaVu Sans"/>
                <a:ea typeface="DejaVu Sans"/>
                <a:cs typeface="DejaVu Sans"/>
              </a:rPr>
              <a:t>One completed fine-tuning run</a:t>
            </a:r>
          </a:p>
        </p:txBody>
      </p:sp>
      <p:sp>
        <p:nvSpPr>
          <p:cNvPr id="14" name="">
            <a:extLst xmlns:a="http://schemas.openxmlformats.org/drawingml/2006/main">
              <a:ext uri="{FF2B5EF4-FFF2-40B4-BE49-F238E27FC236}">
                <a16:creationId xmlns:a16="http://schemas.microsoft.com/office/drawing/2014/main" id="{93CF9D71-B531-4C5F-876C-00BA2FC8D2C0}"/>
              </a:ext>
            </a:extLst>
          </p:cNvPr>
          <p:cNvSpPr>
            <a:spLocks xmlns:a="http://schemas.openxmlformats.org/drawingml/2006/main" noGrp="1"/>
          </p:cNvSpPr>
          <p:nvPr/>
        </p:nvSpPr>
        <p:spPr>
          <a:xfrm xmlns:a="http://schemas.openxmlformats.org/drawingml/2006/main">
            <a:off x="6667500" y="4610100"/>
            <a:ext cx="4857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142735"/>
                </a:solidFill>
                <a:latin typeface="DejaVu Sans"/>
                <a:ea typeface="DejaVu Sans"/>
                <a:cs typeface="DejaVu Sans"/>
              </a:defRPr>
            </a:pPr>
            <a:r>
              <a:rPr sz="1800" b="0" i="0">
                <a:solidFill>
                  <a:srgbClr val="142735"/>
                </a:solidFill>
                <a:latin typeface="DejaVu Sans"/>
                <a:ea typeface="DejaVu Sans"/>
                <a:cs typeface="DejaVu Sans"/>
              </a:rPr>
              <a:t>60 passes through the training set.</a:t>
            </a:r>
          </a:p>
          <a:p xmlns:a="http://schemas.openxmlformats.org/drawingml/2006/main">
            <a:pPr>
              <a:defRPr sz="1800" b="0" i="0">
                <a:solidFill>
                  <a:srgbClr val="142735"/>
                </a:solidFill>
                <a:latin typeface="DejaVu Sans"/>
                <a:ea typeface="DejaVu Sans"/>
                <a:cs typeface="DejaVu Sans"/>
              </a:defRPr>
            </a:pPr>
            <a:r>
              <a:rPr sz="1800" b="0" i="0">
                <a:solidFill>
                  <a:srgbClr val="142735"/>
                </a:solidFill>
                <a:latin typeface="DejaVu Sans"/>
                <a:ea typeface="DejaVu Sans"/>
                <a:cs typeface="DejaVu Sans"/>
              </a:rPr>
              <a:t>Validation selected the checkpoint.</a:t>
            </a:r>
          </a:p>
          <a:p xmlns:a="http://schemas.openxmlformats.org/drawingml/2006/main">
            <a:pPr>
              <a:defRPr sz="1800" b="0" i="0">
                <a:solidFill>
                  <a:srgbClr val="142735"/>
                </a:solidFill>
                <a:latin typeface="DejaVu Sans"/>
                <a:ea typeface="DejaVu Sans"/>
                <a:cs typeface="DejaVu Sans"/>
              </a:defRPr>
            </a:pPr>
            <a:r>
              <a:rPr sz="1800" b="0" i="0">
                <a:solidFill>
                  <a:srgbClr val="142735"/>
                </a:solidFill>
                <a:latin typeface="DejaVu Sans"/>
                <a:ea typeface="DejaVu Sans"/>
                <a:cs typeface="DejaVu Sans"/>
              </a:rPr>
              <a:t>Data still comes from one room.</a:t>
            </a:r>
          </a:p>
        </p:txBody>
      </p:sp>
    </p:spTree>
    <p:extLst>
      <p:ext uri="{BB962C8B-B14F-4D97-AF65-F5344CB8AC3E}">
        <p14:creationId xmlns:p14="http://schemas.microsoft.com/office/powerpoint/2010/main" val="481615830"/>
      </p:ext>
    </p:extLst>
  </p:cSld>
</p:sld>
</file>

<file path=ppt/slides/slide13.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3DFF96C-0388-4E9E-B1AA-155701384839}"/>
              </a:ext>
            </a:extLst>
          </p:cNvPr>
          <p:cNvSpPr>
            <a:spLocks xmlns:a="http://schemas.openxmlformats.org/drawingml/2006/main" noGrp="1"/>
          </p:cNvSpPr>
          <p:nvPr/>
        </p:nvSpPr>
        <p:spPr>
          <a:xfrm xmlns:a="http://schemas.openxmlformats.org/drawingml/2006/main">
            <a:off x="609600" y="400050"/>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i="0">
                <a:solidFill>
                  <a:srgbClr val="142735"/>
                </a:solidFill>
                <a:latin typeface="DejaVu Sans"/>
                <a:ea typeface="DejaVu Sans"/>
                <a:cs typeface="DejaVu Sans"/>
              </a:defRPr>
            </a:pPr>
            <a:r>
              <a:rPr sz="2550" b="1" i="0">
                <a:solidFill>
                  <a:srgbClr val="142735"/>
                </a:solidFill>
                <a:latin typeface="DejaVu Sans"/>
                <a:ea typeface="DejaVu Sans"/>
                <a:cs typeface="DejaVu Sans"/>
              </a:rPr>
              <a:t>Validation result: one missed red cube</a:t>
            </a:r>
          </a:p>
        </p:txBody>
      </p:sp>
      <p:sp>
        <p:nvSpPr>
          <p:cNvPr id="2" name="">
            <a:extLst xmlns:a="http://schemas.openxmlformats.org/drawingml/2006/main">
              <a:ext uri="{FF2B5EF4-FFF2-40B4-BE49-F238E27FC236}">
                <a16:creationId xmlns:a16="http://schemas.microsoft.com/office/drawing/2014/main" id="{3CA9C14F-E759-43DD-8273-13AD35A0A23D}"/>
              </a:ext>
            </a:extLst>
          </p:cNvPr>
          <p:cNvSpPr>
            <a:spLocks xmlns:a="http://schemas.openxmlformats.org/drawingml/2006/main" noGrp="1"/>
          </p:cNvSpPr>
          <p:nvPr/>
        </p:nvSpPr>
        <p:spPr>
          <a:xfrm xmlns:a="http://schemas.openxmlformats.org/drawingml/2006/main">
            <a:off x="609600" y="1028700"/>
            <a:ext cx="819150" cy="57150"/>
          </a:xfrm>
          <a:prstGeom xmlns:a="http://schemas.openxmlformats.org/drawingml/2006/main" prst="rect">
            <a:avLst/>
          </a:prstGeom>
          <a:solidFill xmlns:a="http://schemas.openxmlformats.org/drawingml/2006/main">
            <a:srgbClr val="14B8A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9DADD5D-3ABF-43EF-A6B9-65F952DEB81E}"/>
              </a:ext>
            </a:extLst>
          </p:cNvPr>
          <p:cNvSpPr>
            <a:spLocks xmlns:a="http://schemas.openxmlformats.org/drawingml/2006/main" noGrp="1"/>
          </p:cNvSpPr>
          <p:nvPr/>
        </p:nvSpPr>
        <p:spPr>
          <a:xfrm xmlns:a="http://schemas.openxmlformats.org/drawingml/2006/main">
            <a:off x="11144250" y="45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26777"/>
                </a:solidFill>
                <a:latin typeface="DejaVu Sans"/>
                <a:ea typeface="DejaVu Sans"/>
                <a:cs typeface="DejaVu Sans"/>
              </a:defRPr>
            </a:pPr>
            <a:r>
              <a:rPr sz="1200" b="1" i="0">
                <a:solidFill>
                  <a:srgbClr val="526777"/>
                </a:solidFill>
                <a:latin typeface="DejaVu Sans"/>
                <a:ea typeface="DejaVu Sans"/>
                <a:cs typeface="DejaVu Sans"/>
              </a:rPr>
              <a:t>13</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a020191b1374dde"/>
          <a:srcRect xmlns:a="http://schemas.openxmlformats.org/drawingml/2006/main" l="127" t="0" r="127" b="0"/>
          <a:stretch xmlns:a="http://schemas.openxmlformats.org/drawingml/2006/main">
            <a:fillRect l="0" t="0" r="0" b="0"/>
          </a:stretch>
        </p:blipFill>
        <p:spPr>
          <a:xfrm xmlns:a="http://schemas.openxmlformats.org/drawingml/2006/main">
            <a:off x="609600" y="1524000"/>
            <a:ext cx="4286250" cy="245745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767b0f95a76b4402"/>
          <a:srcRect xmlns:a="http://schemas.openxmlformats.org/drawingml/2006/main" l="127" t="0" r="127" b="0"/>
          <a:stretch xmlns:a="http://schemas.openxmlformats.org/drawingml/2006/main">
            <a:fillRect l="0" t="0" r="0" b="0"/>
          </a:stretch>
        </p:blipFill>
        <p:spPr>
          <a:xfrm xmlns:a="http://schemas.openxmlformats.org/drawingml/2006/main">
            <a:off x="5095875" y="1524000"/>
            <a:ext cx="4286250" cy="24574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5B9595F-CEC6-4E62-BD24-DDC7E375646C}"/>
              </a:ext>
            </a:extLst>
          </p:cNvPr>
          <p:cNvSpPr>
            <a:spLocks xmlns:a="http://schemas.openxmlformats.org/drawingml/2006/main" noGrp="1"/>
          </p:cNvSpPr>
          <p:nvPr/>
        </p:nvSpPr>
        <p:spPr>
          <a:xfrm xmlns:a="http://schemas.openxmlformats.org/drawingml/2006/main">
            <a:off x="609600" y="409575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1" i="0">
                <a:solidFill>
                  <a:srgbClr val="2563EB"/>
                </a:solidFill>
                <a:latin typeface="DejaVu Sans"/>
                <a:ea typeface="DejaVu Sans"/>
                <a:cs typeface="DejaVu Sans"/>
              </a:defRPr>
            </a:pPr>
            <a:r>
              <a:rPr sz="1425" b="1" i="0">
                <a:solidFill>
                  <a:srgbClr val="2563EB"/>
                </a:solidFill>
                <a:latin typeface="DejaVu Sans"/>
                <a:ea typeface="DejaVu Sans"/>
                <a:cs typeface="DejaVu Sans"/>
              </a:rPr>
              <a:t>Approved</a:t>
            </a:r>
          </a:p>
        </p:txBody>
      </p:sp>
      <p:sp>
        <p:nvSpPr>
          <p:cNvPr id="7" name="">
            <a:extLst xmlns:a="http://schemas.openxmlformats.org/drawingml/2006/main">
              <a:ext uri="{FF2B5EF4-FFF2-40B4-BE49-F238E27FC236}">
                <a16:creationId xmlns:a16="http://schemas.microsoft.com/office/drawing/2014/main" id="{BD4E243C-B8E0-4D31-B3CB-D378673896F2}"/>
              </a:ext>
            </a:extLst>
          </p:cNvPr>
          <p:cNvSpPr>
            <a:spLocks xmlns:a="http://schemas.openxmlformats.org/drawingml/2006/main" noGrp="1"/>
          </p:cNvSpPr>
          <p:nvPr/>
        </p:nvSpPr>
        <p:spPr>
          <a:xfrm xmlns:a="http://schemas.openxmlformats.org/drawingml/2006/main">
            <a:off x="5095875" y="409575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1" i="0">
                <a:solidFill>
                  <a:srgbClr val="16A34A"/>
                </a:solidFill>
                <a:latin typeface="DejaVu Sans"/>
                <a:ea typeface="DejaVu Sans"/>
                <a:cs typeface="DejaVu Sans"/>
              </a:defRPr>
            </a:pPr>
            <a:r>
              <a:rPr sz="1425" b="1" i="0">
                <a:solidFill>
                  <a:srgbClr val="16A34A"/>
                </a:solidFill>
                <a:latin typeface="DejaVu Sans"/>
                <a:ea typeface="DejaVu Sans"/>
                <a:cs typeface="DejaVu Sans"/>
              </a:rPr>
              <a:t>Prediction</a:t>
            </a:r>
          </a:p>
        </p:txBody>
      </p:sp>
      <p:sp>
        <p:nvSpPr>
          <p:cNvPr id="8" name="">
            <a:extLst xmlns:a="http://schemas.openxmlformats.org/drawingml/2006/main">
              <a:ext uri="{FF2B5EF4-FFF2-40B4-BE49-F238E27FC236}">
                <a16:creationId xmlns:a16="http://schemas.microsoft.com/office/drawing/2014/main" id="{F5BBC245-C0E3-403C-8EC2-2591497BE74D}"/>
              </a:ext>
            </a:extLst>
          </p:cNvPr>
          <p:cNvSpPr>
            <a:spLocks xmlns:a="http://schemas.openxmlformats.org/drawingml/2006/main" noGrp="1"/>
          </p:cNvSpPr>
          <p:nvPr/>
        </p:nvSpPr>
        <p:spPr>
          <a:xfrm xmlns:a="http://schemas.openxmlformats.org/drawingml/2006/main">
            <a:off x="9620250" y="1600200"/>
            <a:ext cx="1952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450" b="1" i="0">
                <a:solidFill>
                  <a:srgbClr val="16A34A"/>
                </a:solidFill>
                <a:latin typeface="DejaVu Sans"/>
                <a:ea typeface="DejaVu Sans"/>
                <a:cs typeface="DejaVu Sans"/>
              </a:defRPr>
            </a:pPr>
            <a:r>
              <a:rPr sz="3450" b="1" i="0">
                <a:solidFill>
                  <a:srgbClr val="16A34A"/>
                </a:solidFill>
                <a:latin typeface="DejaVu Sans"/>
                <a:ea typeface="DejaVu Sans"/>
                <a:cs typeface="DejaVu Sans"/>
              </a:rPr>
              <a:t>17 / 18</a:t>
            </a:r>
          </a:p>
        </p:txBody>
      </p:sp>
      <p:sp>
        <p:nvSpPr>
          <p:cNvPr id="9" name="">
            <a:extLst xmlns:a="http://schemas.openxmlformats.org/drawingml/2006/main">
              <a:ext uri="{FF2B5EF4-FFF2-40B4-BE49-F238E27FC236}">
                <a16:creationId xmlns:a16="http://schemas.microsoft.com/office/drawing/2014/main" id="{72D646F7-E801-4C8C-B8CB-DD8897B90310}"/>
              </a:ext>
            </a:extLst>
          </p:cNvPr>
          <p:cNvSpPr>
            <a:spLocks xmlns:a="http://schemas.openxmlformats.org/drawingml/2006/main" noGrp="1"/>
          </p:cNvSpPr>
          <p:nvPr/>
        </p:nvSpPr>
        <p:spPr>
          <a:xfrm xmlns:a="http://schemas.openxmlformats.org/drawingml/2006/main">
            <a:off x="9620250" y="2324100"/>
            <a:ext cx="1952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526777"/>
                </a:solidFill>
                <a:latin typeface="DejaVu Sans"/>
                <a:ea typeface="DejaVu Sans"/>
                <a:cs typeface="DejaVu Sans"/>
              </a:defRPr>
            </a:pPr>
            <a:r>
              <a:rPr sz="1350" b="0" i="0">
                <a:solidFill>
                  <a:srgbClr val="526777"/>
                </a:solidFill>
                <a:latin typeface="DejaVu Sans"/>
                <a:ea typeface="DejaVu Sans"/>
                <a:cs typeface="DejaVu Sans"/>
              </a:rPr>
              <a:t>visible cubes detected</a:t>
            </a:r>
          </a:p>
        </p:txBody>
      </p:sp>
      <p:sp>
        <p:nvSpPr>
          <p:cNvPr id="10" name="">
            <a:extLst xmlns:a="http://schemas.openxmlformats.org/drawingml/2006/main">
              <a:ext uri="{FF2B5EF4-FFF2-40B4-BE49-F238E27FC236}">
                <a16:creationId xmlns:a16="http://schemas.microsoft.com/office/drawing/2014/main" id="{44741BCE-F903-4168-8ECF-C79CA56FF014}"/>
              </a:ext>
            </a:extLst>
          </p:cNvPr>
          <p:cNvSpPr>
            <a:spLocks xmlns:a="http://schemas.openxmlformats.org/drawingml/2006/main" noGrp="1"/>
          </p:cNvSpPr>
          <p:nvPr/>
        </p:nvSpPr>
        <p:spPr>
          <a:xfrm xmlns:a="http://schemas.openxmlformats.org/drawingml/2006/main">
            <a:off x="9620250" y="3143250"/>
            <a:ext cx="1952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150" b="1" i="0">
                <a:solidFill>
                  <a:srgbClr val="DC2626"/>
                </a:solidFill>
                <a:latin typeface="DejaVu Sans"/>
                <a:ea typeface="DejaVu Sans"/>
                <a:cs typeface="DejaVu Sans"/>
              </a:defRPr>
            </a:pPr>
            <a:r>
              <a:rPr sz="3150" b="1" i="0">
                <a:solidFill>
                  <a:srgbClr val="DC2626"/>
                </a:solidFill>
                <a:latin typeface="DejaVu Sans"/>
                <a:ea typeface="DejaVu Sans"/>
                <a:cs typeface="DejaVu Sans"/>
              </a:rPr>
              <a:t>1</a:t>
            </a:r>
          </a:p>
        </p:txBody>
      </p:sp>
      <p:sp>
        <p:nvSpPr>
          <p:cNvPr id="11" name="">
            <a:extLst xmlns:a="http://schemas.openxmlformats.org/drawingml/2006/main">
              <a:ext uri="{FF2B5EF4-FFF2-40B4-BE49-F238E27FC236}">
                <a16:creationId xmlns:a16="http://schemas.microsoft.com/office/drawing/2014/main" id="{099AAB20-944A-4B54-8063-767506C1EF96}"/>
              </a:ext>
            </a:extLst>
          </p:cNvPr>
          <p:cNvSpPr>
            <a:spLocks xmlns:a="http://schemas.openxmlformats.org/drawingml/2006/main" noGrp="1"/>
          </p:cNvSpPr>
          <p:nvPr/>
        </p:nvSpPr>
        <p:spPr>
          <a:xfrm xmlns:a="http://schemas.openxmlformats.org/drawingml/2006/main">
            <a:off x="9620250" y="3771900"/>
            <a:ext cx="1952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526777"/>
                </a:solidFill>
                <a:latin typeface="DejaVu Sans"/>
                <a:ea typeface="DejaVu Sans"/>
                <a:cs typeface="DejaVu Sans"/>
              </a:defRPr>
            </a:pPr>
            <a:r>
              <a:rPr sz="1350" b="0" i="0">
                <a:solidFill>
                  <a:srgbClr val="526777"/>
                </a:solidFill>
                <a:latin typeface="DejaVu Sans"/>
                <a:ea typeface="DejaVu Sans"/>
                <a:cs typeface="DejaVu Sans"/>
              </a:rPr>
              <a:t>false negative</a:t>
            </a:r>
          </a:p>
          <a:p xmlns:a="http://schemas.openxmlformats.org/drawingml/2006/main">
            <a:pPr>
              <a:defRPr sz="1350" b="0" i="0">
                <a:solidFill>
                  <a:srgbClr val="526777"/>
                </a:solidFill>
                <a:latin typeface="DejaVu Sans"/>
                <a:ea typeface="DejaVu Sans"/>
                <a:cs typeface="DejaVu Sans"/>
              </a:defRPr>
            </a:pPr>
            <a:r>
              <a:rPr sz="1350" b="0" i="0">
                <a:solidFill>
                  <a:srgbClr val="526777"/>
                </a:solidFill>
                <a:latin typeface="DejaVu Sans"/>
                <a:ea typeface="DejaVu Sans"/>
                <a:cs typeface="DejaVu Sans"/>
              </a:rPr>
              <a:t>red cube in V03</a:t>
            </a:r>
          </a:p>
        </p:txBody>
      </p:sp>
      <p:sp>
        <p:nvSpPr>
          <p:cNvPr id="12" name="">
            <a:extLst xmlns:a="http://schemas.openxmlformats.org/drawingml/2006/main">
              <a:ext uri="{FF2B5EF4-FFF2-40B4-BE49-F238E27FC236}">
                <a16:creationId xmlns:a16="http://schemas.microsoft.com/office/drawing/2014/main" id="{3678A345-AA8B-4CCF-9708-0DA113BC471E}"/>
              </a:ext>
            </a:extLst>
          </p:cNvPr>
          <p:cNvSpPr>
            <a:spLocks xmlns:a="http://schemas.openxmlformats.org/drawingml/2006/main" noGrp="1"/>
          </p:cNvSpPr>
          <p:nvPr/>
        </p:nvSpPr>
        <p:spPr>
          <a:xfrm xmlns:a="http://schemas.openxmlformats.org/drawingml/2006/main">
            <a:off x="609600" y="4810125"/>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i="0">
                <a:solidFill>
                  <a:srgbClr val="14B8A6"/>
                </a:solidFill>
                <a:latin typeface="DejaVu Sans"/>
                <a:ea typeface="DejaVu Sans"/>
                <a:cs typeface="DejaVu Sans"/>
              </a:defRPr>
            </a:pPr>
            <a:r>
              <a:rPr sz="1500" b="1" i="0">
                <a:solidFill>
                  <a:srgbClr val="14B8A6"/>
                </a:solidFill>
                <a:latin typeface="DejaVu Sans"/>
                <a:ea typeface="DejaVu Sans"/>
                <a:cs typeface="DejaVu Sans"/>
              </a:rPr>
              <a:t>Across all eight validation images</a:t>
            </a:r>
          </a:p>
        </p:txBody>
      </p:sp>
      <p:sp>
        <p:nvSpPr>
          <p:cNvPr id="13" name="">
            <a:extLst xmlns:a="http://schemas.openxmlformats.org/drawingml/2006/main">
              <a:ext uri="{FF2B5EF4-FFF2-40B4-BE49-F238E27FC236}">
                <a16:creationId xmlns:a16="http://schemas.microsoft.com/office/drawing/2014/main" id="{1A7F9E2F-6265-4390-B21E-DC87F593C4D9}"/>
              </a:ext>
            </a:extLst>
          </p:cNvPr>
          <p:cNvSpPr>
            <a:spLocks xmlns:a="http://schemas.openxmlformats.org/drawingml/2006/main" noGrp="1"/>
          </p:cNvSpPr>
          <p:nvPr/>
        </p:nvSpPr>
        <p:spPr>
          <a:xfrm xmlns:a="http://schemas.openxmlformats.org/drawingml/2006/main">
            <a:off x="609600" y="52387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725" b="1" i="0">
                <a:solidFill>
                  <a:srgbClr val="142735"/>
                </a:solidFill>
                <a:latin typeface="DejaVu Sans"/>
                <a:ea typeface="DejaVu Sans"/>
                <a:cs typeface="DejaVu Sans"/>
              </a:defRPr>
            </a:pPr>
            <a:r>
              <a:rPr sz="1725" b="1" i="0">
                <a:solidFill>
                  <a:srgbClr val="142735"/>
                </a:solidFill>
                <a:latin typeface="DejaVu Sans"/>
                <a:ea typeface="DejaVu Sans"/>
                <a:cs typeface="DejaVu Sans"/>
              </a:rPr>
              <a:t>17 visible matches · 1 missed cube · 0 additional boxes</a:t>
            </a:r>
          </a:p>
        </p:txBody>
      </p:sp>
      <p:sp>
        <p:nvSpPr>
          <p:cNvPr id="14" name="">
            <a:extLst xmlns:a="http://schemas.openxmlformats.org/drawingml/2006/main">
              <a:ext uri="{FF2B5EF4-FFF2-40B4-BE49-F238E27FC236}">
                <a16:creationId xmlns:a16="http://schemas.microsoft.com/office/drawing/2014/main" id="{38A9FC38-A04F-4789-8F57-134D51BED03D}"/>
              </a:ext>
            </a:extLst>
          </p:cNvPr>
          <p:cNvSpPr>
            <a:spLocks xmlns:a="http://schemas.openxmlformats.org/drawingml/2006/main" noGrp="1"/>
          </p:cNvSpPr>
          <p:nvPr/>
        </p:nvSpPr>
        <p:spPr>
          <a:xfrm xmlns:a="http://schemas.openxmlformats.org/drawingml/2006/main">
            <a:off x="609600" y="58674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1">
                <a:solidFill>
                  <a:srgbClr val="526777"/>
                </a:solidFill>
                <a:latin typeface="DejaVu Sans"/>
                <a:ea typeface="DejaVu Sans"/>
                <a:cs typeface="DejaVu Sans"/>
              </a:defRPr>
            </a:pPr>
            <a:r>
              <a:rPr sz="1350" b="0" i="1">
                <a:solidFill>
                  <a:srgbClr val="526777"/>
                </a:solidFill>
                <a:latin typeface="DejaVu Sans"/>
                <a:ea typeface="DejaVu Sans"/>
                <a:cs typeface="DejaVu Sans"/>
              </a:rPr>
              <a:t>Visual review of saved predictions; detailed automated metrics are in the appendix.</a:t>
            </a:r>
          </a:p>
        </p:txBody>
      </p:sp>
    </p:spTree>
    <p:extLst>
      <p:ext uri="{BB962C8B-B14F-4D97-AF65-F5344CB8AC3E}">
        <p14:creationId xmlns:p14="http://schemas.microsoft.com/office/powerpoint/2010/main" val="654899247"/>
      </p:ext>
    </p:extLst>
  </p:cSld>
</p:sld>
</file>

<file path=ppt/slides/slide14.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4701AB6-23CD-43BF-81B1-200B3B79B48B}"/>
              </a:ext>
            </a:extLst>
          </p:cNvPr>
          <p:cNvSpPr>
            <a:spLocks xmlns:a="http://schemas.openxmlformats.org/drawingml/2006/main" noGrp="1"/>
          </p:cNvSpPr>
          <p:nvPr/>
        </p:nvSpPr>
        <p:spPr>
          <a:xfrm xmlns:a="http://schemas.openxmlformats.org/drawingml/2006/main">
            <a:off x="609600" y="400050"/>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i="0">
                <a:solidFill>
                  <a:srgbClr val="142735"/>
                </a:solidFill>
                <a:latin typeface="DejaVu Sans"/>
                <a:ea typeface="DejaVu Sans"/>
                <a:cs typeface="DejaVu Sans"/>
              </a:defRPr>
            </a:pPr>
            <a:r>
              <a:rPr sz="2550" b="1" i="0">
                <a:solidFill>
                  <a:srgbClr val="142735"/>
                </a:solidFill>
                <a:latin typeface="DejaVu Sans"/>
                <a:ea typeface="DejaVu Sans"/>
                <a:cs typeface="DejaVu Sans"/>
              </a:rPr>
              <a:t>Live results on the Jetson</a:t>
            </a:r>
          </a:p>
        </p:txBody>
      </p:sp>
      <p:sp>
        <p:nvSpPr>
          <p:cNvPr id="2" name="">
            <a:extLst xmlns:a="http://schemas.openxmlformats.org/drawingml/2006/main">
              <a:ext uri="{FF2B5EF4-FFF2-40B4-BE49-F238E27FC236}">
                <a16:creationId xmlns:a16="http://schemas.microsoft.com/office/drawing/2014/main" id="{3581B55F-E9E1-47A8-A39B-1424998703B4}"/>
              </a:ext>
            </a:extLst>
          </p:cNvPr>
          <p:cNvSpPr>
            <a:spLocks xmlns:a="http://schemas.openxmlformats.org/drawingml/2006/main" noGrp="1"/>
          </p:cNvSpPr>
          <p:nvPr/>
        </p:nvSpPr>
        <p:spPr>
          <a:xfrm xmlns:a="http://schemas.openxmlformats.org/drawingml/2006/main">
            <a:off x="609600" y="1028700"/>
            <a:ext cx="819150" cy="57150"/>
          </a:xfrm>
          <a:prstGeom xmlns:a="http://schemas.openxmlformats.org/drawingml/2006/main" prst="rect">
            <a:avLst/>
          </a:prstGeom>
          <a:solidFill xmlns:a="http://schemas.openxmlformats.org/drawingml/2006/main">
            <a:srgbClr val="14B8A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FF4F5EF-F60B-4771-841D-0D6E74624AD6}"/>
              </a:ext>
            </a:extLst>
          </p:cNvPr>
          <p:cNvSpPr>
            <a:spLocks xmlns:a="http://schemas.openxmlformats.org/drawingml/2006/main" noGrp="1"/>
          </p:cNvSpPr>
          <p:nvPr/>
        </p:nvSpPr>
        <p:spPr>
          <a:xfrm xmlns:a="http://schemas.openxmlformats.org/drawingml/2006/main">
            <a:off x="11144250" y="45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26777"/>
                </a:solidFill>
                <a:latin typeface="DejaVu Sans"/>
                <a:ea typeface="DejaVu Sans"/>
                <a:cs typeface="DejaVu Sans"/>
              </a:defRPr>
            </a:pPr>
            <a:r>
              <a:rPr sz="1200" b="1" i="0">
                <a:solidFill>
                  <a:srgbClr val="526777"/>
                </a:solidFill>
                <a:latin typeface="DejaVu Sans"/>
                <a:ea typeface="DejaVu Sans"/>
                <a:cs typeface="DejaVu Sans"/>
              </a:rPr>
              <a:t>14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384d27e041743c0"/>
          <a:stretch xmlns:a="http://schemas.openxmlformats.org/drawingml/2006/main"/>
        </p:blipFill>
        <p:spPr>
          <a:xfrm xmlns:a="http://schemas.openxmlformats.org/drawingml/2006/main">
            <a:off x="624748" y="1524000"/>
            <a:ext cx="6922953" cy="44386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D08A7D4-9B85-423F-9532-F671F88578CD}"/>
              </a:ext>
            </a:extLst>
          </p:cNvPr>
          <p:cNvSpPr>
            <a:spLocks xmlns:a="http://schemas.openxmlformats.org/drawingml/2006/main" noGrp="1"/>
          </p:cNvSpPr>
          <p:nvPr/>
        </p:nvSpPr>
        <p:spPr>
          <a:xfrm xmlns:a="http://schemas.openxmlformats.org/drawingml/2006/main">
            <a:off x="8096250" y="161925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1" i="0">
                <a:solidFill>
                  <a:srgbClr val="14B8A6"/>
                </a:solidFill>
                <a:latin typeface="DejaVu Sans"/>
                <a:ea typeface="DejaVu Sans"/>
                <a:cs typeface="DejaVu Sans"/>
              </a:defRPr>
            </a:pPr>
            <a:r>
              <a:rPr sz="1875" b="1" i="0">
                <a:solidFill>
                  <a:srgbClr val="14B8A6"/>
                </a:solidFill>
                <a:latin typeface="DejaVu Sans"/>
                <a:ea typeface="DejaVu Sans"/>
                <a:cs typeface="DejaVu Sans"/>
              </a:rPr>
              <a:t>Three colors together</a:t>
            </a:r>
          </a:p>
        </p:txBody>
      </p:sp>
      <p:sp>
        <p:nvSpPr>
          <p:cNvPr id="6" name="">
            <a:extLst xmlns:a="http://schemas.openxmlformats.org/drawingml/2006/main">
              <a:ext uri="{FF2B5EF4-FFF2-40B4-BE49-F238E27FC236}">
                <a16:creationId xmlns:a16="http://schemas.microsoft.com/office/drawing/2014/main" id="{16EE05DA-9E0E-4BA8-B7EC-FBE04DAE3854}"/>
              </a:ext>
            </a:extLst>
          </p:cNvPr>
          <p:cNvSpPr>
            <a:spLocks xmlns:a="http://schemas.openxmlformats.org/drawingml/2006/main" noGrp="1"/>
          </p:cNvSpPr>
          <p:nvPr/>
        </p:nvSpPr>
        <p:spPr>
          <a:xfrm xmlns:a="http://schemas.openxmlformats.org/drawingml/2006/main">
            <a:off x="8096250" y="2057400"/>
            <a:ext cx="3524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142735"/>
                </a:solidFill>
                <a:latin typeface="DejaVu Sans"/>
                <a:ea typeface="DejaVu Sans"/>
                <a:cs typeface="DejaVu Sans"/>
              </a:defRPr>
            </a:pPr>
            <a:r>
              <a:rPr sz="1800" b="0" i="0">
                <a:solidFill>
                  <a:srgbClr val="142735"/>
                </a:solidFill>
                <a:latin typeface="DejaVu Sans"/>
                <a:ea typeface="DejaVu Sans"/>
                <a:cs typeface="DejaVu Sans"/>
              </a:rPr>
              <a:t>Three correct visible boxes.</a:t>
            </a:r>
          </a:p>
        </p:txBody>
      </p:sp>
      <p:sp>
        <p:nvSpPr>
          <p:cNvPr id="7" name="">
            <a:extLst xmlns:a="http://schemas.openxmlformats.org/drawingml/2006/main">
              <a:ext uri="{FF2B5EF4-FFF2-40B4-BE49-F238E27FC236}">
                <a16:creationId xmlns:a16="http://schemas.microsoft.com/office/drawing/2014/main" id="{D98C3834-7BFD-4E2C-9592-78371F36A6FC}"/>
              </a:ext>
            </a:extLst>
          </p:cNvPr>
          <p:cNvSpPr>
            <a:spLocks xmlns:a="http://schemas.openxmlformats.org/drawingml/2006/main" noGrp="1"/>
          </p:cNvSpPr>
          <p:nvPr/>
        </p:nvSpPr>
        <p:spPr>
          <a:xfrm xmlns:a="http://schemas.openxmlformats.org/drawingml/2006/main">
            <a:off x="8096250" y="281940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1" i="0">
                <a:solidFill>
                  <a:srgbClr val="14B8A6"/>
                </a:solidFill>
                <a:latin typeface="DejaVu Sans"/>
                <a:ea typeface="DejaVu Sans"/>
                <a:cs typeface="DejaVu Sans"/>
              </a:defRPr>
            </a:pPr>
            <a:r>
              <a:rPr sz="1875" b="1" i="0">
                <a:solidFill>
                  <a:srgbClr val="14B8A6"/>
                </a:solidFill>
                <a:latin typeface="DejaVu Sans"/>
                <a:ea typeface="DejaVu Sans"/>
                <a:cs typeface="DejaVu Sans"/>
              </a:rPr>
              <a:t>Empty room scene</a:t>
            </a:r>
          </a:p>
        </p:txBody>
      </p:sp>
      <p:sp>
        <p:nvSpPr>
          <p:cNvPr id="8" name="">
            <a:extLst xmlns:a="http://schemas.openxmlformats.org/drawingml/2006/main">
              <a:ext uri="{FF2B5EF4-FFF2-40B4-BE49-F238E27FC236}">
                <a16:creationId xmlns:a16="http://schemas.microsoft.com/office/drawing/2014/main" id="{3E218DA1-4CB5-4EC8-9642-BC02216B1A89}"/>
              </a:ext>
            </a:extLst>
          </p:cNvPr>
          <p:cNvSpPr>
            <a:spLocks xmlns:a="http://schemas.openxmlformats.org/drawingml/2006/main" noGrp="1"/>
          </p:cNvSpPr>
          <p:nvPr/>
        </p:nvSpPr>
        <p:spPr>
          <a:xfrm xmlns:a="http://schemas.openxmlformats.org/drawingml/2006/main">
            <a:off x="8096250" y="3257550"/>
            <a:ext cx="3524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142735"/>
                </a:solidFill>
                <a:latin typeface="DejaVu Sans"/>
                <a:ea typeface="DejaVu Sans"/>
                <a:cs typeface="DejaVu Sans"/>
              </a:defRPr>
            </a:pPr>
            <a:r>
              <a:rPr sz="1800" b="0" i="0">
                <a:solidFill>
                  <a:srgbClr val="142735"/>
                </a:solidFill>
                <a:latin typeface="DejaVu Sans"/>
                <a:ea typeface="DejaVu Sans"/>
                <a:cs typeface="DejaVu Sans"/>
              </a:rPr>
              <a:t>No visible detection.</a:t>
            </a:r>
          </a:p>
        </p:txBody>
      </p:sp>
      <p:sp>
        <p:nvSpPr>
          <p:cNvPr id="9" name="">
            <a:extLst xmlns:a="http://schemas.openxmlformats.org/drawingml/2006/main">
              <a:ext uri="{FF2B5EF4-FFF2-40B4-BE49-F238E27FC236}">
                <a16:creationId xmlns:a16="http://schemas.microsoft.com/office/drawing/2014/main" id="{0B0E4A50-8F1A-4667-A983-86B716B1A037}"/>
              </a:ext>
            </a:extLst>
          </p:cNvPr>
          <p:cNvSpPr>
            <a:spLocks xmlns:a="http://schemas.openxmlformats.org/drawingml/2006/main" noGrp="1"/>
          </p:cNvSpPr>
          <p:nvPr/>
        </p:nvSpPr>
        <p:spPr>
          <a:xfrm xmlns:a="http://schemas.openxmlformats.org/drawingml/2006/main">
            <a:off x="8096250" y="401955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1" i="0">
                <a:solidFill>
                  <a:srgbClr val="14B8A6"/>
                </a:solidFill>
                <a:latin typeface="DejaVu Sans"/>
                <a:ea typeface="DejaVu Sans"/>
                <a:cs typeface="DejaVu Sans"/>
              </a:defRPr>
            </a:pPr>
            <a:r>
              <a:rPr sz="1875" b="1" i="0">
                <a:solidFill>
                  <a:srgbClr val="14B8A6"/>
                </a:solidFill>
                <a:latin typeface="DejaVu Sans"/>
                <a:ea typeface="DejaVu Sans"/>
                <a:cs typeface="DejaVu Sans"/>
              </a:rPr>
              <a:t>Processing time</a:t>
            </a:r>
          </a:p>
        </p:txBody>
      </p:sp>
      <p:sp>
        <p:nvSpPr>
          <p:cNvPr id="10" name="">
            <a:extLst xmlns:a="http://schemas.openxmlformats.org/drawingml/2006/main">
              <a:ext uri="{FF2B5EF4-FFF2-40B4-BE49-F238E27FC236}">
                <a16:creationId xmlns:a16="http://schemas.microsoft.com/office/drawing/2014/main" id="{55FF6B5D-B6D1-499E-AD33-2E262B036C90}"/>
              </a:ext>
            </a:extLst>
          </p:cNvPr>
          <p:cNvSpPr>
            <a:spLocks xmlns:a="http://schemas.openxmlformats.org/drawingml/2006/main" noGrp="1"/>
          </p:cNvSpPr>
          <p:nvPr/>
        </p:nvSpPr>
        <p:spPr>
          <a:xfrm xmlns:a="http://schemas.openxmlformats.org/drawingml/2006/main">
            <a:off x="8096250" y="4457700"/>
            <a:ext cx="3524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142735"/>
                </a:solidFill>
                <a:latin typeface="DejaVu Sans"/>
                <a:ea typeface="DejaVu Sans"/>
                <a:cs typeface="DejaVu Sans"/>
              </a:defRPr>
            </a:pPr>
            <a:r>
              <a:rPr sz="1800" b="0" i="0">
                <a:solidFill>
                  <a:srgbClr val="142735"/>
                </a:solidFill>
                <a:latin typeface="DejaVu Sans"/>
                <a:ea typeface="DejaVu Sans"/>
                <a:cs typeface="DejaVu Sans"/>
              </a:rPr>
              <a:t>About 58–59 ms per frame*</a:t>
            </a:r>
          </a:p>
        </p:txBody>
      </p:sp>
      <p:sp>
        <p:nvSpPr>
          <p:cNvPr id="11" name="">
            <a:extLst xmlns:a="http://schemas.openxmlformats.org/drawingml/2006/main">
              <a:ext uri="{FF2B5EF4-FFF2-40B4-BE49-F238E27FC236}">
                <a16:creationId xmlns:a16="http://schemas.microsoft.com/office/drawing/2014/main" id="{19595CDA-BA50-4027-B13A-C901858C80F6}"/>
              </a:ext>
            </a:extLst>
          </p:cNvPr>
          <p:cNvSpPr>
            <a:spLocks xmlns:a="http://schemas.openxmlformats.org/drawingml/2006/main" noGrp="1"/>
          </p:cNvSpPr>
          <p:nvPr/>
        </p:nvSpPr>
        <p:spPr>
          <a:xfrm xmlns:a="http://schemas.openxmlformats.org/drawingml/2006/main">
            <a:off x="609600" y="6115050"/>
            <a:ext cx="702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i="0">
                <a:solidFill>
                  <a:srgbClr val="526777"/>
                </a:solidFill>
                <a:latin typeface="DejaVu Sans"/>
                <a:ea typeface="DejaVu Sans"/>
                <a:cs typeface="DejaVu Sans"/>
              </a:defRPr>
            </a:pPr>
            <a:r>
              <a:rPr sz="1500" b="0" i="0">
                <a:solidFill>
                  <a:srgbClr val="526777"/>
                </a:solidFill>
                <a:latin typeface="DejaVu Sans"/>
                <a:ea typeface="DejaVu Sans"/>
                <a:cs typeface="DejaVu Sans"/>
              </a:rPr>
              <a:t>Score 0.78 = model confidence, not 78% accuracy.</a:t>
            </a:r>
          </a:p>
        </p:txBody>
      </p:sp>
      <p:sp>
        <p:nvSpPr>
          <p:cNvPr id="12" name="">
            <a:extLst xmlns:a="http://schemas.openxmlformats.org/drawingml/2006/main">
              <a:ext uri="{FF2B5EF4-FFF2-40B4-BE49-F238E27FC236}">
                <a16:creationId xmlns:a16="http://schemas.microsoft.com/office/drawing/2014/main" id="{27FBF258-36DF-4996-93FF-56200321BE10}"/>
              </a:ext>
            </a:extLst>
          </p:cNvPr>
          <p:cNvSpPr>
            <a:spLocks xmlns:a="http://schemas.openxmlformats.org/drawingml/2006/main" noGrp="1"/>
          </p:cNvSpPr>
          <p:nvPr/>
        </p:nvSpPr>
        <p:spPr>
          <a:xfrm xmlns:a="http://schemas.openxmlformats.org/drawingml/2006/main">
            <a:off x="8096250" y="5467350"/>
            <a:ext cx="352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526777"/>
                </a:solidFill>
                <a:latin typeface="DejaVu Sans"/>
                <a:ea typeface="DejaVu Sans"/>
                <a:cs typeface="DejaVu Sans"/>
              </a:defRPr>
            </a:pPr>
            <a:r>
              <a:rPr sz="1350" b="0" i="0">
                <a:solidFill>
                  <a:srgbClr val="526777"/>
                </a:solidFill>
                <a:latin typeface="DejaVu Sans"/>
                <a:ea typeface="DejaVu Sans"/>
                <a:cs typeface="DejaVu Sans"/>
              </a:rPr>
              <a:t>*Median node processing in observed windows. Filter off; confidence cutoff 0.25. Brief scene checks.</a:t>
            </a:r>
          </a:p>
        </p:txBody>
      </p:sp>
    </p:spTree>
    <p:extLst>
      <p:ext uri="{BB962C8B-B14F-4D97-AF65-F5344CB8AC3E}">
        <p14:creationId xmlns:p14="http://schemas.microsoft.com/office/powerpoint/2010/main" val="678538535"/>
      </p:ext>
    </p:extLst>
  </p:cSld>
</p:sld>
</file>

<file path=ppt/slides/slide15.xml><?xml version="1.0" encoding="utf-8"?>
<p:sld xmlns:p="http://schemas.openxmlformats.org/presentationml/2006/main">
  <p:cSld>
    <p:bg>
      <p:bgPr>
        <a:solidFill xmlns:a="http://schemas.openxmlformats.org/drawingml/2006/main">
          <a:srgbClr val="07182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DAE4E8F-AC47-4DC2-8220-E40333971D78}"/>
              </a:ext>
            </a:extLst>
          </p:cNvPr>
          <p:cNvSpPr>
            <a:spLocks xmlns:a="http://schemas.openxmlformats.org/drawingml/2006/main" noGrp="1"/>
          </p:cNvSpPr>
          <p:nvPr/>
        </p:nvSpPr>
        <p:spPr>
          <a:xfrm xmlns:a="http://schemas.openxmlformats.org/drawingml/2006/main">
            <a:off x="609600" y="400050"/>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i="0">
                <a:solidFill>
                  <a:srgbClr val="FFFFFF"/>
                </a:solidFill>
                <a:latin typeface="DejaVu Sans"/>
                <a:ea typeface="DejaVu Sans"/>
                <a:cs typeface="DejaVu Sans"/>
              </a:defRPr>
            </a:pPr>
            <a:r>
              <a:rPr sz="2550" b="1" i="0">
                <a:solidFill>
                  <a:srgbClr val="FFFFFF"/>
                </a:solidFill>
                <a:latin typeface="DejaVu Sans"/>
                <a:ea typeface="DejaVu Sans"/>
                <a:cs typeface="DejaVu Sans"/>
              </a:rPr>
              <a:t>Geometry filter limitation</a:t>
            </a:r>
          </a:p>
        </p:txBody>
      </p:sp>
      <p:sp>
        <p:nvSpPr>
          <p:cNvPr id="2" name="">
            <a:extLst xmlns:a="http://schemas.openxmlformats.org/drawingml/2006/main">
              <a:ext uri="{FF2B5EF4-FFF2-40B4-BE49-F238E27FC236}">
                <a16:creationId xmlns:a16="http://schemas.microsoft.com/office/drawing/2014/main" id="{8FDCC062-E8BD-42C2-A935-E17C65D954B6}"/>
              </a:ext>
            </a:extLst>
          </p:cNvPr>
          <p:cNvSpPr>
            <a:spLocks xmlns:a="http://schemas.openxmlformats.org/drawingml/2006/main" noGrp="1"/>
          </p:cNvSpPr>
          <p:nvPr/>
        </p:nvSpPr>
        <p:spPr>
          <a:xfrm xmlns:a="http://schemas.openxmlformats.org/drawingml/2006/main">
            <a:off x="609600" y="1028700"/>
            <a:ext cx="819150" cy="57150"/>
          </a:xfrm>
          <a:prstGeom xmlns:a="http://schemas.openxmlformats.org/drawingml/2006/main" prst="rect">
            <a:avLst/>
          </a:prstGeom>
          <a:solidFill xmlns:a="http://schemas.openxmlformats.org/drawingml/2006/main">
            <a:srgbClr val="14B8A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CA4741C-61C4-4E79-ACF7-B36F6CFE1046}"/>
              </a:ext>
            </a:extLst>
          </p:cNvPr>
          <p:cNvSpPr>
            <a:spLocks xmlns:a="http://schemas.openxmlformats.org/drawingml/2006/main" noGrp="1"/>
          </p:cNvSpPr>
          <p:nvPr/>
        </p:nvSpPr>
        <p:spPr>
          <a:xfrm xmlns:a="http://schemas.openxmlformats.org/drawingml/2006/main">
            <a:off x="11144250" y="45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FB3C9"/>
                </a:solidFill>
                <a:latin typeface="DejaVu Sans"/>
                <a:ea typeface="DejaVu Sans"/>
                <a:cs typeface="DejaVu Sans"/>
              </a:defRPr>
            </a:pPr>
            <a:r>
              <a:rPr sz="1200" b="1" i="0">
                <a:solidFill>
                  <a:srgbClr val="8FB3C9"/>
                </a:solidFill>
                <a:latin typeface="DejaVu Sans"/>
                <a:ea typeface="DejaVu Sans"/>
                <a:cs typeface="DejaVu Sans"/>
              </a:rPr>
              <a:t>15</a:t>
            </a:r>
          </a:p>
        </p:txBody>
      </p:sp>
      <p:sp>
        <p:nvSpPr>
          <p:cNvPr id="4" name="">
            <a:extLst xmlns:a="http://schemas.openxmlformats.org/drawingml/2006/main">
              <a:ext uri="{FF2B5EF4-FFF2-40B4-BE49-F238E27FC236}">
                <a16:creationId xmlns:a16="http://schemas.microsoft.com/office/drawing/2014/main" id="{76AD30F4-CA96-41F9-B90A-A5F3842C37D7}"/>
              </a:ext>
            </a:extLst>
          </p:cNvPr>
          <p:cNvSpPr>
            <a:spLocks xmlns:a="http://schemas.openxmlformats.org/drawingml/2006/main" noGrp="1"/>
          </p:cNvSpPr>
          <p:nvPr/>
        </p:nvSpPr>
        <p:spPr>
          <a:xfrm xmlns:a="http://schemas.openxmlformats.org/drawingml/2006/main">
            <a:off x="904875" y="1638300"/>
            <a:ext cx="247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4650" b="1" i="0">
                <a:solidFill>
                  <a:srgbClr val="14B8A6"/>
                </a:solidFill>
                <a:latin typeface="DejaVu Sans"/>
                <a:ea typeface="DejaVu Sans"/>
                <a:cs typeface="DejaVu Sans"/>
              </a:defRPr>
            </a:pPr>
            <a:r>
              <a:rPr sz="4650" b="1" i="0">
                <a:solidFill>
                  <a:srgbClr val="14B8A6"/>
                </a:solidFill>
                <a:latin typeface="DejaVu Sans"/>
                <a:ea typeface="DejaVu Sans"/>
                <a:cs typeface="DejaVu Sans"/>
              </a:rPr>
              <a:t>≈ 4</a:t>
            </a:r>
          </a:p>
        </p:txBody>
      </p:sp>
      <p:sp>
        <p:nvSpPr>
          <p:cNvPr id="5" name="">
            <a:extLst xmlns:a="http://schemas.openxmlformats.org/drawingml/2006/main">
              <a:ext uri="{FF2B5EF4-FFF2-40B4-BE49-F238E27FC236}">
                <a16:creationId xmlns:a16="http://schemas.microsoft.com/office/drawing/2014/main" id="{6554A3A7-5D4F-4296-9813-23E0228AC54A}"/>
              </a:ext>
            </a:extLst>
          </p:cNvPr>
          <p:cNvSpPr>
            <a:spLocks xmlns:a="http://schemas.openxmlformats.org/drawingml/2006/main" noGrp="1"/>
          </p:cNvSpPr>
          <p:nvPr/>
        </p:nvSpPr>
        <p:spPr>
          <a:xfrm xmlns:a="http://schemas.openxmlformats.org/drawingml/2006/main">
            <a:off x="904875" y="2571750"/>
            <a:ext cx="247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i="0">
                <a:solidFill>
                  <a:srgbClr val="C7D9E5"/>
                </a:solidFill>
                <a:latin typeface="DejaVu Sans"/>
                <a:ea typeface="DejaVu Sans"/>
                <a:cs typeface="DejaVu Sans"/>
              </a:defRPr>
            </a:pPr>
            <a:r>
              <a:rPr sz="1500" b="0" i="0">
                <a:solidFill>
                  <a:srgbClr val="C7D9E5"/>
                </a:solidFill>
                <a:latin typeface="DejaVu Sans"/>
                <a:ea typeface="DejaVu Sans"/>
                <a:cs typeface="DejaVu Sans"/>
              </a:rPr>
              <a:t>model candidates per frame</a:t>
            </a:r>
          </a:p>
        </p:txBody>
      </p:sp>
      <p:sp>
        <p:nvSpPr>
          <p:cNvPr id="6" name="">
            <a:extLst xmlns:a="http://schemas.openxmlformats.org/drawingml/2006/main">
              <a:ext uri="{FF2B5EF4-FFF2-40B4-BE49-F238E27FC236}">
                <a16:creationId xmlns:a16="http://schemas.microsoft.com/office/drawing/2014/main" id="{B3249009-9A1C-4DF4-B648-D59E3D299707}"/>
              </a:ext>
            </a:extLst>
          </p:cNvPr>
          <p:cNvSpPr>
            <a:spLocks xmlns:a="http://schemas.openxmlformats.org/drawingml/2006/main" noGrp="1"/>
          </p:cNvSpPr>
          <p:nvPr/>
        </p:nvSpPr>
        <p:spPr>
          <a:xfrm xmlns:a="http://schemas.openxmlformats.org/drawingml/2006/main">
            <a:off x="4762500" y="1638300"/>
            <a:ext cx="247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4650" b="1" i="0">
                <a:solidFill>
                  <a:srgbClr val="DC2626"/>
                </a:solidFill>
                <a:latin typeface="DejaVu Sans"/>
                <a:ea typeface="DejaVu Sans"/>
                <a:cs typeface="DejaVu Sans"/>
              </a:defRPr>
            </a:pPr>
            <a:r>
              <a:rPr sz="4650" b="1" i="0">
                <a:solidFill>
                  <a:srgbClr val="DC2626"/>
                </a:solidFill>
                <a:latin typeface="DejaVu Sans"/>
                <a:ea typeface="DejaVu Sans"/>
                <a:cs typeface="DejaVu Sans"/>
              </a:rPr>
              <a:t>0</a:t>
            </a:r>
          </a:p>
        </p:txBody>
      </p:sp>
      <p:sp>
        <p:nvSpPr>
          <p:cNvPr id="7" name="">
            <a:extLst xmlns:a="http://schemas.openxmlformats.org/drawingml/2006/main">
              <a:ext uri="{FF2B5EF4-FFF2-40B4-BE49-F238E27FC236}">
                <a16:creationId xmlns:a16="http://schemas.microsoft.com/office/drawing/2014/main" id="{2837463D-B82E-415E-B841-1743BFE063F1}"/>
              </a:ext>
            </a:extLst>
          </p:cNvPr>
          <p:cNvSpPr>
            <a:spLocks xmlns:a="http://schemas.openxmlformats.org/drawingml/2006/main" noGrp="1"/>
          </p:cNvSpPr>
          <p:nvPr/>
        </p:nvSpPr>
        <p:spPr>
          <a:xfrm xmlns:a="http://schemas.openxmlformats.org/drawingml/2006/main">
            <a:off x="4762500" y="2571750"/>
            <a:ext cx="247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i="0">
                <a:solidFill>
                  <a:srgbClr val="C7D9E5"/>
                </a:solidFill>
                <a:latin typeface="DejaVu Sans"/>
                <a:ea typeface="DejaVu Sans"/>
                <a:cs typeface="DejaVu Sans"/>
              </a:defRPr>
            </a:pPr>
            <a:r>
              <a:rPr sz="1500" b="0" i="0">
                <a:solidFill>
                  <a:srgbClr val="C7D9E5"/>
                </a:solidFill>
                <a:latin typeface="DejaVu Sans"/>
                <a:ea typeface="DejaVu Sans"/>
                <a:cs typeface="DejaVu Sans"/>
              </a:rPr>
              <a:t>detections kept</a:t>
            </a:r>
          </a:p>
        </p:txBody>
      </p:sp>
      <p:sp>
        <p:nvSpPr>
          <p:cNvPr id="8" name="">
            <a:extLst xmlns:a="http://schemas.openxmlformats.org/drawingml/2006/main">
              <a:ext uri="{FF2B5EF4-FFF2-40B4-BE49-F238E27FC236}">
                <a16:creationId xmlns:a16="http://schemas.microsoft.com/office/drawing/2014/main" id="{35C3BA43-A4FC-4DDB-BA59-16A4B4F4CD34}"/>
              </a:ext>
            </a:extLst>
          </p:cNvPr>
          <p:cNvSpPr>
            <a:spLocks xmlns:a="http://schemas.openxmlformats.org/drawingml/2006/main" noGrp="1"/>
          </p:cNvSpPr>
          <p:nvPr/>
        </p:nvSpPr>
        <p:spPr>
          <a:xfrm xmlns:a="http://schemas.openxmlformats.org/drawingml/2006/main">
            <a:off x="8620125" y="1638300"/>
            <a:ext cx="247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900" b="1" i="0">
                <a:solidFill>
                  <a:srgbClr val="D97706"/>
                </a:solidFill>
                <a:latin typeface="DejaVu Sans"/>
                <a:ea typeface="DejaVu Sans"/>
                <a:cs typeface="DejaVu Sans"/>
              </a:defRPr>
            </a:pPr>
            <a:r>
              <a:rPr sz="3900" b="1" i="0">
                <a:solidFill>
                  <a:srgbClr val="D97706"/>
                </a:solidFill>
                <a:latin typeface="DejaVu Sans"/>
                <a:ea typeface="DejaVu Sans"/>
                <a:cs typeface="DejaVu Sans"/>
              </a:rPr>
              <a:t>flat</a:t>
            </a:r>
          </a:p>
        </p:txBody>
      </p:sp>
      <p:sp>
        <p:nvSpPr>
          <p:cNvPr id="9" name="">
            <a:extLst xmlns:a="http://schemas.openxmlformats.org/drawingml/2006/main">
              <a:ext uri="{FF2B5EF4-FFF2-40B4-BE49-F238E27FC236}">
                <a16:creationId xmlns:a16="http://schemas.microsoft.com/office/drawing/2014/main" id="{0ADEA2BB-D798-4292-89B1-954FD293ABEF}"/>
              </a:ext>
            </a:extLst>
          </p:cNvPr>
          <p:cNvSpPr>
            <a:spLocks xmlns:a="http://schemas.openxmlformats.org/drawingml/2006/main" noGrp="1"/>
          </p:cNvSpPr>
          <p:nvPr/>
        </p:nvSpPr>
        <p:spPr>
          <a:xfrm xmlns:a="http://schemas.openxmlformats.org/drawingml/2006/main">
            <a:off x="8620125" y="2571750"/>
            <a:ext cx="247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i="0">
                <a:solidFill>
                  <a:srgbClr val="C7D9E5"/>
                </a:solidFill>
                <a:latin typeface="DejaVu Sans"/>
                <a:ea typeface="DejaVu Sans"/>
                <a:cs typeface="DejaVu Sans"/>
              </a:defRPr>
            </a:pPr>
            <a:r>
              <a:rPr sz="1500" b="0" i="0">
                <a:solidFill>
                  <a:srgbClr val="C7D9E5"/>
                </a:solidFill>
                <a:latin typeface="DejaVu Sans"/>
                <a:ea typeface="DejaVu Sans"/>
                <a:cs typeface="DejaVu Sans"/>
              </a:rPr>
              <a:t>only rejection reason</a:t>
            </a:r>
          </a:p>
        </p:txBody>
      </p:sp>
      <p:sp>
        <p:nvSpPr>
          <p:cNvPr id="10" name="">
            <a:extLst xmlns:a="http://schemas.openxmlformats.org/drawingml/2006/main">
              <a:ext uri="{FF2B5EF4-FFF2-40B4-BE49-F238E27FC236}">
                <a16:creationId xmlns:a16="http://schemas.microsoft.com/office/drawing/2014/main" id="{34888B56-B1F0-49F8-A516-F7C7F015F017}"/>
              </a:ext>
            </a:extLst>
          </p:cNvPr>
          <p:cNvSpPr>
            <a:spLocks xmlns:a="http://schemas.openxmlformats.org/drawingml/2006/main" noGrp="1"/>
          </p:cNvSpPr>
          <p:nvPr/>
        </p:nvSpPr>
        <p:spPr>
          <a:xfrm xmlns:a="http://schemas.openxmlformats.org/drawingml/2006/main">
            <a:off x="1095375" y="3571875"/>
            <a:ext cx="10001250" cy="28575"/>
          </a:xfrm>
          <a:prstGeom xmlns:a="http://schemas.openxmlformats.org/drawingml/2006/main" prst="rect">
            <a:avLst/>
          </a:prstGeom>
          <a:solidFill xmlns:a="http://schemas.openxmlformats.org/drawingml/2006/main">
            <a:srgbClr val="31516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97E8489-2D4C-4E68-91D9-151DF7FC7601}"/>
              </a:ext>
            </a:extLst>
          </p:cNvPr>
          <p:cNvSpPr>
            <a:spLocks xmlns:a="http://schemas.openxmlformats.org/drawingml/2006/main" noGrp="1"/>
          </p:cNvSpPr>
          <p:nvPr/>
        </p:nvSpPr>
        <p:spPr>
          <a:xfrm xmlns:a="http://schemas.openxmlformats.org/drawingml/2006/main">
            <a:off x="1524000" y="4000500"/>
            <a:ext cx="914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682"/>
          </a:bodyPr>
          <a:lstStyle xmlns:a="http://schemas.openxmlformats.org/drawingml/2006/main"/>
          <a:p xmlns:a="http://schemas.openxmlformats.org/drawingml/2006/main">
            <a:pPr>
              <a:defRPr sz="2100" b="1" i="0">
                <a:solidFill>
                  <a:srgbClr val="FFFFFF"/>
                </a:solidFill>
                <a:latin typeface="DejaVu Sans"/>
                <a:ea typeface="DejaVu Sans"/>
                <a:cs typeface="DejaVu Sans"/>
              </a:defRPr>
            </a:pPr>
            <a:r>
              <a:rPr sz="2100" b="1" i="0">
                <a:solidFill>
                  <a:srgbClr val="FFFFFF"/>
                </a:solidFill>
                <a:latin typeface="DejaVu Sans"/>
                <a:ea typeface="DejaVu Sans"/>
                <a:cs typeface="DejaVu Sans"/>
              </a:rPr>
              <a:t>The detector continued to produce candidates. The downstream depth-based filter removed every candidate, including the real cubes.</a:t>
            </a:r>
          </a:p>
        </p:txBody>
      </p:sp>
      <p:sp>
        <p:nvSpPr>
          <p:cNvPr id="12" name="">
            <a:extLst xmlns:a="http://schemas.openxmlformats.org/drawingml/2006/main">
              <a:ext uri="{FF2B5EF4-FFF2-40B4-BE49-F238E27FC236}">
                <a16:creationId xmlns:a16="http://schemas.microsoft.com/office/drawing/2014/main" id="{463AC1AB-2A73-478F-B487-B159DA9C83DB}"/>
              </a:ext>
            </a:extLst>
          </p:cNvPr>
          <p:cNvSpPr>
            <a:spLocks xmlns:a="http://schemas.openxmlformats.org/drawingml/2006/main" noGrp="1"/>
          </p:cNvSpPr>
          <p:nvPr/>
        </p:nvSpPr>
        <p:spPr>
          <a:xfrm xmlns:a="http://schemas.openxmlformats.org/drawingml/2006/main">
            <a:off x="2095500" y="5334000"/>
            <a:ext cx="800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79"/>
          </a:bodyPr>
          <a:lstStyle xmlns:a="http://schemas.openxmlformats.org/drawingml/2006/main"/>
          <a:p xmlns:a="http://schemas.openxmlformats.org/drawingml/2006/main">
            <a:pPr>
              <a:defRPr sz="1575" b="0" i="0">
                <a:solidFill>
                  <a:srgbClr val="C7D9E5"/>
                </a:solidFill>
                <a:latin typeface="DejaVu Sans"/>
                <a:ea typeface="DejaVu Sans"/>
                <a:cs typeface="DejaVu Sans"/>
              </a:defRPr>
            </a:pPr>
            <a:r>
              <a:rPr sz="1575" b="0" i="0">
                <a:solidFill>
                  <a:srgbClr val="C7D9E5"/>
                </a:solidFill>
                <a:latin typeface="DejaVu Sans"/>
                <a:ea typeface="DejaVu Sans"/>
                <a:cs typeface="DejaVu Sans"/>
              </a:rPr>
              <a:t>Rejection stage identified. Root cause still needs depth and alignment checks.</a:t>
            </a:r>
          </a:p>
        </p:txBody>
      </p:sp>
    </p:spTree>
    <p:extLst>
      <p:ext uri="{BB962C8B-B14F-4D97-AF65-F5344CB8AC3E}">
        <p14:creationId xmlns:p14="http://schemas.microsoft.com/office/powerpoint/2010/main" val="1115369625"/>
      </p:ext>
    </p:extLst>
  </p:cSld>
</p:sld>
</file>

<file path=ppt/slides/slide16.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4AEE6D8-E3B1-4AA8-A1F7-DD2F2506CC23}"/>
              </a:ext>
            </a:extLst>
          </p:cNvPr>
          <p:cNvSpPr>
            <a:spLocks xmlns:a="http://schemas.openxmlformats.org/drawingml/2006/main" noGrp="1"/>
          </p:cNvSpPr>
          <p:nvPr/>
        </p:nvSpPr>
        <p:spPr>
          <a:xfrm xmlns:a="http://schemas.openxmlformats.org/drawingml/2006/main">
            <a:off x="609600" y="400050"/>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i="0">
                <a:solidFill>
                  <a:srgbClr val="142735"/>
                </a:solidFill>
                <a:latin typeface="DejaVu Sans"/>
                <a:ea typeface="DejaVu Sans"/>
                <a:cs typeface="DejaVu Sans"/>
              </a:defRPr>
            </a:pPr>
            <a:r>
              <a:rPr sz="2550" b="1" i="0">
                <a:solidFill>
                  <a:srgbClr val="142735"/>
                </a:solidFill>
                <a:latin typeface="DejaVu Sans"/>
                <a:ea typeface="DejaVu Sans"/>
                <a:cs typeface="DejaVu Sans"/>
              </a:rPr>
              <a:t>Conclusion: demonstrated behavior and open work</a:t>
            </a:r>
          </a:p>
        </p:txBody>
      </p:sp>
      <p:sp>
        <p:nvSpPr>
          <p:cNvPr id="2" name="">
            <a:extLst xmlns:a="http://schemas.openxmlformats.org/drawingml/2006/main">
              <a:ext uri="{FF2B5EF4-FFF2-40B4-BE49-F238E27FC236}">
                <a16:creationId xmlns:a16="http://schemas.microsoft.com/office/drawing/2014/main" id="{7B32ADB5-D1B3-4C06-AAFD-00BDB6430958}"/>
              </a:ext>
            </a:extLst>
          </p:cNvPr>
          <p:cNvSpPr>
            <a:spLocks xmlns:a="http://schemas.openxmlformats.org/drawingml/2006/main" noGrp="1"/>
          </p:cNvSpPr>
          <p:nvPr/>
        </p:nvSpPr>
        <p:spPr>
          <a:xfrm xmlns:a="http://schemas.openxmlformats.org/drawingml/2006/main">
            <a:off x="609600" y="1028700"/>
            <a:ext cx="819150" cy="57150"/>
          </a:xfrm>
          <a:prstGeom xmlns:a="http://schemas.openxmlformats.org/drawingml/2006/main" prst="rect">
            <a:avLst/>
          </a:prstGeom>
          <a:solidFill xmlns:a="http://schemas.openxmlformats.org/drawingml/2006/main">
            <a:srgbClr val="14B8A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BD82232-C740-4977-AAAB-8385C301C3D0}"/>
              </a:ext>
            </a:extLst>
          </p:cNvPr>
          <p:cNvSpPr>
            <a:spLocks xmlns:a="http://schemas.openxmlformats.org/drawingml/2006/main" noGrp="1"/>
          </p:cNvSpPr>
          <p:nvPr/>
        </p:nvSpPr>
        <p:spPr>
          <a:xfrm xmlns:a="http://schemas.openxmlformats.org/drawingml/2006/main">
            <a:off x="11144250" y="45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26777"/>
                </a:solidFill>
                <a:latin typeface="DejaVu Sans"/>
                <a:ea typeface="DejaVu Sans"/>
                <a:cs typeface="DejaVu Sans"/>
              </a:defRPr>
            </a:pPr>
            <a:r>
              <a:rPr sz="1200" b="1" i="0">
                <a:solidFill>
                  <a:srgbClr val="526777"/>
                </a:solidFill>
                <a:latin typeface="DejaVu Sans"/>
                <a:ea typeface="DejaVu Sans"/>
                <a:cs typeface="DejaVu Sans"/>
              </a:rPr>
              <a:t>16</a:t>
            </a:r>
          </a:p>
        </p:txBody>
      </p:sp>
      <p:sp>
        <p:nvSpPr>
          <p:cNvPr id="4" name="">
            <a:extLst xmlns:a="http://schemas.openxmlformats.org/drawingml/2006/main">
              <a:ext uri="{FF2B5EF4-FFF2-40B4-BE49-F238E27FC236}">
                <a16:creationId xmlns:a16="http://schemas.microsoft.com/office/drawing/2014/main" id="{A6D3CF46-22E4-408B-B22C-4C0AF87D7919}"/>
              </a:ext>
            </a:extLst>
          </p:cNvPr>
          <p:cNvSpPr>
            <a:spLocks xmlns:a="http://schemas.openxmlformats.org/drawingml/2006/main" noGrp="1"/>
          </p:cNvSpPr>
          <p:nvPr/>
        </p:nvSpPr>
        <p:spPr>
          <a:xfrm xmlns:a="http://schemas.openxmlformats.org/drawingml/2006/main">
            <a:off x="609600" y="1666875"/>
            <a:ext cx="4286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02A43"/>
                </a:solidFill>
                <a:latin typeface="DejaVu Sans"/>
                <a:ea typeface="DejaVu Sans"/>
                <a:cs typeface="DejaVu Sans"/>
              </a:defRPr>
            </a:pPr>
            <a:r>
              <a:rPr sz="2025" b="1" i="0">
                <a:solidFill>
                  <a:srgbClr val="102A43"/>
                </a:solidFill>
                <a:latin typeface="DejaVu Sans"/>
                <a:ea typeface="DejaVu Sans"/>
                <a:cs typeface="DejaVu Sans"/>
              </a:rPr>
              <a:t>Demonstrated</a:t>
            </a:r>
          </a:p>
        </p:txBody>
      </p:sp>
      <p:sp>
        <p:nvSpPr>
          <p:cNvPr id="5" name="">
            <a:extLst xmlns:a="http://schemas.openxmlformats.org/drawingml/2006/main">
              <a:ext uri="{FF2B5EF4-FFF2-40B4-BE49-F238E27FC236}">
                <a16:creationId xmlns:a16="http://schemas.microsoft.com/office/drawing/2014/main" id="{31FEB392-CEAE-4A70-BE80-5302CEE63BE5}"/>
              </a:ext>
            </a:extLst>
          </p:cNvPr>
          <p:cNvSpPr>
            <a:spLocks xmlns:a="http://schemas.openxmlformats.org/drawingml/2006/main" noGrp="1"/>
          </p:cNvSpPr>
          <p:nvPr/>
        </p:nvSpPr>
        <p:spPr>
          <a:xfrm xmlns:a="http://schemas.openxmlformats.org/drawingml/2006/main">
            <a:off x="5810250" y="1666875"/>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The fine-tuned model runs on Jetson and detected all three colors in the observed live scene.</a:t>
            </a:r>
          </a:p>
        </p:txBody>
      </p:sp>
      <p:sp>
        <p:nvSpPr>
          <p:cNvPr id="6" name="">
            <a:extLst xmlns:a="http://schemas.openxmlformats.org/drawingml/2006/main">
              <a:ext uri="{FF2B5EF4-FFF2-40B4-BE49-F238E27FC236}">
                <a16:creationId xmlns:a16="http://schemas.microsoft.com/office/drawing/2014/main" id="{1BFC86D5-6650-490D-9CB7-EFAE681BDC34}"/>
              </a:ext>
            </a:extLst>
          </p:cNvPr>
          <p:cNvSpPr>
            <a:spLocks xmlns:a="http://schemas.openxmlformats.org/drawingml/2006/main" noGrp="1"/>
          </p:cNvSpPr>
          <p:nvPr/>
        </p:nvSpPr>
        <p:spPr>
          <a:xfrm xmlns:a="http://schemas.openxmlformats.org/drawingml/2006/main">
            <a:off x="609600" y="2876550"/>
            <a:ext cx="10839450" cy="19050"/>
          </a:xfrm>
          <a:prstGeom xmlns:a="http://schemas.openxmlformats.org/drawingml/2006/main" prst="rect">
            <a:avLst/>
          </a:prstGeom>
          <a:solidFill xmlns:a="http://schemas.openxmlformats.org/drawingml/2006/main">
            <a:srgbClr val="D8E0E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AD8D9D2-C53B-49BE-89EE-CE1359EF9A58}"/>
              </a:ext>
            </a:extLst>
          </p:cNvPr>
          <p:cNvSpPr>
            <a:spLocks xmlns:a="http://schemas.openxmlformats.org/drawingml/2006/main" noGrp="1"/>
          </p:cNvSpPr>
          <p:nvPr/>
        </p:nvSpPr>
        <p:spPr>
          <a:xfrm xmlns:a="http://schemas.openxmlformats.org/drawingml/2006/main">
            <a:off x="609600" y="3048000"/>
            <a:ext cx="4286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02A43"/>
                </a:solidFill>
                <a:latin typeface="DejaVu Sans"/>
                <a:ea typeface="DejaVu Sans"/>
                <a:cs typeface="DejaVu Sans"/>
              </a:defRPr>
            </a:pPr>
            <a:r>
              <a:rPr sz="2025" b="1" i="0">
                <a:solidFill>
                  <a:srgbClr val="102A43"/>
                </a:solidFill>
                <a:latin typeface="DejaVu Sans"/>
                <a:ea typeface="DejaVu Sans"/>
                <a:cs typeface="DejaVu Sans"/>
              </a:rPr>
              <a:t>Limited evidence</a:t>
            </a:r>
          </a:p>
        </p:txBody>
      </p:sp>
      <p:sp>
        <p:nvSpPr>
          <p:cNvPr id="8" name="">
            <a:extLst xmlns:a="http://schemas.openxmlformats.org/drawingml/2006/main">
              <a:ext uri="{FF2B5EF4-FFF2-40B4-BE49-F238E27FC236}">
                <a16:creationId xmlns:a16="http://schemas.microsoft.com/office/drawing/2014/main" id="{0485E0C5-E552-4FCB-B010-9BB92CDDF6A9}"/>
              </a:ext>
            </a:extLst>
          </p:cNvPr>
          <p:cNvSpPr>
            <a:spLocks xmlns:a="http://schemas.openxmlformats.org/drawingml/2006/main" noGrp="1"/>
          </p:cNvSpPr>
          <p:nvPr/>
        </p:nvSpPr>
        <p:spPr>
          <a:xfrm xmlns:a="http://schemas.openxmlformats.org/drawingml/2006/main">
            <a:off x="5810250" y="3048000"/>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Background and runtime checks are brief. Full-range and broader-scene reliability remain unmeasured.</a:t>
            </a:r>
          </a:p>
        </p:txBody>
      </p:sp>
      <p:sp>
        <p:nvSpPr>
          <p:cNvPr id="9" name="">
            <a:extLst xmlns:a="http://schemas.openxmlformats.org/drawingml/2006/main">
              <a:ext uri="{FF2B5EF4-FFF2-40B4-BE49-F238E27FC236}">
                <a16:creationId xmlns:a16="http://schemas.microsoft.com/office/drawing/2014/main" id="{1EEDF253-ED4B-4E3E-A3A3-DC5B97836DDF}"/>
              </a:ext>
            </a:extLst>
          </p:cNvPr>
          <p:cNvSpPr>
            <a:spLocks xmlns:a="http://schemas.openxmlformats.org/drawingml/2006/main" noGrp="1"/>
          </p:cNvSpPr>
          <p:nvPr/>
        </p:nvSpPr>
        <p:spPr>
          <a:xfrm xmlns:a="http://schemas.openxmlformats.org/drawingml/2006/main">
            <a:off x="609600" y="4257675"/>
            <a:ext cx="10839450" cy="19050"/>
          </a:xfrm>
          <a:prstGeom xmlns:a="http://schemas.openxmlformats.org/drawingml/2006/main" prst="rect">
            <a:avLst/>
          </a:prstGeom>
          <a:solidFill xmlns:a="http://schemas.openxmlformats.org/drawingml/2006/main">
            <a:srgbClr val="D8E0E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79CBDAE-4530-4EAB-95AE-A1F002B48F23}"/>
              </a:ext>
            </a:extLst>
          </p:cNvPr>
          <p:cNvSpPr>
            <a:spLocks xmlns:a="http://schemas.openxmlformats.org/drawingml/2006/main" noGrp="1"/>
          </p:cNvSpPr>
          <p:nvPr/>
        </p:nvSpPr>
        <p:spPr>
          <a:xfrm xmlns:a="http://schemas.openxmlformats.org/drawingml/2006/main">
            <a:off x="609600" y="4429125"/>
            <a:ext cx="4286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02A43"/>
                </a:solidFill>
                <a:latin typeface="DejaVu Sans"/>
                <a:ea typeface="DejaVu Sans"/>
                <a:cs typeface="DejaVu Sans"/>
              </a:defRPr>
            </a:pPr>
            <a:r>
              <a:rPr sz="2025" b="1" i="0">
                <a:solidFill>
                  <a:srgbClr val="102A43"/>
                </a:solidFill>
                <a:latin typeface="DejaVu Sans"/>
                <a:ea typeface="DejaVu Sans"/>
                <a:cs typeface="DejaVu Sans"/>
              </a:rPr>
              <a:t>Unfinished</a:t>
            </a:r>
          </a:p>
        </p:txBody>
      </p:sp>
      <p:sp>
        <p:nvSpPr>
          <p:cNvPr id="11" name="">
            <a:extLst xmlns:a="http://schemas.openxmlformats.org/drawingml/2006/main">
              <a:ext uri="{FF2B5EF4-FFF2-40B4-BE49-F238E27FC236}">
                <a16:creationId xmlns:a16="http://schemas.microsoft.com/office/drawing/2014/main" id="{3DAF72D4-C810-4B97-ADBE-1058E26FA446}"/>
              </a:ext>
            </a:extLst>
          </p:cNvPr>
          <p:cNvSpPr>
            <a:spLocks xmlns:a="http://schemas.openxmlformats.org/drawingml/2006/main" noGrp="1"/>
          </p:cNvSpPr>
          <p:nvPr/>
        </p:nvSpPr>
        <p:spPr>
          <a:xfrm xmlns:a="http://schemas.openxmlformats.org/drawingml/2006/main">
            <a:off x="5810250" y="4429125"/>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The geometry filter rejects valid cubes. Reliable depth-based localization still needs verification.</a:t>
            </a:r>
          </a:p>
        </p:txBody>
      </p:sp>
      <p:sp>
        <p:nvSpPr>
          <p:cNvPr id="12" name="">
            <a:extLst xmlns:a="http://schemas.openxmlformats.org/drawingml/2006/main">
              <a:ext uri="{FF2B5EF4-FFF2-40B4-BE49-F238E27FC236}">
                <a16:creationId xmlns:a16="http://schemas.microsoft.com/office/drawing/2014/main" id="{B7FB2CD2-DA32-455F-93A8-AC46113FEEAB}"/>
              </a:ext>
            </a:extLst>
          </p:cNvPr>
          <p:cNvSpPr>
            <a:spLocks xmlns:a="http://schemas.openxmlformats.org/drawingml/2006/main" noGrp="1"/>
          </p:cNvSpPr>
          <p:nvPr/>
        </p:nvSpPr>
        <p:spPr>
          <a:xfrm xmlns:a="http://schemas.openxmlformats.org/drawingml/2006/main">
            <a:off x="609600" y="6000750"/>
            <a:ext cx="1085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708"/>
          </a:bodyPr>
          <a:lstStyle xmlns:a="http://schemas.openxmlformats.org/drawingml/2006/main"/>
          <a:p xmlns:a="http://schemas.openxmlformats.org/drawingml/2006/main">
            <a:pPr>
              <a:defRPr sz="1800" b="1" i="0">
                <a:solidFill>
                  <a:srgbClr val="14B8A6"/>
                </a:solidFill>
                <a:latin typeface="DejaVu Sans"/>
                <a:ea typeface="DejaVu Sans"/>
                <a:cs typeface="DejaVu Sans"/>
              </a:defRPr>
            </a:pPr>
            <a:r>
              <a:rPr sz="1800" b="1" i="0">
                <a:solidFill>
                  <a:srgbClr val="14B8A6"/>
                </a:solidFill>
                <a:latin typeface="DejaVu Sans"/>
                <a:ea typeface="DejaVu Sans"/>
                <a:cs typeface="DejaVu Sans"/>
              </a:rPr>
              <a:t>Next: capture aligned image/depth evidence, diagnose the filter, then repeat the full-system tests.</a:t>
            </a:r>
          </a:p>
        </p:txBody>
      </p:sp>
    </p:spTree>
    <p:extLst>
      <p:ext uri="{BB962C8B-B14F-4D97-AF65-F5344CB8AC3E}">
        <p14:creationId xmlns:p14="http://schemas.microsoft.com/office/powerpoint/2010/main" val="1006830364"/>
      </p:ext>
    </p:extLst>
  </p:cSld>
</p:sld>
</file>

<file path=ppt/slides/slide17.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AD42C33-B7A3-4D1D-8676-D7CCB2B48413}"/>
              </a:ext>
            </a:extLst>
          </p:cNvPr>
          <p:cNvSpPr>
            <a:spLocks xmlns:a="http://schemas.openxmlformats.org/drawingml/2006/main" noGrp="1"/>
          </p:cNvSpPr>
          <p:nvPr/>
        </p:nvSpPr>
        <p:spPr>
          <a:xfrm xmlns:a="http://schemas.openxmlformats.org/drawingml/2006/main">
            <a:off x="609600" y="400050"/>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i="0">
                <a:solidFill>
                  <a:srgbClr val="142735"/>
                </a:solidFill>
                <a:latin typeface="DejaVu Sans"/>
                <a:ea typeface="DejaVu Sans"/>
                <a:cs typeface="DejaVu Sans"/>
              </a:defRPr>
            </a:pPr>
            <a:r>
              <a:rPr sz="2550" b="1" i="0">
                <a:solidFill>
                  <a:srgbClr val="142735"/>
                </a:solidFill>
                <a:latin typeface="DejaVu Sans"/>
                <a:ea typeface="DejaVu Sans"/>
                <a:cs typeface="DejaVu Sans"/>
              </a:rPr>
              <a:t>Appendix: understanding the validation scores</a:t>
            </a:r>
          </a:p>
        </p:txBody>
      </p:sp>
      <p:sp>
        <p:nvSpPr>
          <p:cNvPr id="2" name="">
            <a:extLst xmlns:a="http://schemas.openxmlformats.org/drawingml/2006/main">
              <a:ext uri="{FF2B5EF4-FFF2-40B4-BE49-F238E27FC236}">
                <a16:creationId xmlns:a16="http://schemas.microsoft.com/office/drawing/2014/main" id="{ED0B076F-4F87-46B1-A517-EDAD9443F69D}"/>
              </a:ext>
            </a:extLst>
          </p:cNvPr>
          <p:cNvSpPr>
            <a:spLocks xmlns:a="http://schemas.openxmlformats.org/drawingml/2006/main" noGrp="1"/>
          </p:cNvSpPr>
          <p:nvPr/>
        </p:nvSpPr>
        <p:spPr>
          <a:xfrm xmlns:a="http://schemas.openxmlformats.org/drawingml/2006/main">
            <a:off x="609600" y="1028700"/>
            <a:ext cx="819150" cy="57150"/>
          </a:xfrm>
          <a:prstGeom xmlns:a="http://schemas.openxmlformats.org/drawingml/2006/main" prst="rect">
            <a:avLst/>
          </a:prstGeom>
          <a:solidFill xmlns:a="http://schemas.openxmlformats.org/drawingml/2006/main">
            <a:srgbClr val="14B8A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64C019A-24FD-4862-8D78-FEBD669939F1}"/>
              </a:ext>
            </a:extLst>
          </p:cNvPr>
          <p:cNvSpPr>
            <a:spLocks xmlns:a="http://schemas.openxmlformats.org/drawingml/2006/main" noGrp="1"/>
          </p:cNvSpPr>
          <p:nvPr/>
        </p:nvSpPr>
        <p:spPr>
          <a:xfrm xmlns:a="http://schemas.openxmlformats.org/drawingml/2006/main">
            <a:off x="11144250" y="45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26777"/>
                </a:solidFill>
                <a:latin typeface="DejaVu Sans"/>
                <a:ea typeface="DejaVu Sans"/>
                <a:cs typeface="DejaVu Sans"/>
              </a:defRPr>
            </a:pPr>
            <a:r>
              <a:rPr sz="1200" b="1" i="0">
                <a:solidFill>
                  <a:srgbClr val="526777"/>
                </a:solidFill>
                <a:latin typeface="DejaVu Sans"/>
                <a:ea typeface="DejaVu Sans"/>
                <a:cs typeface="DejaVu Sans"/>
              </a:rPr>
              <a:t>17</a:t>
            </a:r>
          </a:p>
        </p:txBody>
      </p:sp>
      <p:sp>
        <p:nvSpPr>
          <p:cNvPr id="4" name="">
            <a:extLst xmlns:a="http://schemas.openxmlformats.org/drawingml/2006/main">
              <a:ext uri="{FF2B5EF4-FFF2-40B4-BE49-F238E27FC236}">
                <a16:creationId xmlns:a16="http://schemas.microsoft.com/office/drawing/2014/main" id="{0A1F5A6B-DA4F-4837-9957-CA04E8A53250}"/>
              </a:ext>
            </a:extLst>
          </p:cNvPr>
          <p:cNvSpPr>
            <a:spLocks xmlns:a="http://schemas.openxmlformats.org/drawingml/2006/main" noGrp="1"/>
          </p:cNvSpPr>
          <p:nvPr/>
        </p:nvSpPr>
        <p:spPr>
          <a:xfrm xmlns:a="http://schemas.openxmlformats.org/drawingml/2006/main">
            <a:off x="609600" y="1524000"/>
            <a:ext cx="385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4B8A6"/>
                </a:solidFill>
                <a:latin typeface="DejaVu Sans"/>
                <a:ea typeface="DejaVu Sans"/>
                <a:cs typeface="DejaVu Sans"/>
              </a:defRPr>
            </a:pPr>
            <a:r>
              <a:rPr sz="2025" b="1" i="0">
                <a:solidFill>
                  <a:srgbClr val="14B8A6"/>
                </a:solidFill>
                <a:latin typeface="DejaVu Sans"/>
                <a:ea typeface="DejaVu Sans"/>
                <a:cs typeface="DejaVu Sans"/>
              </a:rPr>
              <a:t>Precision · 0.982</a:t>
            </a:r>
          </a:p>
        </p:txBody>
      </p:sp>
      <p:sp>
        <p:nvSpPr>
          <p:cNvPr id="5" name="">
            <a:extLst xmlns:a="http://schemas.openxmlformats.org/drawingml/2006/main">
              <a:ext uri="{FF2B5EF4-FFF2-40B4-BE49-F238E27FC236}">
                <a16:creationId xmlns:a16="http://schemas.microsoft.com/office/drawing/2014/main" id="{8419FD52-AAF1-486D-A3FF-0F3CB9341AF3}"/>
              </a:ext>
            </a:extLst>
          </p:cNvPr>
          <p:cNvSpPr>
            <a:spLocks xmlns:a="http://schemas.openxmlformats.org/drawingml/2006/main" noGrp="1"/>
          </p:cNvSpPr>
          <p:nvPr/>
        </p:nvSpPr>
        <p:spPr>
          <a:xfrm xmlns:a="http://schemas.openxmlformats.org/drawingml/2006/main">
            <a:off x="5048250" y="1524000"/>
            <a:ext cx="6429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142735"/>
                </a:solidFill>
                <a:latin typeface="DejaVu Sans"/>
                <a:ea typeface="DejaVu Sans"/>
                <a:cs typeface="DejaVu Sans"/>
              </a:defRPr>
            </a:pPr>
            <a:r>
              <a:rPr sz="1800" b="0" i="0">
                <a:solidFill>
                  <a:srgbClr val="142735"/>
                </a:solidFill>
                <a:latin typeface="DejaVu Sans"/>
                <a:ea typeface="DejaVu Sans"/>
                <a:cs typeface="DejaVu Sans"/>
              </a:rPr>
              <a:t>How many reported detections are correct?</a:t>
            </a:r>
          </a:p>
        </p:txBody>
      </p:sp>
      <p:sp>
        <p:nvSpPr>
          <p:cNvPr id="6" name="">
            <a:extLst xmlns:a="http://schemas.openxmlformats.org/drawingml/2006/main">
              <a:ext uri="{FF2B5EF4-FFF2-40B4-BE49-F238E27FC236}">
                <a16:creationId xmlns:a16="http://schemas.microsoft.com/office/drawing/2014/main" id="{3C6234A8-75F7-4AA2-867E-2BDC1A2C9FD9}"/>
              </a:ext>
            </a:extLst>
          </p:cNvPr>
          <p:cNvSpPr>
            <a:spLocks xmlns:a="http://schemas.openxmlformats.org/drawingml/2006/main" noGrp="1"/>
          </p:cNvSpPr>
          <p:nvPr/>
        </p:nvSpPr>
        <p:spPr>
          <a:xfrm xmlns:a="http://schemas.openxmlformats.org/drawingml/2006/main">
            <a:off x="609600" y="2457450"/>
            <a:ext cx="385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4B8A6"/>
                </a:solidFill>
                <a:latin typeface="DejaVu Sans"/>
                <a:ea typeface="DejaVu Sans"/>
                <a:cs typeface="DejaVu Sans"/>
              </a:defRPr>
            </a:pPr>
            <a:r>
              <a:rPr sz="2025" b="1" i="0">
                <a:solidFill>
                  <a:srgbClr val="14B8A6"/>
                </a:solidFill>
                <a:latin typeface="DejaVu Sans"/>
                <a:ea typeface="DejaVu Sans"/>
                <a:cs typeface="DejaVu Sans"/>
              </a:rPr>
              <a:t>Recall · 0.964</a:t>
            </a:r>
          </a:p>
        </p:txBody>
      </p:sp>
      <p:sp>
        <p:nvSpPr>
          <p:cNvPr id="7" name="">
            <a:extLst xmlns:a="http://schemas.openxmlformats.org/drawingml/2006/main">
              <a:ext uri="{FF2B5EF4-FFF2-40B4-BE49-F238E27FC236}">
                <a16:creationId xmlns:a16="http://schemas.microsoft.com/office/drawing/2014/main" id="{2B25B312-F398-40AB-A61F-0B7071FD175C}"/>
              </a:ext>
            </a:extLst>
          </p:cNvPr>
          <p:cNvSpPr>
            <a:spLocks xmlns:a="http://schemas.openxmlformats.org/drawingml/2006/main" noGrp="1"/>
          </p:cNvSpPr>
          <p:nvPr/>
        </p:nvSpPr>
        <p:spPr>
          <a:xfrm xmlns:a="http://schemas.openxmlformats.org/drawingml/2006/main">
            <a:off x="5048250" y="2457450"/>
            <a:ext cx="6429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142735"/>
                </a:solidFill>
                <a:latin typeface="DejaVu Sans"/>
                <a:ea typeface="DejaVu Sans"/>
                <a:cs typeface="DejaVu Sans"/>
              </a:defRPr>
            </a:pPr>
            <a:r>
              <a:rPr sz="1800" b="0" i="0">
                <a:solidFill>
                  <a:srgbClr val="142735"/>
                </a:solidFill>
                <a:latin typeface="DejaVu Sans"/>
                <a:ea typeface="DejaVu Sans"/>
                <a:cs typeface="DejaVu Sans"/>
              </a:rPr>
              <a:t>How many real cubes are found?</a:t>
            </a:r>
          </a:p>
        </p:txBody>
      </p:sp>
      <p:sp>
        <p:nvSpPr>
          <p:cNvPr id="8" name="">
            <a:extLst xmlns:a="http://schemas.openxmlformats.org/drawingml/2006/main">
              <a:ext uri="{FF2B5EF4-FFF2-40B4-BE49-F238E27FC236}">
                <a16:creationId xmlns:a16="http://schemas.microsoft.com/office/drawing/2014/main" id="{71227EC2-16DE-4460-853B-101F38029FB0}"/>
              </a:ext>
            </a:extLst>
          </p:cNvPr>
          <p:cNvSpPr>
            <a:spLocks xmlns:a="http://schemas.openxmlformats.org/drawingml/2006/main" noGrp="1"/>
          </p:cNvSpPr>
          <p:nvPr/>
        </p:nvSpPr>
        <p:spPr>
          <a:xfrm xmlns:a="http://schemas.openxmlformats.org/drawingml/2006/main">
            <a:off x="609600" y="3390900"/>
            <a:ext cx="385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02A43"/>
                </a:solidFill>
                <a:latin typeface="DejaVu Sans"/>
                <a:ea typeface="DejaVu Sans"/>
                <a:cs typeface="DejaVu Sans"/>
              </a:defRPr>
            </a:pPr>
            <a:r>
              <a:rPr sz="2025" b="1" i="0">
                <a:solidFill>
                  <a:srgbClr val="102A43"/>
                </a:solidFill>
                <a:latin typeface="DejaVu Sans"/>
                <a:ea typeface="DejaVu Sans"/>
                <a:cs typeface="DejaVu Sans"/>
              </a:rPr>
              <a:t>mAP50 · 0.995</a:t>
            </a:r>
          </a:p>
        </p:txBody>
      </p:sp>
      <p:sp>
        <p:nvSpPr>
          <p:cNvPr id="9" name="">
            <a:extLst xmlns:a="http://schemas.openxmlformats.org/drawingml/2006/main">
              <a:ext uri="{FF2B5EF4-FFF2-40B4-BE49-F238E27FC236}">
                <a16:creationId xmlns:a16="http://schemas.microsoft.com/office/drawing/2014/main" id="{76E724B5-2EA9-4EC1-8E9B-A48261CB9BB6}"/>
              </a:ext>
            </a:extLst>
          </p:cNvPr>
          <p:cNvSpPr>
            <a:spLocks xmlns:a="http://schemas.openxmlformats.org/drawingml/2006/main" noGrp="1"/>
          </p:cNvSpPr>
          <p:nvPr/>
        </p:nvSpPr>
        <p:spPr>
          <a:xfrm xmlns:a="http://schemas.openxmlformats.org/drawingml/2006/main">
            <a:off x="5048250" y="3390900"/>
            <a:ext cx="6429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142735"/>
                </a:solidFill>
                <a:latin typeface="DejaVu Sans"/>
                <a:ea typeface="DejaVu Sans"/>
                <a:cs typeface="DejaVu Sans"/>
              </a:defRPr>
            </a:pPr>
            <a:r>
              <a:rPr sz="1800" b="0" i="0">
                <a:solidFill>
                  <a:srgbClr val="142735"/>
                </a:solidFill>
                <a:latin typeface="DejaVu Sans"/>
                <a:ea typeface="DejaVu Sans"/>
                <a:cs typeface="DejaVu Sans"/>
              </a:rPr>
              <a:t>Detection quality across confidence levels at 50% box overlap.</a:t>
            </a:r>
          </a:p>
        </p:txBody>
      </p:sp>
      <p:sp>
        <p:nvSpPr>
          <p:cNvPr id="10" name="">
            <a:extLst xmlns:a="http://schemas.openxmlformats.org/drawingml/2006/main">
              <a:ext uri="{FF2B5EF4-FFF2-40B4-BE49-F238E27FC236}">
                <a16:creationId xmlns:a16="http://schemas.microsoft.com/office/drawing/2014/main" id="{7D516AC1-355F-4D10-B69A-C3F4A2A2C3C6}"/>
              </a:ext>
            </a:extLst>
          </p:cNvPr>
          <p:cNvSpPr>
            <a:spLocks xmlns:a="http://schemas.openxmlformats.org/drawingml/2006/main" noGrp="1"/>
          </p:cNvSpPr>
          <p:nvPr/>
        </p:nvSpPr>
        <p:spPr>
          <a:xfrm xmlns:a="http://schemas.openxmlformats.org/drawingml/2006/main">
            <a:off x="609600" y="4324350"/>
            <a:ext cx="385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02A43"/>
                </a:solidFill>
                <a:latin typeface="DejaVu Sans"/>
                <a:ea typeface="DejaVu Sans"/>
                <a:cs typeface="DejaVu Sans"/>
              </a:defRPr>
            </a:pPr>
            <a:r>
              <a:rPr sz="2025" b="1" i="0">
                <a:solidFill>
                  <a:srgbClr val="102A43"/>
                </a:solidFill>
                <a:latin typeface="DejaVu Sans"/>
                <a:ea typeface="DejaVu Sans"/>
                <a:cs typeface="DejaVu Sans"/>
              </a:rPr>
              <a:t>mAP50–95 · 0.707</a:t>
            </a:r>
          </a:p>
        </p:txBody>
      </p:sp>
      <p:sp>
        <p:nvSpPr>
          <p:cNvPr id="11" name="">
            <a:extLst xmlns:a="http://schemas.openxmlformats.org/drawingml/2006/main">
              <a:ext uri="{FF2B5EF4-FFF2-40B4-BE49-F238E27FC236}">
                <a16:creationId xmlns:a16="http://schemas.microsoft.com/office/drawing/2014/main" id="{C4DB339F-669D-4B20-9E02-E35E617D7460}"/>
              </a:ext>
            </a:extLst>
          </p:cNvPr>
          <p:cNvSpPr>
            <a:spLocks xmlns:a="http://schemas.openxmlformats.org/drawingml/2006/main" noGrp="1"/>
          </p:cNvSpPr>
          <p:nvPr/>
        </p:nvSpPr>
        <p:spPr>
          <a:xfrm xmlns:a="http://schemas.openxmlformats.org/drawingml/2006/main">
            <a:off x="5048250" y="4324350"/>
            <a:ext cx="6429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142735"/>
                </a:solidFill>
                <a:latin typeface="DejaVu Sans"/>
                <a:ea typeface="DejaVu Sans"/>
                <a:cs typeface="DejaVu Sans"/>
              </a:defRPr>
            </a:pPr>
            <a:r>
              <a:rPr sz="1800" b="0" i="0">
                <a:solidFill>
                  <a:srgbClr val="142735"/>
                </a:solidFill>
                <a:latin typeface="DejaVu Sans"/>
                <a:ea typeface="DejaVu Sans"/>
                <a:cs typeface="DejaVu Sans"/>
              </a:rPr>
              <a:t>Average precision across increasingly strict box-overlap requirements.</a:t>
            </a:r>
          </a:p>
        </p:txBody>
      </p:sp>
      <p:sp>
        <p:nvSpPr>
          <p:cNvPr id="12" name="">
            <a:extLst xmlns:a="http://schemas.openxmlformats.org/drawingml/2006/main">
              <a:ext uri="{FF2B5EF4-FFF2-40B4-BE49-F238E27FC236}">
                <a16:creationId xmlns:a16="http://schemas.microsoft.com/office/drawing/2014/main" id="{3813BF4C-6CA8-4ADF-973F-73A988E8F529}"/>
              </a:ext>
            </a:extLst>
          </p:cNvPr>
          <p:cNvSpPr>
            <a:spLocks xmlns:a="http://schemas.openxmlformats.org/drawingml/2006/main" noGrp="1"/>
          </p:cNvSpPr>
          <p:nvPr/>
        </p:nvSpPr>
        <p:spPr>
          <a:xfrm xmlns:a="http://schemas.openxmlformats.org/drawingml/2006/main">
            <a:off x="609600" y="541020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725" b="0" i="0">
                <a:solidFill>
                  <a:srgbClr val="526777"/>
                </a:solidFill>
                <a:latin typeface="DejaVu Sans"/>
                <a:ea typeface="DejaVu Sans"/>
                <a:cs typeface="DejaVu Sans"/>
              </a:defRPr>
            </a:pPr>
            <a:r>
              <a:rPr sz="1725" b="0" i="0">
                <a:solidFill>
                  <a:srgbClr val="526777"/>
                </a:solidFill>
                <a:latin typeface="DejaVu Sans"/>
                <a:ea typeface="DejaVu Sans"/>
                <a:cs typeface="DejaVu Sans"/>
              </a:rPr>
              <a:t>Why 17/18 differs: the visible-box count uses a display cutoff; the library reports metrics using its evaluation curves and selected operating point.</a:t>
            </a:r>
          </a:p>
        </p:txBody>
      </p:sp>
    </p:spTree>
    <p:extLst>
      <p:ext uri="{BB962C8B-B14F-4D97-AF65-F5344CB8AC3E}">
        <p14:creationId xmlns:p14="http://schemas.microsoft.com/office/powerpoint/2010/main" val="1251647126"/>
      </p:ext>
    </p:extLst>
  </p:cSld>
</p:sld>
</file>

<file path=ppt/slides/slide18.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6773C52-BCC8-409D-BA2B-606E34A3DC3B}"/>
              </a:ext>
            </a:extLst>
          </p:cNvPr>
          <p:cNvSpPr>
            <a:spLocks xmlns:a="http://schemas.openxmlformats.org/drawingml/2006/main" noGrp="1"/>
          </p:cNvSpPr>
          <p:nvPr/>
        </p:nvSpPr>
        <p:spPr>
          <a:xfrm xmlns:a="http://schemas.openxmlformats.org/drawingml/2006/main">
            <a:off x="609600" y="400050"/>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1" i="0">
                <a:solidFill>
                  <a:srgbClr val="142735"/>
                </a:solidFill>
                <a:latin typeface="DejaVu Sans"/>
                <a:ea typeface="DejaVu Sans"/>
                <a:cs typeface="DejaVu Sans"/>
              </a:defRPr>
            </a:pPr>
            <a:r>
              <a:rPr sz="2550" b="1" i="0">
                <a:solidFill>
                  <a:srgbClr val="142735"/>
                </a:solidFill>
                <a:latin typeface="DejaVu Sans"/>
                <a:ea typeface="DejaVu Sans"/>
                <a:cs typeface="DejaVu Sans"/>
              </a:rPr>
              <a:t>Appendix: research and experiment references</a:t>
            </a:r>
          </a:p>
        </p:txBody>
      </p:sp>
      <p:sp>
        <p:nvSpPr>
          <p:cNvPr id="2" name="">
            <a:extLst xmlns:a="http://schemas.openxmlformats.org/drawingml/2006/main">
              <a:ext uri="{FF2B5EF4-FFF2-40B4-BE49-F238E27FC236}">
                <a16:creationId xmlns:a16="http://schemas.microsoft.com/office/drawing/2014/main" id="{8EA1C7B8-D7F4-4E0C-9966-2A23F8AF714B}"/>
              </a:ext>
            </a:extLst>
          </p:cNvPr>
          <p:cNvSpPr>
            <a:spLocks xmlns:a="http://schemas.openxmlformats.org/drawingml/2006/main" noGrp="1"/>
          </p:cNvSpPr>
          <p:nvPr/>
        </p:nvSpPr>
        <p:spPr>
          <a:xfrm xmlns:a="http://schemas.openxmlformats.org/drawingml/2006/main">
            <a:off x="609600" y="1028700"/>
            <a:ext cx="819150" cy="57150"/>
          </a:xfrm>
          <a:prstGeom xmlns:a="http://schemas.openxmlformats.org/drawingml/2006/main" prst="rect">
            <a:avLst/>
          </a:prstGeom>
          <a:solidFill xmlns:a="http://schemas.openxmlformats.org/drawingml/2006/main">
            <a:srgbClr val="14B8A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2ABE86B-F9FE-415E-97F0-88A80E6C83A3}"/>
              </a:ext>
            </a:extLst>
          </p:cNvPr>
          <p:cNvSpPr>
            <a:spLocks xmlns:a="http://schemas.openxmlformats.org/drawingml/2006/main" noGrp="1"/>
          </p:cNvSpPr>
          <p:nvPr/>
        </p:nvSpPr>
        <p:spPr>
          <a:xfrm xmlns:a="http://schemas.openxmlformats.org/drawingml/2006/main">
            <a:off x="11144250" y="45720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26777"/>
                </a:solidFill>
                <a:latin typeface="DejaVu Sans"/>
                <a:ea typeface="DejaVu Sans"/>
                <a:cs typeface="DejaVu Sans"/>
              </a:defRPr>
            </a:pPr>
            <a:r>
              <a:rPr sz="1200" b="1" i="0">
                <a:solidFill>
                  <a:srgbClr val="526777"/>
                </a:solidFill>
                <a:latin typeface="DejaVu Sans"/>
                <a:ea typeface="DejaVu Sans"/>
                <a:cs typeface="DejaVu Sans"/>
              </a:rPr>
              <a:t>18</a:t>
            </a:r>
          </a:p>
        </p:txBody>
      </p:sp>
      <p:sp>
        <p:nvSpPr>
          <p:cNvPr id="4" name="">
            <a:extLst xmlns:a="http://schemas.openxmlformats.org/drawingml/2006/main">
              <a:ext uri="{FF2B5EF4-FFF2-40B4-BE49-F238E27FC236}">
                <a16:creationId xmlns:a16="http://schemas.microsoft.com/office/drawing/2014/main" id="{E3194245-CE88-4763-9487-7A93ACD6F7E7}"/>
              </a:ext>
            </a:extLst>
          </p:cNvPr>
          <p:cNvSpPr>
            <a:spLocks xmlns:a="http://schemas.openxmlformats.org/drawingml/2006/main" noGrp="1"/>
          </p:cNvSpPr>
          <p:nvPr/>
        </p:nvSpPr>
        <p:spPr>
          <a:xfrm xmlns:a="http://schemas.openxmlformats.org/drawingml/2006/main">
            <a:off x="609600" y="1562100"/>
            <a:ext cx="3905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02A43"/>
                </a:solidFill>
                <a:latin typeface="DejaVu Sans"/>
                <a:ea typeface="DejaVu Sans"/>
                <a:cs typeface="DejaVu Sans"/>
              </a:defRPr>
            </a:pPr>
            <a:r>
              <a:rPr sz="2025" b="1" i="0">
                <a:solidFill>
                  <a:srgbClr val="102A43"/>
                </a:solidFill>
                <a:latin typeface="DejaVu Sans"/>
                <a:ea typeface="DejaVu Sans"/>
                <a:cs typeface="DejaVu Sans"/>
              </a:rPr>
              <a:t>Research basis</a:t>
            </a:r>
          </a:p>
        </p:txBody>
      </p:sp>
      <p:sp>
        <p:nvSpPr>
          <p:cNvPr id="5" name="">
            <a:extLst xmlns:a="http://schemas.openxmlformats.org/drawingml/2006/main">
              <a:ext uri="{FF2B5EF4-FFF2-40B4-BE49-F238E27FC236}">
                <a16:creationId xmlns:a16="http://schemas.microsoft.com/office/drawing/2014/main" id="{33D79ED0-E344-472F-BD81-24FB5B7E24AA}"/>
              </a:ext>
            </a:extLst>
          </p:cNvPr>
          <p:cNvSpPr>
            <a:spLocks xmlns:a="http://schemas.openxmlformats.org/drawingml/2006/main" noGrp="1"/>
          </p:cNvSpPr>
          <p:nvPr/>
        </p:nvSpPr>
        <p:spPr>
          <a:xfrm xmlns:a="http://schemas.openxmlformats.org/drawingml/2006/main">
            <a:off x="4857750" y="1562100"/>
            <a:ext cx="657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PyTorch: transfer learning</a:t>
            </a:r>
          </a:p>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scikit-learn: grouped evaluation</a:t>
            </a:r>
          </a:p>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Dive into Deep Learning: generalization</a:t>
            </a:r>
          </a:p>
        </p:txBody>
      </p:sp>
      <p:sp>
        <p:nvSpPr>
          <p:cNvPr id="6" name="">
            <a:extLst xmlns:a="http://schemas.openxmlformats.org/drawingml/2006/main">
              <a:ext uri="{FF2B5EF4-FFF2-40B4-BE49-F238E27FC236}">
                <a16:creationId xmlns:a16="http://schemas.microsoft.com/office/drawing/2014/main" id="{D760BB7E-6682-4502-93FA-31C94410EA07}"/>
              </a:ext>
            </a:extLst>
          </p:cNvPr>
          <p:cNvSpPr>
            <a:spLocks xmlns:a="http://schemas.openxmlformats.org/drawingml/2006/main" noGrp="1"/>
          </p:cNvSpPr>
          <p:nvPr/>
        </p:nvSpPr>
        <p:spPr>
          <a:xfrm xmlns:a="http://schemas.openxmlformats.org/drawingml/2006/main">
            <a:off x="609600" y="2847975"/>
            <a:ext cx="10839450" cy="19050"/>
          </a:xfrm>
          <a:prstGeom xmlns:a="http://schemas.openxmlformats.org/drawingml/2006/main" prst="rect">
            <a:avLst/>
          </a:prstGeom>
          <a:solidFill xmlns:a="http://schemas.openxmlformats.org/drawingml/2006/main">
            <a:srgbClr val="D8E0E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3754E4C-1891-432A-9010-197008E3C3E8}"/>
              </a:ext>
            </a:extLst>
          </p:cNvPr>
          <p:cNvSpPr>
            <a:spLocks xmlns:a="http://schemas.openxmlformats.org/drawingml/2006/main" noGrp="1"/>
          </p:cNvSpPr>
          <p:nvPr/>
        </p:nvSpPr>
        <p:spPr>
          <a:xfrm xmlns:a="http://schemas.openxmlformats.org/drawingml/2006/main">
            <a:off x="609600" y="3019425"/>
            <a:ext cx="3905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02A43"/>
                </a:solidFill>
                <a:latin typeface="DejaVu Sans"/>
                <a:ea typeface="DejaVu Sans"/>
                <a:cs typeface="DejaVu Sans"/>
              </a:defRPr>
            </a:pPr>
            <a:r>
              <a:rPr sz="2025" b="1" i="0">
                <a:solidFill>
                  <a:srgbClr val="102A43"/>
                </a:solidFill>
                <a:latin typeface="DejaVu Sans"/>
                <a:ea typeface="DejaVu Sans"/>
                <a:cs typeface="DejaVu Sans"/>
              </a:rPr>
              <a:t>Project decisions</a:t>
            </a:r>
          </a:p>
        </p:txBody>
      </p:sp>
      <p:sp>
        <p:nvSpPr>
          <p:cNvPr id="8" name="">
            <a:extLst xmlns:a="http://schemas.openxmlformats.org/drawingml/2006/main">
              <a:ext uri="{FF2B5EF4-FFF2-40B4-BE49-F238E27FC236}">
                <a16:creationId xmlns:a16="http://schemas.microsoft.com/office/drawing/2014/main" id="{DDE7F30F-F9C7-4E4E-B5C8-66658B320DC7}"/>
              </a:ext>
            </a:extLst>
          </p:cNvPr>
          <p:cNvSpPr>
            <a:spLocks xmlns:a="http://schemas.openxmlformats.org/drawingml/2006/main" noGrp="1"/>
          </p:cNvSpPr>
          <p:nvPr/>
        </p:nvSpPr>
        <p:spPr>
          <a:xfrm xmlns:a="http://schemas.openxmlformats.org/drawingml/2006/main">
            <a:off x="4857750" y="3019425"/>
            <a:ext cx="657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Training/validation methodology review</a:t>
            </a:r>
          </a:p>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Indoor capture checklist</a:t>
            </a:r>
          </a:p>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Architecture and technical walkthrough</a:t>
            </a:r>
          </a:p>
        </p:txBody>
      </p:sp>
      <p:sp>
        <p:nvSpPr>
          <p:cNvPr id="9" name="">
            <a:extLst xmlns:a="http://schemas.openxmlformats.org/drawingml/2006/main">
              <a:ext uri="{FF2B5EF4-FFF2-40B4-BE49-F238E27FC236}">
                <a16:creationId xmlns:a16="http://schemas.microsoft.com/office/drawing/2014/main" id="{6CD93CAE-47A5-42D2-AD46-391BC7BEE396}"/>
              </a:ext>
            </a:extLst>
          </p:cNvPr>
          <p:cNvSpPr>
            <a:spLocks xmlns:a="http://schemas.openxmlformats.org/drawingml/2006/main" noGrp="1"/>
          </p:cNvSpPr>
          <p:nvPr/>
        </p:nvSpPr>
        <p:spPr>
          <a:xfrm xmlns:a="http://schemas.openxmlformats.org/drawingml/2006/main">
            <a:off x="609600" y="4305300"/>
            <a:ext cx="10839450" cy="19050"/>
          </a:xfrm>
          <a:prstGeom xmlns:a="http://schemas.openxmlformats.org/drawingml/2006/main" prst="rect">
            <a:avLst/>
          </a:prstGeom>
          <a:solidFill xmlns:a="http://schemas.openxmlformats.org/drawingml/2006/main">
            <a:srgbClr val="D8E0E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76A6098-039B-4C90-8E87-3C74BB1BE7CE}"/>
              </a:ext>
            </a:extLst>
          </p:cNvPr>
          <p:cNvSpPr>
            <a:spLocks xmlns:a="http://schemas.openxmlformats.org/drawingml/2006/main" noGrp="1"/>
          </p:cNvSpPr>
          <p:nvPr/>
        </p:nvSpPr>
        <p:spPr>
          <a:xfrm xmlns:a="http://schemas.openxmlformats.org/drawingml/2006/main">
            <a:off x="609600" y="4476750"/>
            <a:ext cx="3905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02A43"/>
                </a:solidFill>
                <a:latin typeface="DejaVu Sans"/>
                <a:ea typeface="DejaVu Sans"/>
                <a:cs typeface="DejaVu Sans"/>
              </a:defRPr>
            </a:pPr>
            <a:r>
              <a:rPr sz="2025" b="1" i="0">
                <a:solidFill>
                  <a:srgbClr val="102A43"/>
                </a:solidFill>
                <a:latin typeface="DejaVu Sans"/>
                <a:ea typeface="DejaVu Sans"/>
                <a:cs typeface="DejaVu Sans"/>
              </a:rPr>
              <a:t>Reproducible run</a:t>
            </a:r>
          </a:p>
        </p:txBody>
      </p:sp>
      <p:sp>
        <p:nvSpPr>
          <p:cNvPr id="11" name="">
            <a:extLst xmlns:a="http://schemas.openxmlformats.org/drawingml/2006/main">
              <a:ext uri="{FF2B5EF4-FFF2-40B4-BE49-F238E27FC236}">
                <a16:creationId xmlns:a16="http://schemas.microsoft.com/office/drawing/2014/main" id="{4D3FEA43-9EDA-4624-B5D2-FA5DA6962DF5}"/>
              </a:ext>
            </a:extLst>
          </p:cNvPr>
          <p:cNvSpPr>
            <a:spLocks xmlns:a="http://schemas.openxmlformats.org/drawingml/2006/main" noGrp="1"/>
          </p:cNvSpPr>
          <p:nvPr/>
        </p:nvSpPr>
        <p:spPr>
          <a:xfrm xmlns:a="http://schemas.openxmlformats.org/drawingml/2006/main">
            <a:off x="4857750" y="4476750"/>
            <a:ext cx="657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YOLOv5u-small · 23 training / 8 validation images</a:t>
            </a:r>
          </a:p>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60 epochs · batch 4 · 640-pixel input</a:t>
            </a:r>
          </a:p>
          <a:p xmlns:a="http://schemas.openxmlformats.org/drawingml/2006/main">
            <a:pPr>
              <a:defRPr sz="1875" b="0" i="0">
                <a:solidFill>
                  <a:srgbClr val="142735"/>
                </a:solidFill>
                <a:latin typeface="DejaVu Sans"/>
                <a:ea typeface="DejaVu Sans"/>
                <a:cs typeface="DejaVu Sans"/>
              </a:defRPr>
            </a:pPr>
            <a:r>
              <a:rPr sz="1875" b="0" i="0">
                <a:solidFill>
                  <a:srgbClr val="142735"/>
                </a:solidFill>
                <a:latin typeface="DejaVu Sans"/>
                <a:ea typeface="DejaVu Sans"/>
                <a:cs typeface="DejaVu Sans"/>
              </a:rPr>
              <a:t>AdamW · learning rate 0.001 · seed 42</a:t>
            </a:r>
          </a:p>
        </p:txBody>
      </p:sp>
      <p:sp>
        <p:nvSpPr>
          <p:cNvPr id="12" name="">
            <a:extLst xmlns:a="http://schemas.openxmlformats.org/drawingml/2006/main">
              <a:ext uri="{FF2B5EF4-FFF2-40B4-BE49-F238E27FC236}">
                <a16:creationId xmlns:a16="http://schemas.microsoft.com/office/drawing/2014/main" id="{63CF72AC-0A95-444B-A765-A61C8791E328}"/>
              </a:ext>
            </a:extLst>
          </p:cNvPr>
          <p:cNvSpPr>
            <a:spLocks xmlns:a="http://schemas.openxmlformats.org/drawingml/2006/main" noGrp="1"/>
          </p:cNvSpPr>
          <p:nvPr/>
        </p:nvSpPr>
        <p:spPr>
          <a:xfrm xmlns:a="http://schemas.openxmlformats.org/drawingml/2006/main">
            <a:off x="609600" y="6219825"/>
            <a:ext cx="10810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500"/>
          </a:bodyPr>
          <a:lstStyle xmlns:a="http://schemas.openxmlformats.org/drawingml/2006/main"/>
          <a:p xmlns:a="http://schemas.openxmlformats.org/drawingml/2006/main">
            <a:pPr>
              <a:defRPr sz="1500" b="0" i="0">
                <a:solidFill>
                  <a:srgbClr val="526777"/>
                </a:solidFill>
                <a:latin typeface="DejaVu Sans"/>
                <a:ea typeface="DejaVu Sans"/>
                <a:cs typeface="DejaVu Sans"/>
              </a:defRPr>
            </a:pPr>
            <a:r>
              <a:rPr sz="1500" b="0" i="0">
                <a:solidFill>
                  <a:srgbClr val="526777"/>
                </a:solidFill>
                <a:latin typeface="DejaVu Sans"/>
                <a:ea typeface="DejaVu Sans"/>
                <a:cs typeface="DejaVu Sans"/>
              </a:rPr>
              <a:t>Sources, run identity and settings are recorded in the speaker notes.</a:t>
            </a:r>
          </a:p>
        </p:txBody>
      </p:sp>
    </p:spTree>
    <p:extLst>
      <p:ext uri="{BB962C8B-B14F-4D97-AF65-F5344CB8AC3E}">
        <p14:creationId xmlns:p14="http://schemas.microsoft.com/office/powerpoint/2010/main" val="4585266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2026-09-13T11:52:54.1830000Z</dcterms:created>
  <dcterms:modified xsi:type="dcterms:W3CDTF">2026-09-13T11:52:54.1830000Z</dcterms:modified>
</coreProperties>
</file>